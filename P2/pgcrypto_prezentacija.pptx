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282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FDBB-ED28-D0C5-748A-1B34994B8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1C9BD-5ADC-2E80-A99F-E9DF391CC5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63F48-7E71-08A1-E58E-7DCF1EEE5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EAF3A-072C-9237-6246-EA224CD40E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4620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1987-8A33-84AD-6F9F-5E287BB8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1FA70-DFA8-35E8-A310-B83090500F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E3DEF6-FB36-6751-3BC9-9184D8879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25505-7173-6AC6-C2A1-D737736BD8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0555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56C3-FF4A-8601-9C6C-B75CBB446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3997F-F31A-AC18-B98F-ED3699493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38206-E8CB-8D53-2FE1-7F743F178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BB40-EF31-A261-C766-2B1BBB97AF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38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4B38-B37A-DE8C-7A95-F1020F54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15623-4E64-31B2-2325-0F1D746E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EBAAA-8698-AD8B-086E-02292F35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3C8B5-895F-6E31-E5DD-2E0689DCF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423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365760" y="13995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 na nivou kolona u PostgreSQL-u</a:t>
            </a:r>
          </a:p>
          <a:p>
            <a:pPr marL="0" indent="0">
              <a:buNone/>
            </a:pP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365760" y="1600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65760" y="44119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ć, 2094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enkriptovati kolone?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22860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– Transparent Data Encryption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1148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Enkriptuje fajlove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 RAM-u uvek plaintext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vidi sve vrednosti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samo od fizičke krađe diska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92040" y="914400"/>
            <a:ext cx="4023360" cy="252859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4892040" y="914400"/>
            <a:ext cx="4023360" cy="457200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982546" y="914400"/>
            <a:ext cx="3887133" cy="45720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Encryption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074920" y="1508760"/>
            <a:ext cx="3749040" cy="18036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i u RAM i na disku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DBA bez ključa vidi samo binarni blob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Ključ čuvan van baze (KMS, HSM...)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Štiti od kompromitacije SQL interfejsa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– Arhitektura i funkcionalne grupe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8412480" cy="502920"/>
          </a:xfrm>
          <a:prstGeom prst="rect">
            <a:avLst/>
          </a:prstGeom>
          <a:solidFill>
            <a:srgbClr val="EAF6FF"/>
          </a:solidFill>
          <a:ln w="12700">
            <a:solidFill>
              <a:srgbClr val="007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B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EXTENSION IF NOT EXISTS pgcrypto;   — jednom po bazi, sve funkcije dostupne u SQL upitima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2880" y="137448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7" name="Shape 5"/>
          <p:cNvSpPr/>
          <p:nvPr/>
        </p:nvSpPr>
        <p:spPr>
          <a:xfrm>
            <a:off x="182880" y="1374482"/>
            <a:ext cx="8412480" cy="22475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19" y="1374482"/>
            <a:ext cx="7502277" cy="22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 funkcije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82880" y="1635557"/>
            <a:ext cx="7309204" cy="847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digest(data, type)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Podržani: MD5, SHA-1,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SHA-224/256/384/512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Opšta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namena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55457" y="2592792"/>
            <a:ext cx="8412480" cy="11763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2" name="Shape 9"/>
          <p:cNvSpPr/>
          <p:nvPr/>
        </p:nvSpPr>
        <p:spPr>
          <a:xfrm>
            <a:off x="159272" y="2610394"/>
            <a:ext cx="8416032" cy="202461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46896" y="2610393"/>
            <a:ext cx="7275145" cy="244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slučajnih podataka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55457" y="2755981"/>
            <a:ext cx="7032515" cy="9243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gen_random_bytes(n)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gen_random_uuid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71133" y="3878700"/>
            <a:ext cx="8395788" cy="11433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7" name="Shape 13"/>
          <p:cNvSpPr/>
          <p:nvPr/>
        </p:nvSpPr>
        <p:spPr>
          <a:xfrm>
            <a:off x="163295" y="3822009"/>
            <a:ext cx="8419846" cy="190883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20048" y="3848677"/>
            <a:ext cx="7714183" cy="13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94532" y="4114205"/>
            <a:ext cx="7437530" cy="67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Raw: encrypt / decrypt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pgp_sym_encrypt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pgp_sym_decrypt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PGP asimetrična: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pgp_pub_encrypt</a:t>
            </a:r>
            <a:r>
              <a:rPr lang="en-US" sz="1100" dirty="0"/>
              <a:t>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/ pgp_pub_decrypt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enkripcija vs Raw enkripcija | AES-256 (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Simetri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čna 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41248"/>
            <a:ext cx="411480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Text 3"/>
          <p:cNvSpPr/>
          <p:nvPr/>
        </p:nvSpPr>
        <p:spPr>
          <a:xfrm>
            <a:off x="274320" y="896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vs Raw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5331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(encrypt/decrypt)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8249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Direktna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blok-šifre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ECB mode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podrazumevano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nosi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otkrivanja obrazaca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37744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Preporučuje se eksplicitno navođenje CBC/CTR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816352"/>
            <a:ext cx="3840480" cy="292608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16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(pgp_sym/pub_...)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14553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Implementira RFC 4880 (OpenPGP standard)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Slučajni session key,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tj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plaintext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daje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različit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ciphertext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8404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Ugrađena integritetna provera (MDC)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Preporučeno za produkciju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841248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9" name="Text 16"/>
          <p:cNvSpPr/>
          <p:nvPr/>
        </p:nvSpPr>
        <p:spPr>
          <a:xfrm>
            <a:off x="4864608" y="896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Algoritam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800600" y="1389888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NIST standard od 2001. (Rijndael algoritam)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Blokovi od 128 bita, ključ 256 bita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 rundi transformacija (SubBytes, ShiftRows, MixColumns, AddRoundKey)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 koristi CFB mode – nema ponavljanja obrazaca</a:t>
            </a:r>
            <a:endParaRPr lang="en-US" sz="120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2B0D8DC6-C67E-A02F-2DFF-5B381E68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80293"/>
              </p:ext>
            </p:extLst>
          </p:nvPr>
        </p:nvGraphicFramePr>
        <p:xfrm>
          <a:off x="4800600" y="3310128"/>
          <a:ext cx="3931920" cy="14111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760851691"/>
                    </a:ext>
                  </a:extLst>
                </a:gridCol>
              </a:tblGrid>
              <a:tr h="1411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Enkripcija: pgp_sym_encrypt(plaintext,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pgp_sym_encrypt('tajna vrednost', 'moj_tajni_kljuc');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\xc30d04070302...(binarni blob)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Dekripcija: pgp_sym_decrypt(ciphertext, kljuc)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pgp_sym_decrypt(enkriptovana_kolona, 'moj_tajni_kljuc')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tabela;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Vraca: 'tajna vrednost'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156368795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</a:t>
            </a:r>
            <a:r>
              <a:rPr lang="en-U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Upravljanje ključevima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82296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6" name="Text 3"/>
          <p:cNvSpPr/>
          <p:nvPr/>
        </p:nvSpPr>
        <p:spPr>
          <a:xfrm>
            <a:off x="365760" y="877824"/>
            <a:ext cx="385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Asimetrična enkripcija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1371600"/>
            <a:ext cx="3840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javnim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ključem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dekriptuje samo privatni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pgcrypto: pgp_pub_encrypt / pgp_pub_decrypt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RSA ključevi kroz OpenPGP format (dearmor())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980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 koristiti koji pristup?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54109" y="827532"/>
            <a:ext cx="4206240" cy="397764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  <p:txBody>
          <a:bodyPr/>
          <a:lstStyle/>
          <a:p>
            <a:endParaRPr lang="sr-Latn-RS" dirty="0"/>
          </a:p>
        </p:txBody>
      </p:sp>
      <p:sp>
        <p:nvSpPr>
          <p:cNvPr id="13" name="Text 9"/>
          <p:cNvSpPr/>
          <p:nvPr/>
        </p:nvSpPr>
        <p:spPr>
          <a:xfrm>
            <a:off x="4818888" y="87782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 (Key Management)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754880" y="138988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92040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Hardkodirano</a:t>
            </a: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kodu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892040" y="17007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Dostupan svima koji imaju pristup repozitorijumu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0" y="210312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892040" y="21396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Environment varijable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892040" y="24140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Ključ dostupan preko shell pristupa serveru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754880" y="2816352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892040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KMS (Vault, AWS, Azure)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4892040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latin typeface="Calibri" pitchFamily="34" charset="0"/>
                <a:cs typeface="Calibri" pitchFamily="34" charset="-120"/>
              </a:rPr>
              <a:t>Specijalizovani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</a:t>
            </a:r>
            <a:r>
              <a:rPr lang="en-US" sz="1000" dirty="0" err="1">
                <a:latin typeface="Calibri" pitchFamily="34" charset="0"/>
                <a:cs typeface="Calibri" pitchFamily="34" charset="-120"/>
              </a:rPr>
              <a:t>sistemi</a:t>
            </a:r>
            <a:r>
              <a:rPr lang="en-US" sz="1000" dirty="0">
                <a:latin typeface="Calibri" pitchFamily="34" charset="0"/>
                <a:cs typeface="Calibri" pitchFamily="34" charset="-120"/>
              </a:rPr>
              <a:t> za </a:t>
            </a:r>
            <a:r>
              <a:rPr lang="sr-Latn-RS" sz="1000" dirty="0">
                <a:latin typeface="Calibri" pitchFamily="34" charset="0"/>
                <a:cs typeface="Calibri" pitchFamily="34" charset="-120"/>
              </a:rPr>
              <a:t>čuvanje ključeva, rotaciju i audit log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754880" y="352958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9204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HSM (Hardware Security Module)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892040" y="3840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000" dirty="0">
                <a:latin typeface="Calibri" pitchFamily="34" charset="0"/>
                <a:cs typeface="Calibri" pitchFamily="34" charset="-120"/>
              </a:rPr>
              <a:t>Fizički uređaj čuva ključ i nikad ga ne napušta</a:t>
            </a:r>
            <a:endParaRPr lang="en-US" sz="1000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672C234A-D470-1DBB-35FF-80B6FD813A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26403"/>
              </p:ext>
            </p:extLst>
          </p:nvPr>
        </p:nvGraphicFramePr>
        <p:xfrm>
          <a:off x="320040" y="3127248"/>
          <a:ext cx="3840480" cy="152323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407457996"/>
                    </a:ext>
                  </a:extLst>
                </a:gridCol>
              </a:tblGrid>
              <a:tr h="152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Enkripcija javnim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UPDATE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SET broj_kartice = pgp_pub_encrypt(broj_kartice_plaintext, dearmor(javni_kljuc))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id = 1;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Dekripcija privatnim kljucem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pgp_pub_decrypt(broj_kartice, dearmor(privatni_kljuc))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FROM korisnici WHERE id = 1;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968997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 vs Enkripcija – Zaštita lozinki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Enkripcija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reverzibilna (postoji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sr-Latn-R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Heširanje</a:t>
            </a:r>
            <a:r>
              <a:rPr lang="en-US" sz="1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jednosmerna operacija (nema povratka)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389888"/>
            <a:ext cx="411480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8" name="Text 5"/>
          <p:cNvSpPr/>
          <p:nvPr/>
        </p:nvSpPr>
        <p:spPr>
          <a:xfrm>
            <a:off x="365760" y="1463040"/>
            <a:ext cx="3904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heširati lozinke?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1956816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treba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originalna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Provera: hash(uneto) == sačuvani_hash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Ako je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dostupan 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neko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može da pročita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SHA-256/MD5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prebrzi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što olakšava 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napad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bcrypt/scrypt/Argon2 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namerno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17720" y="1389888"/>
            <a:ext cx="4251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1" name="Text 8"/>
          <p:cNvSpPr/>
          <p:nvPr/>
        </p:nvSpPr>
        <p:spPr>
          <a:xfrm>
            <a:off x="4754880" y="144475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u pgcrypto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09160" y="3776472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 err="1"/>
              <a:t>Parametar</a:t>
            </a:r>
            <a:r>
              <a:rPr lang="en-US" sz="1100" dirty="0"/>
              <a:t> cost </a:t>
            </a:r>
            <a:r>
              <a:rPr lang="en-US" sz="1100" dirty="0" err="1"/>
              <a:t>faktor</a:t>
            </a:r>
            <a:r>
              <a:rPr lang="en-US" sz="1100" dirty="0"/>
              <a:t> (12 u </a:t>
            </a:r>
            <a:r>
              <a:rPr lang="en-US" sz="1100" dirty="0" err="1"/>
              <a:t>primeru</a:t>
            </a:r>
            <a:r>
              <a:rPr lang="en-US" sz="1100" dirty="0"/>
              <a:t>) </a:t>
            </a:r>
            <a:r>
              <a:rPr lang="en-US" sz="1100" dirty="0" err="1"/>
              <a:t>kontroliše</a:t>
            </a:r>
            <a:r>
              <a:rPr lang="en-US" sz="1100" dirty="0"/>
              <a:t> </a:t>
            </a:r>
            <a:r>
              <a:rPr lang="en-US" sz="1100" dirty="0" err="1"/>
              <a:t>koliko</a:t>
            </a:r>
            <a:r>
              <a:rPr lang="en-US" sz="1100" dirty="0"/>
              <a:t> je </a:t>
            </a:r>
            <a:r>
              <a:rPr lang="en-US" sz="1100" dirty="0" err="1"/>
              <a:t>bcrypt</a:t>
            </a:r>
            <a:r>
              <a:rPr lang="en-US" sz="1100" dirty="0"/>
              <a:t> </a:t>
            </a:r>
            <a:r>
              <a:rPr lang="en-US" sz="1100" dirty="0" err="1"/>
              <a:t>spor</a:t>
            </a:r>
            <a:r>
              <a:rPr lang="en-US" sz="1100" dirty="0"/>
              <a:t> - </a:t>
            </a:r>
            <a:r>
              <a:rPr lang="en-US" sz="1100" dirty="0" err="1"/>
              <a:t>svako</a:t>
            </a:r>
            <a:r>
              <a:rPr lang="en-US" sz="1100" dirty="0"/>
              <a:t> </a:t>
            </a:r>
            <a:r>
              <a:rPr lang="en-US" sz="1100" dirty="0" err="1"/>
              <a:t>povećanje</a:t>
            </a:r>
            <a:r>
              <a:rPr lang="en-US" sz="1100" dirty="0"/>
              <a:t> za 1 </a:t>
            </a:r>
            <a:r>
              <a:rPr lang="en-US" sz="1100" dirty="0" err="1"/>
              <a:t>udvostručuje</a:t>
            </a:r>
            <a:r>
              <a:rPr lang="en-US" sz="1100" dirty="0"/>
              <a:t> </a:t>
            </a:r>
            <a:r>
              <a:rPr lang="en-US" sz="1100" dirty="0" err="1"/>
              <a:t>vreme</a:t>
            </a:r>
            <a:r>
              <a:rPr lang="en-US" sz="1100" dirty="0"/>
              <a:t> </a:t>
            </a:r>
            <a:r>
              <a:rPr lang="en-US" sz="1100" dirty="0" err="1"/>
              <a:t>računanja</a:t>
            </a:r>
            <a:r>
              <a:rPr lang="en-US" sz="1100" dirty="0"/>
              <a:t>. Cost </a:t>
            </a:r>
            <a:r>
              <a:rPr lang="en-US" sz="1100" dirty="0" err="1"/>
              <a:t>faktor</a:t>
            </a:r>
            <a:r>
              <a:rPr lang="en-US" sz="1100" dirty="0"/>
              <a:t> 12 </a:t>
            </a:r>
            <a:r>
              <a:rPr lang="en-US" sz="1100" dirty="0" err="1"/>
              <a:t>znači</a:t>
            </a:r>
            <a:r>
              <a:rPr lang="en-US" sz="1100" dirty="0"/>
              <a:t> 2^12 </a:t>
            </a:r>
            <a:r>
              <a:rPr lang="en-US" sz="1100" dirty="0" err="1"/>
              <a:t>iteracija</a:t>
            </a:r>
            <a:r>
              <a:rPr lang="en-US" sz="1100" dirty="0"/>
              <a:t>, </a:t>
            </a:r>
            <a:r>
              <a:rPr lang="en-US" sz="1100" dirty="0" err="1"/>
              <a:t>što</a:t>
            </a:r>
            <a:r>
              <a:rPr lang="en-US" sz="1100" dirty="0"/>
              <a:t> </a:t>
            </a:r>
            <a:r>
              <a:rPr lang="en-US" sz="1100" dirty="0" err="1"/>
              <a:t>na</a:t>
            </a:r>
            <a:r>
              <a:rPr lang="en-US" sz="1100" dirty="0"/>
              <a:t> </a:t>
            </a:r>
            <a:r>
              <a:rPr lang="en-US" sz="1100" dirty="0" err="1"/>
              <a:t>tipičnom</a:t>
            </a:r>
            <a:r>
              <a:rPr lang="en-US" sz="1100" dirty="0"/>
              <a:t> </a:t>
            </a:r>
            <a:r>
              <a:rPr lang="en-US" sz="1100" dirty="0" err="1"/>
              <a:t>serveru</a:t>
            </a:r>
            <a:r>
              <a:rPr lang="en-US" sz="1100" dirty="0"/>
              <a:t> </a:t>
            </a:r>
            <a:r>
              <a:rPr lang="en-US" sz="1100" dirty="0" err="1"/>
              <a:t>traje</a:t>
            </a:r>
            <a:r>
              <a:rPr lang="en-US" sz="1100" dirty="0"/>
              <a:t> </a:t>
            </a:r>
            <a:r>
              <a:rPr lang="en-US" sz="1100" dirty="0" err="1"/>
              <a:t>oko</a:t>
            </a:r>
            <a:r>
              <a:rPr lang="en-US" sz="1100" dirty="0"/>
              <a:t> 250–400 </a:t>
            </a:r>
            <a:r>
              <a:rPr lang="en-US" sz="1100" dirty="0" err="1"/>
              <a:t>milisekundi</a:t>
            </a:r>
            <a:endParaRPr lang="en-US" sz="11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C4642D5D-7D89-E7D3-EA61-CA1D578FF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94013"/>
              </p:ext>
            </p:extLst>
          </p:nvPr>
        </p:nvGraphicFramePr>
        <p:xfrm>
          <a:off x="4831080" y="2149856"/>
          <a:ext cx="3817620" cy="15168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17620">
                  <a:extLst>
                    <a:ext uri="{9D8B030D-6E8A-4147-A177-3AD203B41FA5}">
                      <a16:colId xmlns:a16="http://schemas.microsoft.com/office/drawing/2014/main" val="3729747333"/>
                    </a:ext>
                  </a:extLst>
                </a:gridCol>
              </a:tblGrid>
              <a:tr h="1516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Generisanje hash vrednosti lozinke (pri registraciji)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gen_salt('bf', 12) = bcrypt sa cost faktorom 12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INSERT INTO korisnici (username, lozinka_hash)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VALUES ('marko', crypt('moja_lozinka', gen_salt('bf', 12)));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1200" dirty="0">
                          <a:effectLst/>
                        </a:rPr>
                        <a:t> </a:t>
                      </a: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-- Provera lozinke pri prijavi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SELECT username FROM korisnici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WHERE username = 'marko'</a:t>
                      </a:r>
                      <a:endParaRPr lang="sr-Latn-RS" sz="1200" dirty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sr-Latn-RS" sz="900" dirty="0">
                          <a:effectLst/>
                        </a:rPr>
                        <a:t>  AND lozinka_hash = crypt('uneta_lozinka', lozinka_hash);</a:t>
                      </a:r>
                      <a:endParaRPr lang="sr-Latn-RS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127000" marR="127000" marT="63500" marB="63500"/>
                </a:tc>
                <a:extLst>
                  <a:ext uri="{0D108BD9-81ED-4DB2-BD59-A6C34878D82A}">
                    <a16:rowId xmlns:a16="http://schemas.microsoft.com/office/drawing/2014/main" val="24758606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 enkripcije na nivou kolona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8705088" cy="1166327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5" name="Shape 3"/>
          <p:cNvSpPr/>
          <p:nvPr/>
        </p:nvSpPr>
        <p:spPr>
          <a:xfrm>
            <a:off x="182880" y="914400"/>
            <a:ext cx="8705088" cy="163916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79" y="914400"/>
            <a:ext cx="6993579" cy="163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indeksiranja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56032" y="1136469"/>
            <a:ext cx="8114913" cy="9456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po enkriptovanoj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zahteva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cele tabele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Svi redovi se dekriptuju pre filtriranja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Stotine puta sporije na velikim tabelama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2880" y="2351152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0" name="Shape 7"/>
          <p:cNvSpPr/>
          <p:nvPr/>
        </p:nvSpPr>
        <p:spPr>
          <a:xfrm>
            <a:off x="182880" y="2328292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047" y="2328292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Složenost SQL upita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56032" y="2517704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Svaki read/write zahteva pgp_sym_decrypt/encrypt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ORDER BY, GROUP BY po enk.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neefikasno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SUM/AVG/MIN/MAX, LIKE, FK i UNIQUE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neupotrebljvi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82880" y="3704327"/>
            <a:ext cx="8705088" cy="1049546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/>
            </a:solidFill>
            <a:prstDash val="solid"/>
          </a:ln>
          <a:effectLst/>
        </p:spPr>
      </p:sp>
      <p:sp>
        <p:nvSpPr>
          <p:cNvPr id="15" name="Shape 11"/>
          <p:cNvSpPr/>
          <p:nvPr/>
        </p:nvSpPr>
        <p:spPr>
          <a:xfrm>
            <a:off x="182880" y="3704327"/>
            <a:ext cx="8705088" cy="147504"/>
          </a:xfrm>
          <a:prstGeom prst="rect">
            <a:avLst/>
          </a:prstGeom>
          <a:solidFill>
            <a:schemeClr val="accent5">
              <a:lumMod val="75000"/>
            </a:schemeClr>
          </a:solidFill>
          <a:ln w="12700">
            <a:solidFill>
              <a:schemeClr val="accent5">
                <a:lumMod val="75000"/>
              </a:scheme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0079" y="3704327"/>
            <a:ext cx="6993579" cy="147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Upravljanje ključevima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292607" y="3851831"/>
            <a:ext cx="8114913" cy="850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ključa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zna</a:t>
            </a:r>
            <a:r>
              <a:rPr lang="sr-Latn-R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trajni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gubitak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1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bez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75F9E4D-F836-DD4F-22B9-4B7895BB33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54" b="924"/>
          <a:stretch>
            <a:fillRect/>
          </a:stretch>
        </p:blipFill>
        <p:spPr bwMode="auto">
          <a:xfrm>
            <a:off x="241606" y="946866"/>
            <a:ext cx="8660787" cy="183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 3">
            <a:extLst>
              <a:ext uri="{FF2B5EF4-FFF2-40B4-BE49-F238E27FC236}">
                <a16:creationId xmlns:a16="http://schemas.microsoft.com/office/drawing/2014/main" id="{378AA276-1DEE-A5C9-C87B-F418276839C9}"/>
              </a:ext>
            </a:extLst>
          </p:cNvPr>
          <p:cNvSpPr/>
          <p:nvPr/>
        </p:nvSpPr>
        <p:spPr>
          <a:xfrm>
            <a:off x="241605" y="3050034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jmbg_enc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broj_kartice_enc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[binary data]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pgAdmin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interfejsu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dok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string koji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počinje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$2a$12$,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što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označava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algoritam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cost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faktorom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D99D9-6C50-8E24-30F1-B91882191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E0A0C-9B78-B496-6B2B-41473E110A19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C965D8-4CB6-E3B2-B330-649A594711C3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2 – SELECT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dekripcijom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4FBA081-64E2-AA5F-6952-264D5CBC2667}"/>
              </a:ext>
            </a:extLst>
          </p:cNvPr>
          <p:cNvSpPr/>
          <p:nvPr/>
        </p:nvSpPr>
        <p:spPr>
          <a:xfrm>
            <a:off x="241606" y="411888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Rezultat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plaintext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- JMBG,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broj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kartice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hash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Lozinka_hash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kolona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ostaje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heš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obliku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lozinka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nikada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samo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poredi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novim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hashom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540218-0717-DA7C-BE17-6F561F0A4E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" y="939799"/>
            <a:ext cx="8503920" cy="2949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5910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12B16-A63A-70CF-FD24-1585E4690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65F2975-8F59-2F82-7A03-A400A67B9018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C8A63B-0006-A678-B8CE-20928A7456C4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3 –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Heširanje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lozinki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i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provera</a:t>
            </a:r>
            <a:r>
              <a:rPr lang="es-ES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ES" sz="2200" b="1" dirty="0" err="1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identiteta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F9D0AB83-C2FA-55D1-2BA2-D8B0C8D299F9}"/>
              </a:ext>
            </a:extLst>
          </p:cNvPr>
          <p:cNvSpPr/>
          <p:nvPr/>
        </p:nvSpPr>
        <p:spPr>
          <a:xfrm>
            <a:off x="241606" y="3651203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demonstriraju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prijavi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karakteristika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crypt()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sledeća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argument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prosledi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sačuvani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hash (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umesto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soli),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izvlači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salt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primenjuje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unešenu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lozinku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omogućava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poređenje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potrebe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zasebnim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čuvanjem</a:t>
            </a:r>
            <a:r>
              <a:rPr lang="en-US" sz="1200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soli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0187C8-AC7F-9016-C5D7-C6313B2FC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00" b="1162"/>
          <a:stretch>
            <a:fillRect/>
          </a:stretch>
        </p:blipFill>
        <p:spPr bwMode="auto">
          <a:xfrm>
            <a:off x="241606" y="1035097"/>
            <a:ext cx="4165600" cy="226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83B1EB-D1B4-12FD-5A37-6722C972DC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99" b="1159"/>
          <a:stretch>
            <a:fillRect/>
          </a:stretch>
        </p:blipFill>
        <p:spPr bwMode="auto">
          <a:xfrm>
            <a:off x="4554865" y="1035097"/>
            <a:ext cx="4347528" cy="226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1726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902E5-1355-4C3F-7A80-9C9AFE9A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3E60A3-240D-96D4-8EB0-D6AFF7DD1C67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8CCE-23D4-2638-6621-F4C1C2DD00A0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4 – Nemogućnost pretrage po enkriptovanoj koloni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067AA8DF-D2D6-97EE-48C5-F207DC4B893D}"/>
              </a:ext>
            </a:extLst>
          </p:cNvPr>
          <p:cNvSpPr/>
          <p:nvPr/>
        </p:nvSpPr>
        <p:spPr>
          <a:xfrm>
            <a:off x="241606" y="4389666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EXPLAIN ANALYZE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izlaz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potvrđuje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Seq Scan - PostgreSQL mora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dekriptuje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red u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tabeli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onda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primeni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filter. Nema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mogućnosti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korišćenja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indeksa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jer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enkriptovane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vrednosti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sortirane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organizovane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način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koji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omogućio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B-Tree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pretragu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Linija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'Rows Removed by Filter: 2'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pokazuje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od tri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reda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odbačena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tek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nakon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dekripcije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poređenja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6E6857-D2B2-6A7D-057D-FA7D4885B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46" r="142" b="468"/>
          <a:stretch>
            <a:fillRect/>
          </a:stretch>
        </p:blipFill>
        <p:spPr bwMode="auto">
          <a:xfrm>
            <a:off x="1195862" y="919300"/>
            <a:ext cx="6752274" cy="31425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53825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39E3C-D094-999F-81A7-4ADA2A8C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AA77DC2-13F1-9EA5-4A0D-347F890149C3}"/>
              </a:ext>
            </a:extLst>
          </p:cNvPr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noFill/>
          <a:ln w="12700">
            <a:solidFill>
              <a:schemeClr val="bg1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82399E9-9237-B0B1-603F-17D13F0E51C8}"/>
              </a:ext>
            </a:extLst>
          </p:cNvPr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Scenario 5 – Greška pri dekripciji pogrešnim ključem</a:t>
            </a:r>
            <a:endParaRPr lang="en-US" sz="2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82C16D4F-187E-DBAB-55A6-EC131C1217A6}"/>
              </a:ext>
            </a:extLst>
          </p:cNvPr>
          <p:cNvSpPr/>
          <p:nvPr/>
        </p:nvSpPr>
        <p:spPr>
          <a:xfrm>
            <a:off x="241606" y="3327400"/>
            <a:ext cx="86607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pgcrypto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ne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vraća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pogrešne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tiho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već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eksplicitno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signalizira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grešku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 Ovo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sprečava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slučajeve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gde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bi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aplikacija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mogla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interpretira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loše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kao</a:t>
            </a: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validne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A0E8B-DAE3-1B41-FD44-487CA3F96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1693" r="334" b="674"/>
          <a:stretch>
            <a:fillRect/>
          </a:stretch>
        </p:blipFill>
        <p:spPr bwMode="auto">
          <a:xfrm>
            <a:off x="575999" y="844550"/>
            <a:ext cx="7992000" cy="212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1630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>
            <a:extLst>
              <a:ext uri="{FF2B5EF4-FFF2-40B4-BE49-F238E27FC236}">
                <a16:creationId xmlns:a16="http://schemas.microsoft.com/office/drawing/2014/main" id="{EA04F80C-A597-5F5D-C7C1-942496FB791D}"/>
              </a:ext>
            </a:extLst>
          </p:cNvPr>
          <p:cNvSpPr/>
          <p:nvPr/>
        </p:nvSpPr>
        <p:spPr>
          <a:xfrm>
            <a:off x="365760" y="1399540"/>
            <a:ext cx="8422640" cy="186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</a:t>
            </a:r>
            <a:r>
              <a:rPr lang="en-US" sz="4800" b="1" dirty="0" err="1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</a:t>
            </a:r>
            <a:r>
              <a:rPr lang="sr-Latn-RS" sz="4800" b="1" dirty="0">
                <a:solidFill>
                  <a:srgbClr val="00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žnji</a:t>
            </a:r>
            <a:endParaRPr lang="en-US" sz="4800" dirty="0"/>
          </a:p>
        </p:txBody>
      </p:sp>
      <p:sp>
        <p:nvSpPr>
          <p:cNvPr id="16" name="Text 9"/>
          <p:cNvSpPr/>
          <p:nvPr/>
        </p:nvSpPr>
        <p:spPr>
          <a:xfrm>
            <a:off x="492760" y="436067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Nemanja </a:t>
            </a:r>
            <a:r>
              <a:rPr lang="en-US" sz="12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Stojadinović</a:t>
            </a:r>
            <a:r>
              <a:rPr lang="sr-Latn-R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2094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40028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1085</Words>
  <Application>Microsoft Office PowerPoint</Application>
  <PresentationFormat>On-screen Show (16:9)</PresentationFormat>
  <Paragraphs>129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pgcrypto – Enkripcija na nivou kolona u PostgreSQL-u</dc:title>
  <dc:subject>PptxGenJS Presentation</dc:subject>
  <dc:creator>Nemanja Stojadinovic</dc:creator>
  <cp:lastModifiedBy>Nemanja Stojadinovic</cp:lastModifiedBy>
  <cp:revision>5</cp:revision>
  <dcterms:created xsi:type="dcterms:W3CDTF">2026-06-04T16:12:06Z</dcterms:created>
  <dcterms:modified xsi:type="dcterms:W3CDTF">2026-06-04T18:45:52Z</dcterms:modified>
</cp:coreProperties>
</file>