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9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28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7762-6D21-14A4-0AB4-C760C87E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BB26F-2A3E-95D2-5F2F-20FED36CB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4BB14-D65D-4B86-852E-DE5D2474D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0A6C7-C656-0BC1-CDA5-B0A6544FC4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73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0FDBB-ED28-D0C5-748A-1B34994B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1C9BD-5ADC-2E80-A99F-E9DF391CC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63F48-7E71-08A1-E58E-7DCF1EEE5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EAF3A-072C-9237-6246-EA224CD40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62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1987-8A33-84AD-6F9F-5E287BB8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81FA70-DFA8-35E8-A310-B83090500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3DEF6-FB36-6751-3BC9-9184D8879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25505-7173-6AC6-C2A1-D737736BD8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55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956C3-FF4A-8601-9C6C-B75CBB44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3997F-F31A-AC18-B98F-ED3699493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38206-E8CB-8D53-2FE1-7F743F178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CBB40-EF31-A261-C766-2B1BBB97AF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84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04B38-B37A-DE8C-7A95-F1020F54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15623-4E64-31B2-2325-0F1D746E3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EBAAA-8698-AD8B-086E-02292F356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3C8B5-895F-6E31-E5DD-2E0689DCFC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23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365760" y="13995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4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Enkripcija na nivou kolona u PostgreSQL-u</a:t>
            </a:r>
          </a:p>
          <a:p>
            <a:pPr marL="0" indent="0">
              <a:buNone/>
            </a:pP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365760" y="1600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65760" y="44119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Nemanja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Stojadinovi</a:t>
            </a:r>
            <a:r>
              <a:rPr lang="sr-Latn-R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ć, 2094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enkriptovati kolone?</a:t>
            </a:r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023360" cy="2528596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228600" y="914400"/>
            <a:ext cx="4023360" cy="457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 – Transparent Data Encryption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508760"/>
            <a:ext cx="3749040" cy="18036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Enkriptuje fajlove na disku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 RAM-u uvek plaintext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DBA vidi sve vrednosti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Štiti samo od fizičke krađe diska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92040" y="914400"/>
            <a:ext cx="4023360" cy="2528596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10" name="Shape 7"/>
          <p:cNvSpPr/>
          <p:nvPr/>
        </p:nvSpPr>
        <p:spPr>
          <a:xfrm>
            <a:off x="4892040" y="914400"/>
            <a:ext cx="4023360" cy="457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82546" y="914400"/>
            <a:ext cx="3887133" cy="4572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Encryption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74920" y="1508760"/>
            <a:ext cx="3749040" cy="18036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Enkriptovano i u RAM i na disku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DBA bez ključa vidi samo binarni blob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Ključ čuvan van baze (KMS, HSM...)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pgcrypto – Arhitektura i funkcionalne grupe</a:t>
            </a:r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8412480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EXTENSION IF NOT EXISTS pgcrypto;   — jednom po bazi, sve funkcije dostupne u SQL upitima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374482"/>
            <a:ext cx="8412480" cy="1176391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7" name="Shape 5"/>
          <p:cNvSpPr/>
          <p:nvPr/>
        </p:nvSpPr>
        <p:spPr>
          <a:xfrm>
            <a:off x="182880" y="1374482"/>
            <a:ext cx="8412480" cy="22475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19" y="1374482"/>
            <a:ext cx="7502277" cy="22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Heš funkcije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" y="1635557"/>
            <a:ext cx="7309204" cy="847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digest(data, type)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Podržani: MD5, SHA-1,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SHA-224/256/384/512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Opšta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namena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55457" y="2592792"/>
            <a:ext cx="8412480" cy="1176391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12" name="Shape 9"/>
          <p:cNvSpPr/>
          <p:nvPr/>
        </p:nvSpPr>
        <p:spPr>
          <a:xfrm>
            <a:off x="159272" y="2610394"/>
            <a:ext cx="8416032" cy="202461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6896" y="2610393"/>
            <a:ext cx="7275145" cy="244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Generisanje slučajnih podataka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55457" y="2755981"/>
            <a:ext cx="7032515" cy="924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gen_random_bytes(n)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gen_random_uuid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71133" y="3878700"/>
            <a:ext cx="8395788" cy="1143346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17" name="Shape 13"/>
          <p:cNvSpPr/>
          <p:nvPr/>
        </p:nvSpPr>
        <p:spPr>
          <a:xfrm>
            <a:off x="163295" y="3822009"/>
            <a:ext cx="8419846" cy="19088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20048" y="3848677"/>
            <a:ext cx="7714183" cy="13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Enkripcija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94532" y="4114205"/>
            <a:ext cx="7437530" cy="670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Raw: encrypt / decrypt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PGP simetrična: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pgp_sym_encrypt</a:t>
            </a:r>
            <a:r>
              <a:rPr lang="en-US" sz="1100" dirty="0"/>
              <a:t>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/ pgp_sym_decrypt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PGP asimetrična: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pgp_pub_encrypt</a:t>
            </a:r>
            <a:r>
              <a:rPr lang="en-US" sz="1100" dirty="0"/>
              <a:t>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/ pgp_pub_decrypt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PGP enkripcija vs Raw enkripcija | AES-256 (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Simetri</a:t>
            </a:r>
            <a:r>
              <a:rPr lang="sr-Latn-R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čna enkripcija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5" name="Text 3"/>
          <p:cNvSpPr/>
          <p:nvPr/>
        </p:nvSpPr>
        <p:spPr>
          <a:xfrm>
            <a:off x="274320" y="896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PGP vs Raw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3840480" cy="29260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(encrypt/decrypt)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Direktna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primena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blok-šifre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podatke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ECB (Electronic Codebook) mode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podrazumevano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nosi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rizik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od otkrivanja obrazaca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Preporučuje se eksplicitno navođenje CBC/CTR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16352"/>
            <a:ext cx="3840480" cy="29260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16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PGP (pgp_sym/pub_...)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455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Implementira RFC 4880 (OpenPGP standard)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4930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Slučajni session key,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tj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isti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plaintext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daje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različit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ciphertext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8404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Ugrađena integritetna provera (MDC)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1879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Preporučeno za produkciju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841248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19" name="Text 16"/>
          <p:cNvSpPr/>
          <p:nvPr/>
        </p:nvSpPr>
        <p:spPr>
          <a:xfrm>
            <a:off x="4864608" y="8961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Algoritam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00600" y="1389888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NIST standard od 2001. (Rijndael algoritam)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Blokovi od 128 bita, ključ 256 bita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14 rundi transformacija (SubBytes, ShiftRows, MixColumns,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AddRoundKey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B0D8DC6-C67E-A02F-2DFF-5B381E685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680293"/>
              </p:ext>
            </p:extLst>
          </p:nvPr>
        </p:nvGraphicFramePr>
        <p:xfrm>
          <a:off x="4800600" y="3310128"/>
          <a:ext cx="3931920" cy="141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760851691"/>
                    </a:ext>
                  </a:extLst>
                </a:gridCol>
              </a:tblGrid>
              <a:tr h="1411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-- Enkripcija: pgp_sym_encrypt(plaintext, kljuc)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SELECT pgp_sym_encrypt('tajna vrednost', 'moj_tajni_kljuc');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-- Vraca: \xc30d04070302...(binarni blob)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1200" dirty="0">
                          <a:effectLst/>
                        </a:rPr>
                        <a:t> </a:t>
                      </a: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-- Dekripcija: pgp_sym_decrypt(ciphertext, kljuc)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SELECT pgp_sym_decrypt(enkriptovana_kolona, 'moj_tajni_kljuc')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FROM tabela;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-- Vraca: 'tajna vrednost'</a:t>
                      </a:r>
                      <a:endParaRPr lang="sr-Latn-R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7000" marR="127000" marT="63500" marB="63500"/>
                </a:tc>
                <a:extLst>
                  <a:ext uri="{0D108BD9-81ED-4DB2-BD59-A6C34878D82A}">
                    <a16:rowId xmlns:a16="http://schemas.microsoft.com/office/drawing/2014/main" val="15636879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Asimetrična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enkripcija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Upravljanje ključevima</a:t>
            </a:r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  <p:txBody>
          <a:bodyPr/>
          <a:lstStyle/>
          <a:p>
            <a:endParaRPr lang="sr-Latn-RS" dirty="0"/>
          </a:p>
        </p:txBody>
      </p:sp>
      <p:sp>
        <p:nvSpPr>
          <p:cNvPr id="6" name="Text 3"/>
          <p:cNvSpPr/>
          <p:nvPr/>
        </p:nvSpPr>
        <p:spPr>
          <a:xfrm>
            <a:off x="365760" y="877824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Asimetrična enkripcija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13716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ključeva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javni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privatni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Enkriptovano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javnim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ključem</a:t>
            </a:r>
            <a:r>
              <a:rPr lang="sr-Latn-R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dekriptuje samo privatni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pgcrypto: pgp_pub_encrypt /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pgp_pub_decrypt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9809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 koristiti koji pristup?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54109" y="827532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  <p:txBody>
          <a:bodyPr/>
          <a:lstStyle/>
          <a:p>
            <a:endParaRPr lang="sr-Latn-RS" dirty="0"/>
          </a:p>
        </p:txBody>
      </p:sp>
      <p:sp>
        <p:nvSpPr>
          <p:cNvPr id="13" name="Text 9"/>
          <p:cNvSpPr/>
          <p:nvPr/>
        </p:nvSpPr>
        <p:spPr>
          <a:xfrm>
            <a:off x="4818888" y="87782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Upravljanje ključevima (Key Management)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54880" y="138988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9204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00" b="1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Hardkodirano</a:t>
            </a: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kodu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92040" y="1700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00" dirty="0">
                <a:latin typeface="Calibri" pitchFamily="34" charset="0"/>
                <a:cs typeface="Calibri" pitchFamily="34" charset="-120"/>
              </a:rPr>
              <a:t>Dostupan svima koji imaju pristup repozitorijumu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0" y="210312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92040" y="2139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Environment varijable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92040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00" dirty="0">
                <a:latin typeface="Calibri" pitchFamily="34" charset="0"/>
                <a:cs typeface="Calibri" pitchFamily="34" charset="-120"/>
              </a:rPr>
              <a:t>Ključ dostupan preko shell pristupa serveru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754880" y="2816352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9204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KMS (Vault, AWS, Azure)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9204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latin typeface="Calibri" pitchFamily="34" charset="0"/>
                <a:cs typeface="Calibri" pitchFamily="34" charset="-120"/>
              </a:rPr>
              <a:t>Specijalizovani</a:t>
            </a:r>
            <a:r>
              <a:rPr lang="en-US" sz="1000" dirty="0"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cs typeface="Calibri" pitchFamily="34" charset="-120"/>
              </a:rPr>
              <a:t>sistemi</a:t>
            </a:r>
            <a:r>
              <a:rPr lang="en-US" sz="1000" dirty="0">
                <a:latin typeface="Calibri" pitchFamily="34" charset="0"/>
                <a:cs typeface="Calibri" pitchFamily="34" charset="-120"/>
              </a:rPr>
              <a:t> za </a:t>
            </a:r>
            <a:r>
              <a:rPr lang="sr-Latn-RS" sz="1000" dirty="0">
                <a:latin typeface="Calibri" pitchFamily="34" charset="0"/>
                <a:cs typeface="Calibri" pitchFamily="34" charset="-120"/>
              </a:rPr>
              <a:t>čuvanje ključeva, rotaciju i audit log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54880" y="352958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9204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HSM (Hardware Security Module)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892040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00" dirty="0">
                <a:latin typeface="Calibri" pitchFamily="34" charset="0"/>
                <a:cs typeface="Calibri" pitchFamily="34" charset="-120"/>
              </a:rPr>
              <a:t>Fizički uređaj čuva ključ i nikad ga ne napušta</a:t>
            </a:r>
            <a:endParaRPr lang="en-US" sz="1000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672C234A-D470-1DBB-35FF-80B6FD813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826403"/>
              </p:ext>
            </p:extLst>
          </p:nvPr>
        </p:nvGraphicFramePr>
        <p:xfrm>
          <a:off x="320040" y="3127248"/>
          <a:ext cx="3840480" cy="15232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407457996"/>
                    </a:ext>
                  </a:extLst>
                </a:gridCol>
              </a:tblGrid>
              <a:tr h="1523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-- Enkripcija javnim kljucem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UPDATE korisnici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SET broj_kartice = pgp_pub_encrypt(broj_kartice_plaintext, dearmor(javni_kljuc))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WHERE id = 1;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1200" dirty="0">
                          <a:effectLst/>
                        </a:rPr>
                        <a:t> </a:t>
                      </a: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-- Dekripcija privatnim kljucem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SELECT pgp_pub_decrypt(broj_kartice, dearmor(privatni_kljuc))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FROM korisnici WHERE id = 1;</a:t>
                      </a:r>
                      <a:endParaRPr lang="sr-Latn-R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7000" marR="127000" marT="63500" marB="63500"/>
                </a:tc>
                <a:extLst>
                  <a:ext uri="{0D108BD9-81ED-4DB2-BD59-A6C34878D82A}">
                    <a16:rowId xmlns:a16="http://schemas.microsoft.com/office/drawing/2014/main" val="968997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Heširanje vs Enkripcija – Zaštita lozinki</a:t>
            </a:r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Enkripcija</a:t>
            </a: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reverzibilna (postoji </a:t>
            </a:r>
            <a:r>
              <a:rPr lang="en-US" sz="1200" b="1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</a:t>
            </a: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sr-Latn-R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Heširanje</a:t>
            </a: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jednosmerna operacija (nema povratka)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89888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8" name="Text 5"/>
          <p:cNvSpPr/>
          <p:nvPr/>
        </p:nvSpPr>
        <p:spPr>
          <a:xfrm>
            <a:off x="365760" y="1463040"/>
            <a:ext cx="3904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heširati lozinke?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956816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Aplikaciji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nikada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ne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treba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originalna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lozinka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Provera: hash(uneto) == sačuvani_hash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Ako je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enkriptovana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lozinka</a:t>
            </a:r>
            <a:r>
              <a:rPr lang="sr-Latn-R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dostupan je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ključ</a:t>
            </a:r>
            <a:r>
              <a:rPr lang="sr-Latn-R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neko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može da pročita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SHA-256/MD5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prebrzi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lozinke</a:t>
            </a:r>
            <a:r>
              <a:rPr lang="sr-Latn-R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što olakšava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napad</a:t>
            </a:r>
            <a:r>
              <a:rPr lang="sr-Latn-R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bcrypt/scrypt/Argon2 </a:t>
            </a:r>
            <a:r>
              <a:rPr lang="sr-Latn-R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namerno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spor</a:t>
            </a:r>
            <a:r>
              <a:rPr lang="sr-Latn-R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1389888"/>
            <a:ext cx="4251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11" name="Text 8"/>
          <p:cNvSpPr/>
          <p:nvPr/>
        </p:nvSpPr>
        <p:spPr>
          <a:xfrm>
            <a:off x="4754880" y="1444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u pgcrypto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09160" y="377647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 err="1"/>
              <a:t>Parametar</a:t>
            </a:r>
            <a:r>
              <a:rPr lang="en-US" sz="1100" dirty="0"/>
              <a:t> cost </a:t>
            </a:r>
            <a:r>
              <a:rPr lang="en-US" sz="1100" dirty="0" err="1"/>
              <a:t>faktor</a:t>
            </a:r>
            <a:r>
              <a:rPr lang="en-US" sz="1100" dirty="0"/>
              <a:t> (12 u </a:t>
            </a:r>
            <a:r>
              <a:rPr lang="en-US" sz="1100" dirty="0" err="1"/>
              <a:t>primeru</a:t>
            </a:r>
            <a:r>
              <a:rPr lang="en-US" sz="1100" dirty="0"/>
              <a:t>) </a:t>
            </a:r>
            <a:r>
              <a:rPr lang="en-US" sz="1100" dirty="0" err="1"/>
              <a:t>kontroliše</a:t>
            </a:r>
            <a:r>
              <a:rPr lang="en-US" sz="1100" dirty="0"/>
              <a:t> </a:t>
            </a:r>
            <a:r>
              <a:rPr lang="en-US" sz="1100" dirty="0" err="1"/>
              <a:t>koliko</a:t>
            </a:r>
            <a:r>
              <a:rPr lang="en-US" sz="1100" dirty="0"/>
              <a:t> je </a:t>
            </a:r>
            <a:r>
              <a:rPr lang="en-US" sz="1100" dirty="0" err="1"/>
              <a:t>bcrypt</a:t>
            </a:r>
            <a:r>
              <a:rPr lang="en-US" sz="1100" dirty="0"/>
              <a:t> </a:t>
            </a:r>
            <a:r>
              <a:rPr lang="en-US" sz="1100" dirty="0" err="1"/>
              <a:t>spor</a:t>
            </a:r>
            <a:r>
              <a:rPr lang="en-US" sz="1100" dirty="0"/>
              <a:t> - </a:t>
            </a:r>
            <a:r>
              <a:rPr lang="en-US" sz="1100" dirty="0" err="1"/>
              <a:t>svako</a:t>
            </a:r>
            <a:r>
              <a:rPr lang="en-US" sz="1100" dirty="0"/>
              <a:t> </a:t>
            </a:r>
            <a:r>
              <a:rPr lang="en-US" sz="1100" dirty="0" err="1"/>
              <a:t>povećanje</a:t>
            </a:r>
            <a:r>
              <a:rPr lang="en-US" sz="1100" dirty="0"/>
              <a:t> za 1 </a:t>
            </a:r>
            <a:r>
              <a:rPr lang="en-US" sz="1100" dirty="0" err="1"/>
              <a:t>udvostručuje</a:t>
            </a:r>
            <a:r>
              <a:rPr lang="en-US" sz="1100" dirty="0"/>
              <a:t> </a:t>
            </a:r>
            <a:r>
              <a:rPr lang="en-US" sz="1100" dirty="0" err="1"/>
              <a:t>vreme</a:t>
            </a:r>
            <a:r>
              <a:rPr lang="en-US" sz="1100" dirty="0"/>
              <a:t> </a:t>
            </a:r>
            <a:r>
              <a:rPr lang="en-US" sz="1100" dirty="0" err="1"/>
              <a:t>računanja</a:t>
            </a:r>
            <a:r>
              <a:rPr lang="en-US" sz="1100" dirty="0"/>
              <a:t>. Cost </a:t>
            </a:r>
            <a:r>
              <a:rPr lang="en-US" sz="1100" dirty="0" err="1"/>
              <a:t>faktor</a:t>
            </a:r>
            <a:r>
              <a:rPr lang="en-US" sz="1100" dirty="0"/>
              <a:t> 12 </a:t>
            </a:r>
            <a:r>
              <a:rPr lang="en-US" sz="1100" dirty="0" err="1"/>
              <a:t>znači</a:t>
            </a:r>
            <a:r>
              <a:rPr lang="en-US" sz="1100" dirty="0"/>
              <a:t> 2^12 </a:t>
            </a:r>
            <a:r>
              <a:rPr lang="en-US" sz="1100" dirty="0" err="1"/>
              <a:t>iteracija</a:t>
            </a:r>
            <a:r>
              <a:rPr lang="en-US" sz="1100" dirty="0"/>
              <a:t>, </a:t>
            </a:r>
            <a:r>
              <a:rPr lang="en-US" sz="1100" dirty="0" err="1"/>
              <a:t>što</a:t>
            </a:r>
            <a:r>
              <a:rPr lang="en-US" sz="1100" dirty="0"/>
              <a:t> </a:t>
            </a:r>
            <a:r>
              <a:rPr lang="en-US" sz="1100" dirty="0" err="1"/>
              <a:t>na</a:t>
            </a:r>
            <a:r>
              <a:rPr lang="en-US" sz="1100" dirty="0"/>
              <a:t> </a:t>
            </a:r>
            <a:r>
              <a:rPr lang="en-US" sz="1100" dirty="0" err="1"/>
              <a:t>tipičnom</a:t>
            </a:r>
            <a:r>
              <a:rPr lang="en-US" sz="1100" dirty="0"/>
              <a:t> </a:t>
            </a:r>
            <a:r>
              <a:rPr lang="en-US" sz="1100" dirty="0" err="1"/>
              <a:t>serveru</a:t>
            </a:r>
            <a:r>
              <a:rPr lang="en-US" sz="1100" dirty="0"/>
              <a:t> </a:t>
            </a:r>
            <a:r>
              <a:rPr lang="en-US" sz="1100" dirty="0" err="1"/>
              <a:t>traje</a:t>
            </a:r>
            <a:r>
              <a:rPr lang="en-US" sz="1100" dirty="0"/>
              <a:t> </a:t>
            </a:r>
            <a:r>
              <a:rPr lang="en-US" sz="1100" dirty="0" err="1"/>
              <a:t>oko</a:t>
            </a:r>
            <a:r>
              <a:rPr lang="en-US" sz="1100" dirty="0"/>
              <a:t> 250–400 </a:t>
            </a:r>
            <a:r>
              <a:rPr lang="en-US" sz="1100" dirty="0" err="1"/>
              <a:t>milisekundi</a:t>
            </a:r>
            <a:endParaRPr lang="en-US" sz="11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4642D5D-7D89-E7D3-EA61-CA1D578FF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594013"/>
              </p:ext>
            </p:extLst>
          </p:nvPr>
        </p:nvGraphicFramePr>
        <p:xfrm>
          <a:off x="4831080" y="2149856"/>
          <a:ext cx="3817620" cy="15168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17620">
                  <a:extLst>
                    <a:ext uri="{9D8B030D-6E8A-4147-A177-3AD203B41FA5}">
                      <a16:colId xmlns:a16="http://schemas.microsoft.com/office/drawing/2014/main" val="3729747333"/>
                    </a:ext>
                  </a:extLst>
                </a:gridCol>
              </a:tblGrid>
              <a:tr h="1516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-- Generisanje hash vrednosti lozinke (pri registraciji)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-- gen_salt('bf', 12) = bcrypt sa cost faktorom 12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INSERT INTO korisnici (username, lozinka_hash)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VALUES ('marko', crypt('moja_lozinka', gen_salt('bf', 12)));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1200" dirty="0">
                          <a:effectLst/>
                        </a:rPr>
                        <a:t> </a:t>
                      </a: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-- Provera lozinke pri prijavi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SELECT username FROM korisnici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WHERE username = 'marko'</a:t>
                      </a:r>
                      <a:endParaRPr lang="sr-Latn-RS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sr-Latn-RS" sz="900" dirty="0">
                          <a:effectLst/>
                        </a:rPr>
                        <a:t>  AND lozinka_hash = crypt('uneta_lozinka', lozinka_hash);</a:t>
                      </a:r>
                      <a:endParaRPr lang="sr-Latn-R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27000" marR="127000" marT="63500" marB="63500"/>
                </a:tc>
                <a:extLst>
                  <a:ext uri="{0D108BD9-81ED-4DB2-BD59-A6C34878D82A}">
                    <a16:rowId xmlns:a16="http://schemas.microsoft.com/office/drawing/2014/main" val="24758606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 enkripcije na nivou kolona</a:t>
            </a:r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8705088" cy="1166327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182880" y="914400"/>
            <a:ext cx="8705088" cy="16391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79" y="914400"/>
            <a:ext cx="6993579" cy="16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indeksiranja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6032" y="1136469"/>
            <a:ext cx="8114913" cy="945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WHERE po enkriptovanoj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koloni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zahteva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Seq Scan cele tabele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Svi redovi se dekriptuju pre filtriranja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Stotine puta sporije na velikim tabelama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880" y="2351152"/>
            <a:ext cx="8705088" cy="1049546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10" name="Shape 7"/>
          <p:cNvSpPr/>
          <p:nvPr/>
        </p:nvSpPr>
        <p:spPr>
          <a:xfrm>
            <a:off x="182880" y="2328292"/>
            <a:ext cx="8705088" cy="14750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7047" y="2328292"/>
            <a:ext cx="6993579" cy="147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Složenost SQL upita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6032" y="2517704"/>
            <a:ext cx="8114913" cy="850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Svaki read/write zahteva pgp_sym_decrypt/encrypt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ORDER BY, GROUP BY po enk.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koloni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neefikasno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SUM/AVG/MIN/MAX, LIKE, FK i UNIQUE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neupotrebljvi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82880" y="3704327"/>
            <a:ext cx="8705088" cy="1049546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15" name="Shape 11"/>
          <p:cNvSpPr/>
          <p:nvPr/>
        </p:nvSpPr>
        <p:spPr>
          <a:xfrm>
            <a:off x="182880" y="3704327"/>
            <a:ext cx="8705088" cy="14750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0079" y="3704327"/>
            <a:ext cx="6993579" cy="147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Upravljanje ključevima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92607" y="3851831"/>
            <a:ext cx="8114913" cy="850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Gubitak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ključa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zna</a:t>
            </a:r>
            <a:r>
              <a:rPr lang="sr-Latn-R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či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trajni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gubitak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07B2D-E404-D453-5BE3-FBED1E00B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3F64B52-5D9B-FDA4-0A68-3D90585F1EF5}"/>
              </a:ext>
            </a:extLst>
          </p:cNvPr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Priprema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okruzenja</a:t>
            </a:r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E4D00F-448E-243B-F657-55FA7EBC28D7}"/>
              </a:ext>
            </a:extLst>
          </p:cNvPr>
          <p:cNvSpPr/>
          <p:nvPr/>
        </p:nvSpPr>
        <p:spPr>
          <a:xfrm>
            <a:off x="182880" y="914400"/>
            <a:ext cx="8705088" cy="2789927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3924C07-E4A2-97E9-417D-01A2DA96A8FD}"/>
              </a:ext>
            </a:extLst>
          </p:cNvPr>
          <p:cNvSpPr/>
          <p:nvPr/>
        </p:nvSpPr>
        <p:spPr>
          <a:xfrm>
            <a:off x="182880" y="914400"/>
            <a:ext cx="8705088" cy="16391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sr-Latn-RS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0423628-8042-0239-01B0-6ADA1D025964}"/>
              </a:ext>
            </a:extLst>
          </p:cNvPr>
          <p:cNvSpPr/>
          <p:nvPr/>
        </p:nvSpPr>
        <p:spPr>
          <a:xfrm>
            <a:off x="640079" y="914400"/>
            <a:ext cx="6993579" cy="16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Kreiranje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B7FFA66-8F97-E65B-951B-8432DFA37B04}"/>
              </a:ext>
            </a:extLst>
          </p:cNvPr>
          <p:cNvSpPr/>
          <p:nvPr/>
        </p:nvSpPr>
        <p:spPr>
          <a:xfrm>
            <a:off x="256033" y="1136469"/>
            <a:ext cx="4138686" cy="3463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sr-Latn-RS" sz="1100" dirty="0">
                <a:solidFill>
                  <a:srgbClr val="CC7BF4"/>
                </a:solidFill>
                <a:effectLst/>
              </a:rPr>
              <a:t>CREATE</a:t>
            </a:r>
            <a:r>
              <a:rPr lang="sr-Latn-RS" sz="1100" dirty="0"/>
              <a:t> </a:t>
            </a:r>
            <a:r>
              <a:rPr lang="sr-Latn-RS" sz="1100" dirty="0">
                <a:solidFill>
                  <a:srgbClr val="CC7BF4"/>
                </a:solidFill>
                <a:effectLst/>
              </a:rPr>
              <a:t>TABLE</a:t>
            </a:r>
            <a:r>
              <a:rPr lang="sr-Latn-RS" sz="1100" dirty="0"/>
              <a:t> korisnici 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(</a:t>
            </a:r>
            <a:r>
              <a:rPr lang="sr-Latn-RS" sz="1100" dirty="0"/>
              <a:t> </a:t>
            </a:r>
            <a:endParaRPr lang="en-US" sz="1100" dirty="0"/>
          </a:p>
          <a:p>
            <a:pPr>
              <a:spcAft>
                <a:spcPts val="500"/>
              </a:spcAft>
              <a:buSzPct val="100000"/>
            </a:pPr>
            <a:r>
              <a:rPr lang="en-US" sz="1100" dirty="0"/>
              <a:t>	</a:t>
            </a:r>
            <a:r>
              <a:rPr lang="sr-Latn-RS" sz="1100" dirty="0"/>
              <a:t>id </a:t>
            </a:r>
            <a:r>
              <a:rPr lang="sr-Latn-RS" sz="1100" dirty="0">
                <a:solidFill>
                  <a:srgbClr val="CC7BF4"/>
                </a:solidFill>
                <a:effectLst/>
              </a:rPr>
              <a:t>SERIAL</a:t>
            </a:r>
            <a:r>
              <a:rPr lang="sr-Latn-RS" sz="1100" dirty="0"/>
              <a:t> </a:t>
            </a:r>
            <a:r>
              <a:rPr lang="sr-Latn-RS" sz="1100" dirty="0">
                <a:solidFill>
                  <a:srgbClr val="CC7BF4"/>
                </a:solidFill>
                <a:effectLst/>
              </a:rPr>
              <a:t>PRIMARY</a:t>
            </a:r>
            <a:r>
              <a:rPr lang="sr-Latn-RS" sz="1100" dirty="0"/>
              <a:t> </a:t>
            </a:r>
            <a:r>
              <a:rPr lang="sr-Latn-RS" sz="1100" dirty="0">
                <a:solidFill>
                  <a:srgbClr val="CC7BF4"/>
                </a:solidFill>
                <a:effectLst/>
              </a:rPr>
              <a:t>KEY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en-US" sz="1100" dirty="0">
                <a:solidFill>
                  <a:srgbClr val="D3D7DE"/>
                </a:solidFill>
                <a:effectLst/>
              </a:rPr>
              <a:t> </a:t>
            </a:r>
          </a:p>
          <a:p>
            <a:pPr>
              <a:spcAft>
                <a:spcPts val="500"/>
              </a:spcAft>
              <a:buSzPct val="100000"/>
            </a:pPr>
            <a:r>
              <a:rPr lang="en-US" sz="1100" dirty="0">
                <a:solidFill>
                  <a:srgbClr val="D3D7DE"/>
                </a:solidFill>
              </a:rPr>
              <a:t>	</a:t>
            </a:r>
            <a:r>
              <a:rPr lang="sr-Latn-RS" sz="1100" dirty="0"/>
              <a:t>ime </a:t>
            </a:r>
            <a:r>
              <a:rPr lang="sr-Latn-RS" sz="1100" dirty="0">
                <a:solidFill>
                  <a:srgbClr val="CC7BF4"/>
                </a:solidFill>
                <a:effectLst/>
              </a:rPr>
              <a:t>VARCHAR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(</a:t>
            </a:r>
            <a:r>
              <a:rPr lang="sr-Latn-RS" sz="1100" dirty="0">
                <a:solidFill>
                  <a:srgbClr val="5EEDED"/>
                </a:solidFill>
                <a:effectLst/>
              </a:rPr>
              <a:t>50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),</a:t>
            </a:r>
            <a:r>
              <a:rPr lang="sr-Latn-RS" sz="1100" dirty="0"/>
              <a:t> </a:t>
            </a:r>
            <a:endParaRPr lang="en-US" sz="1100" dirty="0"/>
          </a:p>
          <a:p>
            <a:pPr>
              <a:spcAft>
                <a:spcPts val="500"/>
              </a:spcAft>
              <a:buSzPct val="100000"/>
            </a:pPr>
            <a:r>
              <a:rPr lang="en-US" sz="1100" dirty="0"/>
              <a:t>	</a:t>
            </a:r>
            <a:r>
              <a:rPr lang="sr-Latn-RS" sz="1100" dirty="0"/>
              <a:t>prezime </a:t>
            </a:r>
            <a:r>
              <a:rPr lang="sr-Latn-RS" sz="1100" dirty="0">
                <a:solidFill>
                  <a:srgbClr val="CC7BF4"/>
                </a:solidFill>
                <a:effectLst/>
              </a:rPr>
              <a:t>VARCHAR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(</a:t>
            </a:r>
            <a:r>
              <a:rPr lang="sr-Latn-RS" sz="1100" dirty="0">
                <a:solidFill>
                  <a:srgbClr val="5EEDED"/>
                </a:solidFill>
                <a:effectLst/>
              </a:rPr>
              <a:t>50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),</a:t>
            </a:r>
            <a:endParaRPr lang="en-US" sz="1100" dirty="0">
              <a:solidFill>
                <a:srgbClr val="D3D7DE"/>
              </a:solidFill>
              <a:effectLst/>
            </a:endParaRPr>
          </a:p>
          <a:p>
            <a:pPr>
              <a:spcAft>
                <a:spcPts val="500"/>
              </a:spcAft>
              <a:buSzPct val="100000"/>
            </a:pPr>
            <a:r>
              <a:rPr lang="en-US" sz="1100" dirty="0"/>
              <a:t>	</a:t>
            </a:r>
            <a:r>
              <a:rPr lang="sr-Latn-RS" sz="1100" dirty="0"/>
              <a:t>jmbg_enc BYTEA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sr-Latn-RS" sz="1100" dirty="0"/>
              <a:t> </a:t>
            </a:r>
            <a:endParaRPr lang="en-US" sz="1100" dirty="0"/>
          </a:p>
          <a:p>
            <a:pPr>
              <a:spcAft>
                <a:spcPts val="500"/>
              </a:spcAft>
              <a:buSzPct val="100000"/>
            </a:pPr>
            <a:r>
              <a:rPr lang="en-US" sz="1100" dirty="0"/>
              <a:t>	</a:t>
            </a:r>
            <a:r>
              <a:rPr lang="sr-Latn-RS" sz="1100" dirty="0"/>
              <a:t>broj_kartice_enc BYTEA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sr-Latn-RS" sz="1100" dirty="0"/>
              <a:t> </a:t>
            </a:r>
            <a:endParaRPr lang="en-US" sz="1100" dirty="0"/>
          </a:p>
          <a:p>
            <a:pPr>
              <a:spcAft>
                <a:spcPts val="500"/>
              </a:spcAft>
              <a:buSzPct val="100000"/>
            </a:pPr>
            <a:r>
              <a:rPr lang="en-US" sz="1100" dirty="0"/>
              <a:t>	</a:t>
            </a:r>
            <a:r>
              <a:rPr lang="sr-Latn-RS" sz="1100" dirty="0"/>
              <a:t>lozinka_hash </a:t>
            </a:r>
            <a:r>
              <a:rPr lang="sr-Latn-RS" sz="1100" dirty="0">
                <a:solidFill>
                  <a:srgbClr val="CC7BF4"/>
                </a:solidFill>
                <a:effectLst/>
              </a:rPr>
              <a:t>TEXT</a:t>
            </a:r>
            <a:r>
              <a:rPr lang="sr-Latn-RS" sz="1100" dirty="0"/>
              <a:t> 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);</a:t>
            </a:r>
            <a:endParaRPr lang="en-US" sz="11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69C4853-F931-1190-5D87-C2F05F44BE5A}"/>
              </a:ext>
            </a:extLst>
          </p:cNvPr>
          <p:cNvSpPr/>
          <p:nvPr/>
        </p:nvSpPr>
        <p:spPr>
          <a:xfrm>
            <a:off x="182880" y="3704327"/>
            <a:ext cx="8705088" cy="1049546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  <a:effectLst/>
        </p:spPr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004F8C75-0E65-B0F0-9942-7733F8E6D2C2}"/>
              </a:ext>
            </a:extLst>
          </p:cNvPr>
          <p:cNvSpPr/>
          <p:nvPr/>
        </p:nvSpPr>
        <p:spPr>
          <a:xfrm>
            <a:off x="4467872" y="1137714"/>
            <a:ext cx="4138686" cy="3463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>
              <a:solidFill>
                <a:srgbClr val="CC7BF4"/>
              </a:solidFill>
              <a:effectLst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C7BF4"/>
                </a:solidFill>
                <a:effectLst/>
              </a:rPr>
              <a:t>SET</a:t>
            </a:r>
            <a:r>
              <a:rPr lang="en-US" sz="1100" dirty="0"/>
              <a:t> </a:t>
            </a:r>
            <a:r>
              <a:rPr lang="en-US" sz="1100" dirty="0" err="1"/>
              <a:t>app</a:t>
            </a:r>
            <a:r>
              <a:rPr lang="en-US" sz="1100" dirty="0" err="1">
                <a:solidFill>
                  <a:srgbClr val="D3D7DE"/>
                </a:solidFill>
                <a:effectLst/>
              </a:rPr>
              <a:t>.</a:t>
            </a:r>
            <a:r>
              <a:rPr lang="en-US" sz="1100" dirty="0" err="1"/>
              <a:t>enc_key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EAECF0"/>
                </a:solidFill>
                <a:effectLst/>
              </a:rPr>
              <a:t>=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9BE963"/>
                </a:solidFill>
                <a:effectLst/>
              </a:rPr>
              <a:t>'MojTajniKljuc2026!'</a:t>
            </a:r>
            <a:r>
              <a:rPr lang="en-US" sz="1100" dirty="0">
                <a:solidFill>
                  <a:srgbClr val="D3D7DE"/>
                </a:solidFill>
                <a:effectLst/>
              </a:rPr>
              <a:t>;</a:t>
            </a:r>
            <a:endParaRPr lang="en-US" sz="1100" dirty="0">
              <a:solidFill>
                <a:srgbClr val="CC7BF4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sr-Latn-RS" sz="1100" dirty="0">
                <a:solidFill>
                  <a:srgbClr val="CC7BF4"/>
                </a:solidFill>
                <a:effectLst/>
              </a:rPr>
              <a:t>INSERT</a:t>
            </a:r>
            <a:r>
              <a:rPr lang="sr-Latn-RS" sz="1100" dirty="0"/>
              <a:t> </a:t>
            </a:r>
            <a:r>
              <a:rPr lang="sr-Latn-RS" sz="1100" dirty="0">
                <a:solidFill>
                  <a:srgbClr val="CC7BF4"/>
                </a:solidFill>
                <a:effectLst/>
              </a:rPr>
              <a:t>INTO</a:t>
            </a:r>
            <a:r>
              <a:rPr lang="sr-Latn-RS" sz="1100" dirty="0"/>
              <a:t> korisnici 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(</a:t>
            </a:r>
            <a:r>
              <a:rPr lang="sr-Latn-RS" sz="1100" dirty="0"/>
              <a:t>ime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sr-Latn-RS" sz="1100" dirty="0"/>
              <a:t> prezime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sr-Latn-RS" sz="1100" dirty="0"/>
              <a:t> jmbg_enc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sr-Latn-RS" sz="1100" dirty="0"/>
              <a:t> broj_kartice_enc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sr-Latn-RS" sz="1100" dirty="0"/>
              <a:t> lozinka_hash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)</a:t>
            </a:r>
            <a:r>
              <a:rPr lang="sr-Latn-RS" sz="1100" dirty="0"/>
              <a:t> </a:t>
            </a:r>
            <a:r>
              <a:rPr lang="sr-Latn-RS" sz="1100" dirty="0">
                <a:solidFill>
                  <a:srgbClr val="CC7BF4"/>
                </a:solidFill>
                <a:effectLst/>
              </a:rPr>
              <a:t>VALUES</a:t>
            </a:r>
            <a:r>
              <a:rPr lang="sr-Latn-RS" sz="1100" dirty="0"/>
              <a:t> 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(</a:t>
            </a:r>
            <a:r>
              <a:rPr lang="sr-Latn-RS" sz="1100" dirty="0"/>
              <a:t> </a:t>
            </a:r>
            <a:r>
              <a:rPr lang="sr-Latn-RS" sz="1100" dirty="0">
                <a:solidFill>
                  <a:srgbClr val="9BE963"/>
                </a:solidFill>
                <a:effectLst/>
              </a:rPr>
              <a:t>'Marko'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sr-Latn-RS" sz="1100" dirty="0"/>
              <a:t> </a:t>
            </a:r>
            <a:r>
              <a:rPr lang="sr-Latn-RS" sz="1100" dirty="0">
                <a:solidFill>
                  <a:srgbClr val="9BE963"/>
                </a:solidFill>
                <a:effectLst/>
              </a:rPr>
              <a:t>'Petrovic'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sr-Latn-RS" sz="1100" dirty="0"/>
              <a:t> pgp_sym_encrypt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(</a:t>
            </a:r>
            <a:r>
              <a:rPr lang="sr-Latn-RS" sz="1100" dirty="0">
                <a:solidFill>
                  <a:srgbClr val="9BE963"/>
                </a:solidFill>
                <a:effectLst/>
              </a:rPr>
              <a:t>'1234567890123'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sr-Latn-RS" sz="1100" dirty="0"/>
              <a:t> current_setting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(</a:t>
            </a:r>
            <a:r>
              <a:rPr lang="sr-Latn-RS" sz="1100" dirty="0">
                <a:solidFill>
                  <a:srgbClr val="9BE963"/>
                </a:solidFill>
                <a:effectLst/>
              </a:rPr>
              <a:t>'app.enc_key'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)),</a:t>
            </a:r>
            <a:r>
              <a:rPr lang="sr-Latn-RS" sz="1100" dirty="0"/>
              <a:t> pgp_sym_encrypt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(</a:t>
            </a:r>
            <a:r>
              <a:rPr lang="sr-Latn-RS" sz="1100" dirty="0">
                <a:solidFill>
                  <a:srgbClr val="9BE963"/>
                </a:solidFill>
                <a:effectLst/>
              </a:rPr>
              <a:t>'1234567812345678'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sr-Latn-RS" sz="1100" dirty="0"/>
              <a:t> current_setting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(</a:t>
            </a:r>
            <a:r>
              <a:rPr lang="sr-Latn-RS" sz="1100" dirty="0">
                <a:solidFill>
                  <a:srgbClr val="9BE963"/>
                </a:solidFill>
                <a:effectLst/>
              </a:rPr>
              <a:t>'app.enc_key'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)),</a:t>
            </a:r>
            <a:r>
              <a:rPr lang="sr-Latn-RS" sz="1100" dirty="0"/>
              <a:t> crypt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(</a:t>
            </a:r>
            <a:r>
              <a:rPr lang="sr-Latn-RS" sz="1100" dirty="0">
                <a:solidFill>
                  <a:srgbClr val="9BE963"/>
                </a:solidFill>
                <a:effectLst/>
              </a:rPr>
              <a:t>'moja_lozinka'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sr-Latn-RS" sz="1100" dirty="0"/>
              <a:t> gen_salt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(</a:t>
            </a:r>
            <a:r>
              <a:rPr lang="sr-Latn-RS" sz="1100" dirty="0">
                <a:solidFill>
                  <a:srgbClr val="9BE963"/>
                </a:solidFill>
                <a:effectLst/>
              </a:rPr>
              <a:t>'bf'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,</a:t>
            </a:r>
            <a:r>
              <a:rPr lang="sr-Latn-RS" sz="1100" dirty="0"/>
              <a:t> </a:t>
            </a:r>
            <a:r>
              <a:rPr lang="sr-Latn-RS" sz="1100" dirty="0">
                <a:solidFill>
                  <a:srgbClr val="5EEDED"/>
                </a:solidFill>
                <a:effectLst/>
              </a:rPr>
              <a:t>12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))</a:t>
            </a:r>
            <a:r>
              <a:rPr lang="sr-Latn-RS" sz="1100" dirty="0"/>
              <a:t> </a:t>
            </a:r>
            <a:r>
              <a:rPr lang="sr-Latn-RS" sz="1100" dirty="0">
                <a:solidFill>
                  <a:srgbClr val="D3D7DE"/>
                </a:solidFill>
                <a:effectLst/>
              </a:rPr>
              <a:t>);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49286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Scenario</a:t>
            </a:r>
            <a:r>
              <a:rPr lang="es-E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1 – SELECT </a:t>
            </a:r>
            <a:r>
              <a:rPr lang="es-E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bez</a:t>
            </a:r>
            <a:r>
              <a:rPr lang="es-E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s-E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dekripcije</a:t>
            </a:r>
            <a:r>
              <a:rPr lang="es-E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75F9E4D-F836-DD4F-22B9-4B7895BB33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54" b="924"/>
          <a:stretch>
            <a:fillRect/>
          </a:stretch>
        </p:blipFill>
        <p:spPr bwMode="auto">
          <a:xfrm>
            <a:off x="241606" y="946866"/>
            <a:ext cx="8660787" cy="18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 3">
            <a:extLst>
              <a:ext uri="{FF2B5EF4-FFF2-40B4-BE49-F238E27FC236}">
                <a16:creationId xmlns:a16="http://schemas.microsoft.com/office/drawing/2014/main" id="{378AA276-1DEE-A5C9-C87B-F418276839C9}"/>
              </a:ext>
            </a:extLst>
          </p:cNvPr>
          <p:cNvSpPr/>
          <p:nvPr/>
        </p:nvSpPr>
        <p:spPr>
          <a:xfrm>
            <a:off x="241605" y="3050034"/>
            <a:ext cx="866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Kolone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jmbg_enc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broj_kartice_enc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prikazuju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vrednost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[binary data] u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pgAdmin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interfejsu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dok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lozinka_hash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prikazuje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hash string koji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počinje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$2a$12$,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što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označava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algoritam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cost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faktorom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D99D9-6C50-8E24-30F1-B91882191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7E0A0C-9B78-B496-6B2B-41473E110A19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C965D8-4CB6-E3B2-B330-649A594711C3}"/>
              </a:ext>
            </a:extLst>
          </p:cNvPr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Scenario</a:t>
            </a:r>
            <a:r>
              <a:rPr lang="es-E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2 – SELECT </a:t>
            </a:r>
            <a:r>
              <a:rPr lang="es-E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sa</a:t>
            </a:r>
            <a:r>
              <a:rPr lang="es-E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s-E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dekripcijom</a:t>
            </a:r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44FBA081-64E2-AA5F-6952-264D5CBC2667}"/>
              </a:ext>
            </a:extLst>
          </p:cNvPr>
          <p:cNvSpPr/>
          <p:nvPr/>
        </p:nvSpPr>
        <p:spPr>
          <a:xfrm>
            <a:off x="241606" y="4118883"/>
            <a:ext cx="866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Rezultat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prikazuje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sve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tri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vrednosti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 plaintext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obliku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- JMBG,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broj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kartice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hash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lozinke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Lozinka_hash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kolona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ostaje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heš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obliku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jer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lozinka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nikada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ne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dekriptuje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već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samo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poredi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novim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hashom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40218-0717-DA7C-BE17-6F561F0A4E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939799"/>
            <a:ext cx="8503920" cy="29496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5910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12B16-A63A-70CF-FD24-1585E4690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5F2975-8F59-2F82-7A03-A400A67B9018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C8A63B-0006-A678-B8CE-20928A7456C4}"/>
              </a:ext>
            </a:extLst>
          </p:cNvPr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Scenario</a:t>
            </a:r>
            <a:r>
              <a:rPr lang="es-E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3 – </a:t>
            </a:r>
            <a:r>
              <a:rPr lang="es-E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Heširanje</a:t>
            </a:r>
            <a:r>
              <a:rPr lang="es-E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s-E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lozinki</a:t>
            </a:r>
            <a:r>
              <a:rPr lang="es-E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i </a:t>
            </a:r>
            <a:r>
              <a:rPr lang="es-E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provera</a:t>
            </a:r>
            <a:r>
              <a:rPr lang="es-ES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s-ES" sz="2200" b="1" dirty="0" err="1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identiteta</a:t>
            </a:r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F9D0AB83-C2FA-55D1-2BA2-D8B0C8D299F9}"/>
              </a:ext>
            </a:extLst>
          </p:cNvPr>
          <p:cNvSpPr/>
          <p:nvPr/>
        </p:nvSpPr>
        <p:spPr>
          <a:xfrm>
            <a:off x="241606" y="3651203"/>
            <a:ext cx="866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 </a:t>
            </a:r>
            <a:r>
              <a:rPr lang="en-US" sz="1200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</a:t>
            </a: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upita</a:t>
            </a: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demonstriraju</a:t>
            </a: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proveru</a:t>
            </a: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lozinke</a:t>
            </a: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</a:t>
            </a: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prijavi</a:t>
            </a: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korisnika</a:t>
            </a: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0187C8-AC7F-9016-C5D7-C6313B2FC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0" b="1162"/>
          <a:stretch>
            <a:fillRect/>
          </a:stretch>
        </p:blipFill>
        <p:spPr bwMode="auto">
          <a:xfrm>
            <a:off x="241606" y="1035097"/>
            <a:ext cx="4165600" cy="22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83B1EB-D1B4-12FD-5A37-6722C972D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99" b="1159"/>
          <a:stretch>
            <a:fillRect/>
          </a:stretch>
        </p:blipFill>
        <p:spPr bwMode="auto">
          <a:xfrm>
            <a:off x="4554865" y="1035097"/>
            <a:ext cx="4347528" cy="226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1726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02E5-1355-4C3F-7A80-9C9AFE9AC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3E60A3-240D-96D4-8EB0-D6AFF7DD1C67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E88CCE-23D4-2638-6621-F4C1C2DD00A0}"/>
              </a:ext>
            </a:extLst>
          </p:cNvPr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Scenario 4 – Nemogućnost pretrage po enkriptovanoj koloni</a:t>
            </a:r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067AA8DF-D2D6-97EE-48C5-F207DC4B893D}"/>
              </a:ext>
            </a:extLst>
          </p:cNvPr>
          <p:cNvSpPr/>
          <p:nvPr/>
        </p:nvSpPr>
        <p:spPr>
          <a:xfrm>
            <a:off x="241606" y="4389666"/>
            <a:ext cx="866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EXPLAIN ANALYZE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izlaz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potvrđuje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Seq Scan - PostgreSQL mora da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dekriptuje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svaki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red u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tabeli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tek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onda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primeni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filter. Nema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mogućnosti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korišćenja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indeksa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jer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enkriptovane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vrednosti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nisu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sortirane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organizovane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način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koji bi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omogućio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B-Tree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pretragu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Linija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'Rows Removed by Filter: 2'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pokazuje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dva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od tri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reda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odbačena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tek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nakon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dekripcije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poređenja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E6857-D2B2-6A7D-057D-FA7D4885B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6" r="142" b="468"/>
          <a:stretch>
            <a:fillRect/>
          </a:stretch>
        </p:blipFill>
        <p:spPr bwMode="auto">
          <a:xfrm>
            <a:off x="1195862" y="919300"/>
            <a:ext cx="6752274" cy="31425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3825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9E3C-D094-999F-81A7-4ADA2A8C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A77DC2-13F1-9EA5-4A0D-347F890149C3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2399E9-9237-B0B1-603F-17D13F0E51C8}"/>
              </a:ext>
            </a:extLst>
          </p:cNvPr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Scenario 5 – Greška pri dekripciji pogrešnim ključem</a:t>
            </a:r>
            <a:endParaRPr 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82C16D4F-187E-DBAB-55A6-EC131C1217A6}"/>
              </a:ext>
            </a:extLst>
          </p:cNvPr>
          <p:cNvSpPr/>
          <p:nvPr/>
        </p:nvSpPr>
        <p:spPr>
          <a:xfrm>
            <a:off x="241606" y="3327400"/>
            <a:ext cx="866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pgcrypto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ne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vraća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pogrešne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tiho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već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eksplicitno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signalizira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grešku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Ovo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sprečava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slučajeve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gde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bi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aplikacija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mogla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interpretira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loše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kao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validne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A0E8B-DAE3-1B41-FD44-487CA3F96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693" r="334" b="674"/>
          <a:stretch>
            <a:fillRect/>
          </a:stretch>
        </p:blipFill>
        <p:spPr bwMode="auto">
          <a:xfrm>
            <a:off x="575999" y="844550"/>
            <a:ext cx="7992000" cy="212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1630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EA04F80C-A597-5F5D-C7C1-942496FB791D}"/>
              </a:ext>
            </a:extLst>
          </p:cNvPr>
          <p:cNvSpPr/>
          <p:nvPr/>
        </p:nvSpPr>
        <p:spPr>
          <a:xfrm>
            <a:off x="365760" y="1399540"/>
            <a:ext cx="8422640" cy="186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</a:t>
            </a:r>
            <a:r>
              <a:rPr lang="en-US" sz="4800" b="1" dirty="0" err="1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4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</a:t>
            </a:r>
            <a:r>
              <a:rPr lang="sr-Latn-RS" sz="4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žnji</a:t>
            </a:r>
            <a:endParaRPr lang="en-US" sz="4800" dirty="0"/>
          </a:p>
        </p:txBody>
      </p:sp>
      <p:sp>
        <p:nvSpPr>
          <p:cNvPr id="16" name="Text 9"/>
          <p:cNvSpPr/>
          <p:nvPr/>
        </p:nvSpPr>
        <p:spPr>
          <a:xfrm>
            <a:off x="492760" y="4360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Nemanja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Stojadinović</a:t>
            </a:r>
            <a:r>
              <a:rPr lang="sr-Latn-R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2094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40028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1161</Words>
  <Application>Microsoft Office PowerPoint</Application>
  <PresentationFormat>On-screen Show (16:9)</PresentationFormat>
  <Paragraphs>139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pgcrypto – Enkripcija na nivou kolona u PostgreSQL-u</dc:title>
  <dc:subject>PptxGenJS Presentation</dc:subject>
  <dc:creator>Nemanja Stojadinovic</dc:creator>
  <cp:lastModifiedBy>Nemanja Stojadinovic</cp:lastModifiedBy>
  <cp:revision>12</cp:revision>
  <dcterms:created xsi:type="dcterms:W3CDTF">2026-06-04T16:12:06Z</dcterms:created>
  <dcterms:modified xsi:type="dcterms:W3CDTF">2026-06-22T20:42:49Z</dcterms:modified>
</cp:coreProperties>
</file>