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8" r:id="rId10"/>
    <p:sldId id="269" r:id="rId11"/>
    <p:sldId id="270" r:id="rId12"/>
    <p:sldId id="271" r:id="rId13"/>
    <p:sldId id="272" r:id="rId14"/>
    <p:sldId id="265" r:id="rId15"/>
    <p:sldId id="266" r:id="rId16"/>
    <p:sldId id="267" r:id="rId17"/>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24" autoAdjust="0"/>
    <p:restoredTop sz="94660"/>
  </p:normalViewPr>
  <p:slideViewPr>
    <p:cSldViewPr>
      <p:cViewPr varScale="1">
        <p:scale>
          <a:sx n="50" d="100"/>
          <a:sy n="50" d="100"/>
        </p:scale>
        <p:origin x="878"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Execution Time (ms)</c:v>
                </c:pt>
              </c:strCache>
            </c:strRef>
          </c:tx>
          <c:spPr>
            <a:solidFill>
              <a:schemeClr val="accent1"/>
            </a:solidFill>
            <a:ln>
              <a:noFill/>
            </a:ln>
            <a:effectLst/>
          </c:spPr>
          <c:invertIfNegative val="0"/>
          <c:dPt>
            <c:idx val="0"/>
            <c:invertIfNegative val="0"/>
            <c:bubble3D val="0"/>
            <c:extLst>
              <c:ext xmlns:c16="http://schemas.microsoft.com/office/drawing/2014/chart" uri="{C3380CC4-5D6E-409C-BE32-E72D297353CC}">
                <c16:uniqueId val="{00000000-7B4B-448A-AC59-DF270BA639AC}"/>
              </c:ext>
            </c:extLst>
          </c:dPt>
          <c:dPt>
            <c:idx val="1"/>
            <c:invertIfNegative val="0"/>
            <c:bubble3D val="0"/>
            <c:extLst>
              <c:ext xmlns:c16="http://schemas.microsoft.com/office/drawing/2014/chart" uri="{C3380CC4-5D6E-409C-BE32-E72D297353CC}">
                <c16:uniqueId val="{00000002-7B4B-448A-AC59-DF270BA639AC}"/>
              </c:ext>
            </c:extLst>
          </c:dPt>
          <c:dPt>
            <c:idx val="2"/>
            <c:invertIfNegative val="0"/>
            <c:bubble3D val="0"/>
            <c:extLst>
              <c:ext xmlns:c16="http://schemas.microsoft.com/office/drawing/2014/chart" uri="{C3380CC4-5D6E-409C-BE32-E72D297353CC}">
                <c16:uniqueId val="{00000004-7B4B-448A-AC59-DF270BA639AC}"/>
              </c:ext>
            </c:extLst>
          </c:dPt>
          <c:dPt>
            <c:idx val="3"/>
            <c:invertIfNegative val="0"/>
            <c:bubble3D val="0"/>
            <c:extLst>
              <c:ext xmlns:c16="http://schemas.microsoft.com/office/drawing/2014/chart" uri="{C3380CC4-5D6E-409C-BE32-E72D297353CC}">
                <c16:uniqueId val="{00000006-7B4B-448A-AC59-DF270BA639AC}"/>
              </c:ext>
            </c:extLst>
          </c:dPt>
          <c:dLbls>
            <c:numFmt formatCode="#,##0" sourceLinked="0"/>
            <c:spPr>
              <a:noFill/>
              <a:ln>
                <a:noFill/>
              </a:ln>
              <a:effectLst/>
            </c:spPr>
            <c:txPr>
              <a:bodyPr rot="0" spcFirstLastPara="1" vertOverflow="ellipsis" vert="horz" wrap="square" anchor="ctr" anchorCtr="1"/>
              <a:lstStyle/>
              <a:p>
                <a:pPr>
                  <a:defRPr sz="2000" b="0" i="0" u="none" strike="noStrike" kern="1200" baseline="0">
                    <a:solidFill>
                      <a:schemeClr val="tx1">
                        <a:lumMod val="75000"/>
                        <a:lumOff val="25000"/>
                      </a:schemeClr>
                    </a:solidFill>
                    <a:latin typeface="+mn-lt"/>
                    <a:ea typeface="+mn-ea"/>
                    <a:cs typeface="+mn-cs"/>
                  </a:defRPr>
                </a:pPr>
                <a:endParaRPr lang="sr-Latn-R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S1: Seq Scan</c:v>
                </c:pt>
                <c:pt idx="1">
                  <c:v>S2: Index Scan*</c:v>
                </c:pt>
                <c:pt idx="2">
                  <c:v>S3: Index-Only
Scan</c:v>
                </c:pt>
                <c:pt idx="3">
                  <c:v>S4: BitmapAnd
(SELECT *)</c:v>
                </c:pt>
              </c:strCache>
            </c:strRef>
          </c:cat>
          <c:val>
            <c:numRef>
              <c:f>Sheet1!$B$2:$B$5</c:f>
              <c:numCache>
                <c:formatCode>General</c:formatCode>
                <c:ptCount val="4"/>
                <c:pt idx="0">
                  <c:v>30191</c:v>
                </c:pt>
                <c:pt idx="1">
                  <c:v>24187</c:v>
                </c:pt>
                <c:pt idx="2">
                  <c:v>47.65</c:v>
                </c:pt>
                <c:pt idx="3">
                  <c:v>20923</c:v>
                </c:pt>
              </c:numCache>
            </c:numRef>
          </c:val>
          <c:extLst>
            <c:ext xmlns:c16="http://schemas.microsoft.com/office/drawing/2014/chart" uri="{C3380CC4-5D6E-409C-BE32-E72D297353CC}">
              <c16:uniqueId val="{00000007-7B4B-448A-AC59-DF270BA639AC}"/>
            </c:ext>
          </c:extLst>
        </c:ser>
        <c:dLbls>
          <c:showLegendKey val="0"/>
          <c:showVal val="1"/>
          <c:showCatName val="0"/>
          <c:showSerName val="0"/>
          <c:showPercent val="0"/>
          <c:showBubbleSize val="0"/>
        </c:dLbls>
        <c:gapWidth val="182"/>
        <c:axId val="2094734554"/>
        <c:axId val="2094734552"/>
      </c:barChart>
      <c:catAx>
        <c:axId val="209473455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35000"/>
          <c:min val="0"/>
        </c:scaling>
        <c:delete val="0"/>
        <c:axPos val="b"/>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sz="2000"/>
      </a:pPr>
      <a:endParaRPr lang="sr-Latn-R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sz="6300" b="0" i="0">
                <a:solidFill>
                  <a:srgbClr val="005093"/>
                </a:solidFill>
                <a:latin typeface="Cambria"/>
                <a:cs typeface="Cambria"/>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300" b="0" i="0">
                <a:solidFill>
                  <a:srgbClr val="005093"/>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300" b="0" i="0">
                <a:solidFill>
                  <a:srgbClr val="005093"/>
                </a:solidFill>
                <a:latin typeface="Cambria"/>
                <a:cs typeface="Cambria"/>
              </a:defRPr>
            </a:lvl1pPr>
          </a:lstStyle>
          <a:p>
            <a:endParaRPr/>
          </a:p>
        </p:txBody>
      </p:sp>
      <p:sp>
        <p:nvSpPr>
          <p:cNvPr id="3" name="Holder 3"/>
          <p:cNvSpPr>
            <a:spLocks noGrp="1"/>
          </p:cNvSpPr>
          <p:nvPr>
            <p:ph sz="half" idx="2"/>
          </p:nvPr>
        </p:nvSpPr>
        <p:spPr>
          <a:xfrm>
            <a:off x="1470663" y="3231997"/>
            <a:ext cx="7945120" cy="6073775"/>
          </a:xfrm>
          <a:prstGeom prst="rect">
            <a:avLst/>
          </a:prstGeom>
        </p:spPr>
        <p:txBody>
          <a:bodyPr wrap="square" lIns="0" tIns="0" rIns="0" bIns="0">
            <a:spAutoFit/>
          </a:bodyPr>
          <a:lstStyle>
            <a:lvl1pPr>
              <a:defRPr sz="3700" b="1" i="0">
                <a:solidFill>
                  <a:srgbClr val="004D83"/>
                </a:solidFill>
                <a:latin typeface="Cambria"/>
                <a:cs typeface="Cambria"/>
              </a:defRPr>
            </a:lvl1pPr>
          </a:lstStyle>
          <a:p>
            <a:endParaRPr/>
          </a:p>
        </p:txBody>
      </p:sp>
      <p:sp>
        <p:nvSpPr>
          <p:cNvPr id="4" name="Holder 4"/>
          <p:cNvSpPr>
            <a:spLocks noGrp="1"/>
          </p:cNvSpPr>
          <p:nvPr>
            <p:ph sz="half" idx="3"/>
          </p:nvPr>
        </p:nvSpPr>
        <p:spPr>
          <a:xfrm>
            <a:off x="10737394" y="3231997"/>
            <a:ext cx="7829550" cy="6073775"/>
          </a:xfrm>
          <a:prstGeom prst="rect">
            <a:avLst/>
          </a:prstGeom>
        </p:spPr>
        <p:txBody>
          <a:bodyPr wrap="square" lIns="0" tIns="0" rIns="0" bIns="0">
            <a:spAutoFit/>
          </a:bodyPr>
          <a:lstStyle>
            <a:lvl1pPr>
              <a:defRPr sz="3700" b="1" i="0">
                <a:solidFill>
                  <a:srgbClr val="034F85"/>
                </a:solidFill>
                <a:latin typeface="Cambria"/>
                <a:cs typeface="Cambria"/>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300" b="0" i="0">
                <a:solidFill>
                  <a:srgbClr val="005093"/>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16" name="bg object 16"/>
          <p:cNvSpPr/>
          <p:nvPr/>
        </p:nvSpPr>
        <p:spPr>
          <a:xfrm>
            <a:off x="17622499" y="10927677"/>
            <a:ext cx="1570990" cy="0"/>
          </a:xfrm>
          <a:custGeom>
            <a:avLst/>
            <a:gdLst/>
            <a:ahLst/>
            <a:cxnLst/>
            <a:rect l="l" t="t" r="r" b="b"/>
            <a:pathLst>
              <a:path w="1570990">
                <a:moveTo>
                  <a:pt x="0" y="0"/>
                </a:moveTo>
                <a:lnTo>
                  <a:pt x="1570632" y="0"/>
                </a:lnTo>
              </a:path>
            </a:pathLst>
          </a:custGeom>
          <a:ln w="54972">
            <a:solidFill>
              <a:srgbClr val="004B80"/>
            </a:solidFill>
          </a:ln>
        </p:spPr>
        <p:txBody>
          <a:bodyPr wrap="square" lIns="0" tIns="0" rIns="0" bIns="0" rtlCol="0"/>
          <a:lstStyle/>
          <a:p>
            <a:endParaRPr/>
          </a:p>
        </p:txBody>
      </p:sp>
      <p:sp>
        <p:nvSpPr>
          <p:cNvPr id="2" name="Holder 2"/>
          <p:cNvSpPr>
            <a:spLocks noGrp="1"/>
          </p:cNvSpPr>
          <p:nvPr>
            <p:ph type="title"/>
          </p:nvPr>
        </p:nvSpPr>
        <p:spPr>
          <a:xfrm>
            <a:off x="935449" y="730078"/>
            <a:ext cx="12768580" cy="1066164"/>
          </a:xfrm>
          <a:prstGeom prst="rect">
            <a:avLst/>
          </a:prstGeom>
        </p:spPr>
        <p:txBody>
          <a:bodyPr wrap="square" lIns="0" tIns="0" rIns="0" bIns="0">
            <a:spAutoFit/>
          </a:bodyPr>
          <a:lstStyle>
            <a:lvl1pPr>
              <a:defRPr sz="6300" b="0" i="0">
                <a:solidFill>
                  <a:srgbClr val="005093"/>
                </a:solidFill>
                <a:latin typeface="Cambria"/>
                <a:cs typeface="Cambria"/>
              </a:defRPr>
            </a:lvl1pPr>
          </a:lstStyle>
          <a:p>
            <a:endParaRPr/>
          </a:p>
        </p:txBody>
      </p:sp>
      <p:sp>
        <p:nvSpPr>
          <p:cNvPr id="3" name="Holder 3"/>
          <p:cNvSpPr>
            <a:spLocks noGrp="1"/>
          </p:cNvSpPr>
          <p:nvPr>
            <p:ph type="body" idx="1"/>
          </p:nvPr>
        </p:nvSpPr>
        <p:spPr>
          <a:xfrm>
            <a:off x="1097347" y="5186524"/>
            <a:ext cx="17037050" cy="285305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2140733" y="2625308"/>
            <a:ext cx="15793719" cy="2743059"/>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0" tIns="201930" rIns="0" bIns="0" rtlCol="0">
            <a:spAutoFit/>
          </a:bodyPr>
          <a:lstStyle/>
          <a:p>
            <a:pPr marL="2522855" marR="5080" indent="-2510790" algn="ctr">
              <a:lnSpc>
                <a:spcPts val="9890"/>
              </a:lnSpc>
              <a:spcBef>
                <a:spcPts val="1590"/>
              </a:spcBef>
            </a:pPr>
            <a:r>
              <a:rPr sz="9400" b="1" dirty="0">
                <a:solidFill>
                  <a:srgbClr val="034D85"/>
                </a:solidFill>
                <a:latin typeface="Times New Roman"/>
                <a:cs typeface="Times New Roman"/>
              </a:rPr>
              <a:t>Index-Only</a:t>
            </a:r>
            <a:r>
              <a:rPr sz="9400" b="1" spc="470" dirty="0">
                <a:solidFill>
                  <a:srgbClr val="034D85"/>
                </a:solidFill>
                <a:latin typeface="Times New Roman"/>
                <a:cs typeface="Times New Roman"/>
              </a:rPr>
              <a:t> </a:t>
            </a:r>
            <a:r>
              <a:rPr sz="9400" b="1" spc="100" dirty="0">
                <a:solidFill>
                  <a:srgbClr val="005085"/>
                </a:solidFill>
                <a:latin typeface="Times New Roman"/>
                <a:cs typeface="Times New Roman"/>
              </a:rPr>
              <a:t>i</a:t>
            </a:r>
            <a:r>
              <a:rPr sz="9400" b="1" spc="-315" dirty="0">
                <a:solidFill>
                  <a:srgbClr val="005085"/>
                </a:solidFill>
                <a:latin typeface="Times New Roman"/>
                <a:cs typeface="Times New Roman"/>
              </a:rPr>
              <a:t> </a:t>
            </a:r>
            <a:r>
              <a:rPr sz="9400" b="1" dirty="0">
                <a:solidFill>
                  <a:srgbClr val="054D80"/>
                </a:solidFill>
                <a:latin typeface="Times New Roman"/>
                <a:cs typeface="Times New Roman"/>
              </a:rPr>
              <a:t>Bitmap</a:t>
            </a:r>
            <a:r>
              <a:rPr sz="9400" b="1" spc="229" dirty="0">
                <a:solidFill>
                  <a:srgbClr val="054D80"/>
                </a:solidFill>
                <a:latin typeface="Times New Roman"/>
                <a:cs typeface="Times New Roman"/>
              </a:rPr>
              <a:t> </a:t>
            </a:r>
            <a:r>
              <a:rPr sz="9400" b="1" spc="125" dirty="0">
                <a:solidFill>
                  <a:srgbClr val="014F80"/>
                </a:solidFill>
                <a:latin typeface="Times New Roman"/>
                <a:cs typeface="Times New Roman"/>
              </a:rPr>
              <a:t>Index</a:t>
            </a:r>
            <a:r>
              <a:rPr sz="9400" b="1" spc="-80" dirty="0">
                <a:solidFill>
                  <a:srgbClr val="014F80"/>
                </a:solidFill>
                <a:latin typeface="Times New Roman"/>
                <a:cs typeface="Times New Roman"/>
              </a:rPr>
              <a:t> </a:t>
            </a:r>
            <a:r>
              <a:rPr sz="9400" b="1" spc="70" dirty="0" err="1">
                <a:solidFill>
                  <a:srgbClr val="00508E"/>
                </a:solidFill>
                <a:latin typeface="Times New Roman"/>
                <a:cs typeface="Times New Roman"/>
              </a:rPr>
              <a:t>Sca</a:t>
            </a:r>
            <a:r>
              <a:rPr lang="sr-Latn-RS" sz="9400" b="1" spc="70" dirty="0">
                <a:solidFill>
                  <a:srgbClr val="00508E"/>
                </a:solidFill>
                <a:latin typeface="Times New Roman"/>
                <a:cs typeface="Times New Roman"/>
              </a:rPr>
              <a:t>n</a:t>
            </a:r>
            <a:r>
              <a:rPr lang="en-US" sz="9400" b="1" spc="70" dirty="0">
                <a:solidFill>
                  <a:srgbClr val="00508E"/>
                </a:solidFill>
                <a:latin typeface="Times New Roman"/>
                <a:cs typeface="Times New Roman"/>
              </a:rPr>
              <a:t> </a:t>
            </a:r>
            <a:r>
              <a:rPr sz="9400" b="1" dirty="0">
                <a:solidFill>
                  <a:srgbClr val="034F80"/>
                </a:solidFill>
                <a:latin typeface="Times New Roman"/>
                <a:cs typeface="Times New Roman"/>
              </a:rPr>
              <a:t>u</a:t>
            </a:r>
            <a:r>
              <a:rPr sz="9400" b="1" spc="-380" dirty="0">
                <a:solidFill>
                  <a:srgbClr val="034F80"/>
                </a:solidFill>
                <a:latin typeface="Times New Roman"/>
                <a:cs typeface="Times New Roman"/>
              </a:rPr>
              <a:t> </a:t>
            </a:r>
            <a:r>
              <a:rPr sz="9400" b="1" spc="-85" dirty="0">
                <a:solidFill>
                  <a:srgbClr val="004F87"/>
                </a:solidFill>
                <a:latin typeface="Times New Roman"/>
                <a:cs typeface="Times New Roman"/>
              </a:rPr>
              <a:t>PostgreSQL</a:t>
            </a:r>
            <a:endParaRPr sz="9400" b="1" dirty="0">
              <a:latin typeface="Times New Roman"/>
              <a:cs typeface="Times New Roman"/>
            </a:endParaRPr>
          </a:p>
        </p:txBody>
      </p:sp>
      <p:sp>
        <p:nvSpPr>
          <p:cNvPr id="5" name="object 5"/>
          <p:cNvSpPr txBox="1"/>
          <p:nvPr/>
        </p:nvSpPr>
        <p:spPr>
          <a:xfrm>
            <a:off x="2156795" y="8931275"/>
            <a:ext cx="4944110" cy="398780"/>
          </a:xfrm>
          <a:prstGeom prst="rect">
            <a:avLst/>
          </a:prstGeom>
        </p:spPr>
        <p:txBody>
          <a:bodyPr vert="horz" wrap="square" lIns="0" tIns="12065" rIns="0" bIns="0" rtlCol="0">
            <a:spAutoFit/>
          </a:bodyPr>
          <a:lstStyle/>
          <a:p>
            <a:pPr marL="12700">
              <a:lnSpc>
                <a:spcPct val="100000"/>
              </a:lnSpc>
              <a:spcBef>
                <a:spcPts val="95"/>
              </a:spcBef>
            </a:pPr>
            <a:r>
              <a:rPr sz="2450" dirty="0">
                <a:solidFill>
                  <a:schemeClr val="tx1">
                    <a:lumMod val="75000"/>
                    <a:lumOff val="25000"/>
                  </a:schemeClr>
                </a:solidFill>
                <a:latin typeface="Calibri"/>
                <a:cs typeface="Calibri"/>
              </a:rPr>
              <a:t>Nemanja</a:t>
            </a:r>
            <a:r>
              <a:rPr sz="2450" spc="484" dirty="0">
                <a:solidFill>
                  <a:schemeClr val="tx1">
                    <a:lumMod val="75000"/>
                    <a:lumOff val="25000"/>
                  </a:schemeClr>
                </a:solidFill>
                <a:latin typeface="Calibri"/>
                <a:cs typeface="Calibri"/>
              </a:rPr>
              <a:t> </a:t>
            </a:r>
            <a:r>
              <a:rPr sz="2450" dirty="0" err="1">
                <a:solidFill>
                  <a:schemeClr val="tx1">
                    <a:lumMod val="75000"/>
                    <a:lumOff val="25000"/>
                  </a:schemeClr>
                </a:solidFill>
                <a:latin typeface="Calibri"/>
                <a:cs typeface="Calibri"/>
              </a:rPr>
              <a:t>Stojadinovi</a:t>
            </a:r>
            <a:r>
              <a:rPr lang="sr-Latn-RS" sz="2450" dirty="0">
                <a:solidFill>
                  <a:schemeClr val="tx1">
                    <a:lumMod val="75000"/>
                    <a:lumOff val="25000"/>
                  </a:schemeClr>
                </a:solidFill>
                <a:latin typeface="Calibri"/>
                <a:cs typeface="Calibri"/>
              </a:rPr>
              <a:t>ć</a:t>
            </a:r>
            <a:r>
              <a:rPr sz="2450" dirty="0">
                <a:solidFill>
                  <a:schemeClr val="tx1">
                    <a:lumMod val="75000"/>
                    <a:lumOff val="25000"/>
                  </a:schemeClr>
                </a:solidFill>
                <a:latin typeface="Calibri"/>
                <a:cs typeface="Calibri"/>
              </a:rPr>
              <a:t>,</a:t>
            </a:r>
            <a:r>
              <a:rPr sz="2450" spc="275" dirty="0">
                <a:solidFill>
                  <a:schemeClr val="tx1">
                    <a:lumMod val="75000"/>
                    <a:lumOff val="25000"/>
                  </a:schemeClr>
                </a:solidFill>
                <a:latin typeface="Calibri"/>
                <a:cs typeface="Calibri"/>
              </a:rPr>
              <a:t> </a:t>
            </a:r>
            <a:r>
              <a:rPr sz="2450" spc="95" dirty="0">
                <a:solidFill>
                  <a:schemeClr val="tx1">
                    <a:lumMod val="75000"/>
                    <a:lumOff val="25000"/>
                  </a:schemeClr>
                </a:solidFill>
                <a:latin typeface="Calibri"/>
                <a:cs typeface="Calibri"/>
              </a:rPr>
              <a:t>2094</a:t>
            </a:r>
            <a:endParaRPr sz="2450" dirty="0">
              <a:solidFill>
                <a:schemeClr val="tx1">
                  <a:lumMod val="75000"/>
                  <a:lumOff val="25000"/>
                </a:schemeClr>
              </a:solidFill>
              <a:latin typeface="Calibri"/>
              <a:cs typeface="Calibri"/>
            </a:endParaRPr>
          </a:p>
        </p:txBody>
      </p:sp>
      <p:sp>
        <p:nvSpPr>
          <p:cNvPr id="7" name="object 7"/>
          <p:cNvSpPr txBox="1"/>
          <p:nvPr/>
        </p:nvSpPr>
        <p:spPr>
          <a:xfrm>
            <a:off x="8049895" y="9769475"/>
            <a:ext cx="4004310" cy="398780"/>
          </a:xfrm>
          <a:prstGeom prst="rect">
            <a:avLst/>
          </a:prstGeom>
        </p:spPr>
        <p:txBody>
          <a:bodyPr vert="horz" wrap="square" lIns="0" tIns="12065" rIns="0" bIns="0" rtlCol="0">
            <a:spAutoFit/>
          </a:bodyPr>
          <a:lstStyle/>
          <a:p>
            <a:pPr marL="12700" algn="ctr">
              <a:lnSpc>
                <a:spcPct val="100000"/>
              </a:lnSpc>
              <a:spcBef>
                <a:spcPts val="95"/>
              </a:spcBef>
            </a:pPr>
            <a:r>
              <a:rPr sz="2450" spc="50" dirty="0">
                <a:solidFill>
                  <a:schemeClr val="tx1">
                    <a:lumMod val="75000"/>
                    <a:lumOff val="25000"/>
                  </a:schemeClr>
                </a:solidFill>
                <a:latin typeface="Calibri"/>
                <a:cs typeface="Calibri"/>
              </a:rPr>
              <a:t>2026</a:t>
            </a:r>
            <a:r>
              <a:rPr sz="2450" spc="50" dirty="0">
                <a:solidFill>
                  <a:srgbClr val="2D2D2D"/>
                </a:solidFill>
                <a:latin typeface="Calibri"/>
                <a:cs typeface="Calibri"/>
              </a:rPr>
              <a:t>.</a:t>
            </a:r>
            <a:endParaRPr sz="245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622499" y="10927677"/>
            <a:ext cx="1570990" cy="0"/>
          </a:xfrm>
          <a:custGeom>
            <a:avLst/>
            <a:gdLst/>
            <a:ahLst/>
            <a:cxnLst/>
            <a:rect l="l" t="t" r="r" b="b"/>
            <a:pathLst>
              <a:path w="1570990">
                <a:moveTo>
                  <a:pt x="0" y="0"/>
                </a:moveTo>
                <a:lnTo>
                  <a:pt x="1570632" y="0"/>
                </a:lnTo>
              </a:path>
            </a:pathLst>
          </a:custGeom>
          <a:ln w="54972">
            <a:solidFill>
              <a:srgbClr val="004B80"/>
            </a:solidFill>
          </a:ln>
        </p:spPr>
        <p:txBody>
          <a:bodyPr wrap="square" lIns="0" tIns="0" rIns="0" bIns="0" rtlCol="0"/>
          <a:lstStyle/>
          <a:p>
            <a:endParaRPr/>
          </a:p>
        </p:txBody>
      </p:sp>
      <p:sp>
        <p:nvSpPr>
          <p:cNvPr id="3" name="object 3" descr="$PPTXTitle"/>
          <p:cNvSpPr txBox="1">
            <a:spLocks noGrp="1"/>
          </p:cNvSpPr>
          <p:nvPr>
            <p:ph type="title"/>
          </p:nvPr>
        </p:nvSpPr>
        <p:spPr>
          <a:prstGeom prst="rect">
            <a:avLst/>
          </a:prstGeom>
        </p:spPr>
        <p:txBody>
          <a:bodyPr vert="horz" wrap="square" lIns="0" tIns="87266" rIns="0" bIns="0" rtlCol="0">
            <a:spAutoFit/>
          </a:bodyPr>
          <a:lstStyle/>
          <a:p>
            <a:pPr>
              <a:lnSpc>
                <a:spcPct val="100000"/>
              </a:lnSpc>
              <a:spcBef>
                <a:spcPts val="110"/>
              </a:spcBef>
            </a:pPr>
            <a:r>
              <a:rPr b="1" spc="-270" dirty="0" err="1">
                <a:solidFill>
                  <a:srgbClr val="054D80"/>
                </a:solidFill>
                <a:latin typeface="Cambria"/>
                <a:cs typeface="Cambria"/>
              </a:rPr>
              <a:t>Uvod</a:t>
            </a:r>
            <a:endParaRPr b="1" spc="-320" dirty="0">
              <a:solidFill>
                <a:srgbClr val="014D89"/>
              </a:solidFill>
              <a:latin typeface="Cambria"/>
              <a:cs typeface="Cambria"/>
            </a:endParaRPr>
          </a:p>
        </p:txBody>
      </p:sp>
      <p:sp>
        <p:nvSpPr>
          <p:cNvPr id="4" name="object 4"/>
          <p:cNvSpPr txBox="1">
            <a:spLocks noGrp="1"/>
          </p:cNvSpPr>
          <p:nvPr>
            <p:ph sz="half" idx="2"/>
          </p:nvPr>
        </p:nvSpPr>
        <p:spPr>
          <a:xfrm>
            <a:off x="1470663" y="3231997"/>
            <a:ext cx="7945120" cy="6314164"/>
          </a:xfrm>
          <a:prstGeom prst="rect">
            <a:avLst/>
          </a:prstGeom>
        </p:spPr>
        <p:txBody>
          <a:bodyPr vert="horz" wrap="square" lIns="0" tIns="349885" rIns="0" bIns="0" rtlCol="0">
            <a:spAutoFit/>
          </a:bodyPr>
          <a:lstStyle/>
          <a:p>
            <a:pPr marL="14604">
              <a:lnSpc>
                <a:spcPct val="100000"/>
              </a:lnSpc>
              <a:spcBef>
                <a:spcPts val="2755"/>
              </a:spcBef>
            </a:pPr>
            <a:r>
              <a:rPr spc="-204" dirty="0">
                <a:solidFill>
                  <a:srgbClr val="004F87"/>
                </a:solidFill>
              </a:rPr>
              <a:t>Problem</a:t>
            </a:r>
            <a:r>
              <a:rPr spc="15" dirty="0">
                <a:solidFill>
                  <a:srgbClr val="004F87"/>
                </a:solidFill>
              </a:rPr>
              <a:t> </a:t>
            </a:r>
            <a:r>
              <a:rPr spc="-55" dirty="0"/>
              <a:t>performansi</a:t>
            </a:r>
          </a:p>
          <a:p>
            <a:pPr marL="12700" marR="13335" indent="5080">
              <a:lnSpc>
                <a:spcPct val="107800"/>
              </a:lnSpc>
              <a:spcBef>
                <a:spcPts val="1605"/>
              </a:spcBef>
            </a:pPr>
            <a:r>
              <a:rPr sz="2550" b="0" spc="160" dirty="0">
                <a:solidFill>
                  <a:schemeClr val="tx1">
                    <a:lumMod val="75000"/>
                    <a:lumOff val="25000"/>
                  </a:schemeClr>
                </a:solidFill>
                <a:latin typeface="Calibri"/>
                <a:cs typeface="Calibri"/>
              </a:rPr>
              <a:t>U</a:t>
            </a:r>
            <a:r>
              <a:rPr sz="2550" b="0" spc="-165"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savremenim</a:t>
            </a:r>
            <a:r>
              <a:rPr sz="2550" b="0" spc="10"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aplikacijama</a:t>
            </a:r>
            <a:r>
              <a:rPr sz="2550" b="0" spc="1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sa</a:t>
            </a:r>
            <a:r>
              <a:rPr sz="2550" b="0" spc="-95"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terabajtima </a:t>
            </a:r>
            <a:r>
              <a:rPr sz="2550" b="0" spc="-25" dirty="0">
                <a:solidFill>
                  <a:schemeClr val="tx1">
                    <a:lumMod val="75000"/>
                    <a:lumOff val="25000"/>
                  </a:schemeClr>
                </a:solidFill>
                <a:latin typeface="Calibri"/>
                <a:cs typeface="Calibri"/>
              </a:rPr>
              <a:t>podataka,</a:t>
            </a:r>
            <a:r>
              <a:rPr sz="2550" b="0" spc="-120"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razlika izmedu</a:t>
            </a:r>
            <a:r>
              <a:rPr sz="2550" b="0" dirty="0">
                <a:solidFill>
                  <a:schemeClr val="tx1">
                    <a:lumMod val="75000"/>
                    <a:lumOff val="25000"/>
                  </a:schemeClr>
                </a:solidFill>
                <a:latin typeface="Calibri"/>
                <a:cs typeface="Calibri"/>
              </a:rPr>
              <a:t> milisekunde</a:t>
            </a:r>
            <a:r>
              <a:rPr sz="2550" b="0" spc="60"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i</a:t>
            </a:r>
            <a:r>
              <a:rPr sz="2550" b="0" spc="-7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minuta</a:t>
            </a:r>
            <a:r>
              <a:rPr sz="2550" b="0" spc="-40"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čekanja</a:t>
            </a:r>
            <a:r>
              <a:rPr sz="2550" b="0" spc="-2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zavisi</a:t>
            </a:r>
            <a:r>
              <a:rPr sz="2550" b="0" spc="-9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od</a:t>
            </a:r>
            <a:r>
              <a:rPr sz="2550" b="0" spc="-90"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strategije </a:t>
            </a:r>
            <a:r>
              <a:rPr sz="2550" b="0" spc="-20" dirty="0">
                <a:solidFill>
                  <a:schemeClr val="tx1">
                    <a:lumMod val="75000"/>
                    <a:lumOff val="25000"/>
                  </a:schemeClr>
                </a:solidFill>
                <a:latin typeface="Calibri"/>
                <a:cs typeface="Calibri"/>
              </a:rPr>
              <a:t>pristupa.</a:t>
            </a:r>
            <a:r>
              <a:rPr sz="2550" b="0" spc="1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PostgreSQL</a:t>
            </a:r>
            <a:r>
              <a:rPr sz="2550" b="0" spc="120" dirty="0">
                <a:solidFill>
                  <a:schemeClr val="tx1">
                    <a:lumMod val="75000"/>
                    <a:lumOff val="25000"/>
                  </a:schemeClr>
                </a:solidFill>
                <a:latin typeface="Calibri"/>
                <a:cs typeface="Calibri"/>
              </a:rPr>
              <a:t> </a:t>
            </a:r>
            <a:r>
              <a:rPr sz="2550" b="0" dirty="0" err="1">
                <a:solidFill>
                  <a:schemeClr val="tx1">
                    <a:lumMod val="75000"/>
                    <a:lumOff val="25000"/>
                  </a:schemeClr>
                </a:solidFill>
                <a:latin typeface="Calibri"/>
                <a:cs typeface="Calibri"/>
              </a:rPr>
              <a:t>nudi</a:t>
            </a:r>
            <a:r>
              <a:rPr sz="2550" b="0" spc="45"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mehanizme</a:t>
            </a:r>
            <a:r>
              <a:rPr sz="2550" b="0" spc="114"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poput </a:t>
            </a:r>
            <a:r>
              <a:rPr sz="2550" b="0" dirty="0">
                <a:solidFill>
                  <a:schemeClr val="tx1">
                    <a:lumMod val="75000"/>
                    <a:lumOff val="25000"/>
                  </a:schemeClr>
                </a:solidFill>
                <a:latin typeface="Calibri"/>
                <a:cs typeface="Calibri"/>
              </a:rPr>
              <a:t>Index-Only</a:t>
            </a:r>
            <a:r>
              <a:rPr sz="2550" b="0" spc="15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i</a:t>
            </a:r>
            <a:r>
              <a:rPr sz="2550" b="0" spc="-30"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Bitmap</a:t>
            </a:r>
            <a:r>
              <a:rPr sz="2550" b="0" spc="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Index</a:t>
            </a:r>
            <a:r>
              <a:rPr sz="2550" b="0" spc="60"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Scan-</a:t>
            </a:r>
            <a:r>
              <a:rPr sz="2550" b="0" spc="-25" dirty="0">
                <a:solidFill>
                  <a:schemeClr val="tx1">
                    <a:lumMod val="75000"/>
                    <a:lumOff val="25000"/>
                  </a:schemeClr>
                </a:solidFill>
                <a:latin typeface="Calibri"/>
                <a:cs typeface="Calibri"/>
              </a:rPr>
              <a:t>a</a:t>
            </a:r>
            <a:r>
              <a:rPr lang="sr-Latn-RS" sz="2550" b="0" spc="-25" dirty="0">
                <a:solidFill>
                  <a:schemeClr val="tx1">
                    <a:lumMod val="75000"/>
                    <a:lumOff val="25000"/>
                  </a:schemeClr>
                </a:solidFill>
                <a:latin typeface="Calibri"/>
                <a:cs typeface="Calibri"/>
              </a:rPr>
              <a:t> za efikasan pristup podacima</a:t>
            </a:r>
            <a:r>
              <a:rPr sz="2550" b="0" spc="-25" dirty="0">
                <a:solidFill>
                  <a:schemeClr val="tx1">
                    <a:lumMod val="75000"/>
                    <a:lumOff val="25000"/>
                  </a:schemeClr>
                </a:solidFill>
                <a:latin typeface="Calibri"/>
                <a:cs typeface="Calibri"/>
              </a:rPr>
              <a:t>.</a:t>
            </a:r>
            <a:endParaRPr lang="en-US" sz="2550" b="0" spc="-25" dirty="0">
              <a:solidFill>
                <a:schemeClr val="tx1">
                  <a:lumMod val="75000"/>
                  <a:lumOff val="25000"/>
                </a:schemeClr>
              </a:solidFill>
              <a:latin typeface="Calibri"/>
              <a:cs typeface="Calibri"/>
            </a:endParaRPr>
          </a:p>
          <a:p>
            <a:pPr marL="12700" marR="13335" indent="5080">
              <a:lnSpc>
                <a:spcPct val="107800"/>
              </a:lnSpc>
              <a:spcBef>
                <a:spcPts val="1605"/>
              </a:spcBef>
            </a:pPr>
            <a:endParaRPr sz="2550" dirty="0">
              <a:solidFill>
                <a:schemeClr val="tx1">
                  <a:lumMod val="75000"/>
                  <a:lumOff val="25000"/>
                </a:schemeClr>
              </a:solidFill>
              <a:latin typeface="Calibri"/>
              <a:cs typeface="Calibri"/>
            </a:endParaRPr>
          </a:p>
          <a:p>
            <a:pPr>
              <a:lnSpc>
                <a:spcPct val="100000"/>
              </a:lnSpc>
            </a:pPr>
            <a:endParaRPr sz="2550" dirty="0">
              <a:latin typeface="Calibri"/>
              <a:cs typeface="Calibri"/>
            </a:endParaRPr>
          </a:p>
          <a:p>
            <a:pPr>
              <a:lnSpc>
                <a:spcPct val="100000"/>
              </a:lnSpc>
              <a:spcBef>
                <a:spcPts val="340"/>
              </a:spcBef>
            </a:pPr>
            <a:endParaRPr sz="2550" dirty="0">
              <a:latin typeface="Calibri"/>
              <a:cs typeface="Calibri"/>
            </a:endParaRPr>
          </a:p>
          <a:p>
            <a:pPr marL="27305">
              <a:lnSpc>
                <a:spcPct val="100000"/>
              </a:lnSpc>
            </a:pPr>
            <a:r>
              <a:rPr sz="3850" spc="-130" dirty="0">
                <a:solidFill>
                  <a:srgbClr val="0A507C"/>
                </a:solidFill>
                <a:latin typeface="Times New Roman"/>
                <a:cs typeface="Times New Roman"/>
              </a:rPr>
              <a:t>Index-</a:t>
            </a:r>
            <a:r>
              <a:rPr sz="3850" spc="-95" dirty="0">
                <a:solidFill>
                  <a:srgbClr val="0A507C"/>
                </a:solidFill>
                <a:latin typeface="Times New Roman"/>
                <a:cs typeface="Times New Roman"/>
              </a:rPr>
              <a:t>Only</a:t>
            </a:r>
            <a:r>
              <a:rPr sz="3850" spc="-90" dirty="0">
                <a:solidFill>
                  <a:srgbClr val="0A507C"/>
                </a:solidFill>
                <a:latin typeface="Times New Roman"/>
                <a:cs typeface="Times New Roman"/>
              </a:rPr>
              <a:t> </a:t>
            </a:r>
            <a:r>
              <a:rPr sz="3850" spc="-20" dirty="0">
                <a:solidFill>
                  <a:srgbClr val="004893"/>
                </a:solidFill>
                <a:latin typeface="Times New Roman"/>
                <a:cs typeface="Times New Roman"/>
              </a:rPr>
              <a:t>Scan</a:t>
            </a:r>
            <a:endParaRPr sz="3850" dirty="0">
              <a:latin typeface="Times New Roman"/>
              <a:cs typeface="Times New Roman"/>
            </a:endParaRPr>
          </a:p>
          <a:p>
            <a:pPr marL="13335" marR="5080" indent="7620">
              <a:lnSpc>
                <a:spcPct val="107100"/>
              </a:lnSpc>
              <a:spcBef>
                <a:spcPts val="1595"/>
              </a:spcBef>
            </a:pPr>
            <a:r>
              <a:rPr sz="2550" b="0" spc="50" dirty="0">
                <a:solidFill>
                  <a:srgbClr val="282828"/>
                </a:solidFill>
                <a:latin typeface="Calibri"/>
                <a:cs typeface="Calibri"/>
              </a:rPr>
              <a:t>Ovaj</a:t>
            </a:r>
            <a:r>
              <a:rPr sz="2550" b="0" spc="-125" dirty="0">
                <a:solidFill>
                  <a:srgbClr val="282828"/>
                </a:solidFill>
                <a:latin typeface="Calibri"/>
                <a:cs typeface="Calibri"/>
              </a:rPr>
              <a:t> </a:t>
            </a:r>
            <a:r>
              <a:rPr sz="2550" b="0" spc="-10" dirty="0">
                <a:solidFill>
                  <a:srgbClr val="282828"/>
                </a:solidFill>
                <a:latin typeface="Calibri"/>
                <a:cs typeface="Calibri"/>
              </a:rPr>
              <a:t>mehanizam</a:t>
            </a:r>
            <a:r>
              <a:rPr sz="2550" b="0" spc="180" dirty="0">
                <a:solidFill>
                  <a:srgbClr val="282828"/>
                </a:solidFill>
                <a:latin typeface="Calibri"/>
                <a:cs typeface="Calibri"/>
              </a:rPr>
              <a:t> </a:t>
            </a:r>
            <a:r>
              <a:rPr sz="2550" b="0" dirty="0">
                <a:solidFill>
                  <a:srgbClr val="343434"/>
                </a:solidFill>
                <a:latin typeface="Calibri"/>
                <a:cs typeface="Calibri"/>
              </a:rPr>
              <a:t>teži</a:t>
            </a:r>
            <a:r>
              <a:rPr sz="2550" b="0" spc="-130" dirty="0">
                <a:solidFill>
                  <a:srgbClr val="343434"/>
                </a:solidFill>
                <a:latin typeface="Calibri"/>
                <a:cs typeface="Calibri"/>
              </a:rPr>
              <a:t> </a:t>
            </a:r>
            <a:r>
              <a:rPr sz="2550" b="0" dirty="0">
                <a:solidFill>
                  <a:srgbClr val="333333"/>
                </a:solidFill>
                <a:latin typeface="Calibri"/>
                <a:cs typeface="Calibri"/>
              </a:rPr>
              <a:t>da</a:t>
            </a:r>
            <a:r>
              <a:rPr sz="2550" b="0" spc="-100" dirty="0">
                <a:solidFill>
                  <a:srgbClr val="333333"/>
                </a:solidFill>
                <a:latin typeface="Calibri"/>
                <a:cs typeface="Calibri"/>
              </a:rPr>
              <a:t> </a:t>
            </a:r>
            <a:r>
              <a:rPr sz="2550" b="0" dirty="0">
                <a:solidFill>
                  <a:srgbClr val="2A2A2A"/>
                </a:solidFill>
                <a:latin typeface="Calibri"/>
                <a:cs typeface="Calibri"/>
              </a:rPr>
              <a:t>izbegne</a:t>
            </a:r>
            <a:r>
              <a:rPr sz="2550" b="0" spc="-30" dirty="0">
                <a:solidFill>
                  <a:srgbClr val="2A2A2A"/>
                </a:solidFill>
                <a:latin typeface="Calibri"/>
                <a:cs typeface="Calibri"/>
              </a:rPr>
              <a:t> </a:t>
            </a:r>
            <a:r>
              <a:rPr sz="2550" b="0" dirty="0">
                <a:solidFill>
                  <a:srgbClr val="2F2F2F"/>
                </a:solidFill>
                <a:latin typeface="Calibri"/>
                <a:cs typeface="Calibri"/>
              </a:rPr>
              <a:t>čitanje</a:t>
            </a:r>
            <a:r>
              <a:rPr sz="2550" b="0" spc="-5" dirty="0">
                <a:solidFill>
                  <a:srgbClr val="2F2F2F"/>
                </a:solidFill>
                <a:latin typeface="Calibri"/>
                <a:cs typeface="Calibri"/>
              </a:rPr>
              <a:t> </a:t>
            </a:r>
            <a:r>
              <a:rPr sz="2550" b="0" spc="-20" dirty="0">
                <a:solidFill>
                  <a:srgbClr val="2A2A2A"/>
                </a:solidFill>
                <a:latin typeface="Calibri"/>
                <a:cs typeface="Calibri"/>
              </a:rPr>
              <a:t>tabele</a:t>
            </a:r>
            <a:r>
              <a:rPr sz="2550" b="0" spc="-75" dirty="0">
                <a:solidFill>
                  <a:srgbClr val="2A2A2A"/>
                </a:solidFill>
                <a:latin typeface="Calibri"/>
                <a:cs typeface="Calibri"/>
              </a:rPr>
              <a:t> </a:t>
            </a:r>
            <a:r>
              <a:rPr sz="2550" b="0" spc="-40" dirty="0">
                <a:solidFill>
                  <a:srgbClr val="2A2A2A"/>
                </a:solidFill>
                <a:latin typeface="Calibri"/>
                <a:cs typeface="Calibri"/>
              </a:rPr>
              <a:t>(heap-</a:t>
            </a:r>
            <a:r>
              <a:rPr sz="2550" b="0" spc="-25" dirty="0">
                <a:solidFill>
                  <a:srgbClr val="2A2A2A"/>
                </a:solidFill>
                <a:latin typeface="Calibri"/>
                <a:cs typeface="Calibri"/>
              </a:rPr>
              <a:t>a) </a:t>
            </a:r>
            <a:r>
              <a:rPr sz="2550" b="0" dirty="0">
                <a:solidFill>
                  <a:srgbClr val="313131"/>
                </a:solidFill>
                <a:latin typeface="Calibri"/>
                <a:cs typeface="Calibri"/>
              </a:rPr>
              <a:t>ukoliko</a:t>
            </a:r>
            <a:r>
              <a:rPr sz="2550" b="0" spc="-30" dirty="0">
                <a:solidFill>
                  <a:srgbClr val="313131"/>
                </a:solidFill>
                <a:latin typeface="Calibri"/>
                <a:cs typeface="Calibri"/>
              </a:rPr>
              <a:t> </a:t>
            </a:r>
            <a:r>
              <a:rPr sz="2550" b="0" dirty="0">
                <a:solidFill>
                  <a:srgbClr val="313131"/>
                </a:solidFill>
                <a:latin typeface="Calibri"/>
                <a:cs typeface="Calibri"/>
              </a:rPr>
              <a:t>su</a:t>
            </a:r>
            <a:r>
              <a:rPr sz="2550" b="0" spc="-120" dirty="0">
                <a:solidFill>
                  <a:srgbClr val="313131"/>
                </a:solidFill>
                <a:latin typeface="Calibri"/>
                <a:cs typeface="Calibri"/>
              </a:rPr>
              <a:t> </a:t>
            </a:r>
            <a:r>
              <a:rPr sz="2550" b="0" dirty="0">
                <a:solidFill>
                  <a:srgbClr val="383838"/>
                </a:solidFill>
                <a:latin typeface="Calibri"/>
                <a:cs typeface="Calibri"/>
              </a:rPr>
              <a:t>svi</a:t>
            </a:r>
            <a:r>
              <a:rPr sz="2550" b="0" spc="-165" dirty="0">
                <a:solidFill>
                  <a:srgbClr val="383838"/>
                </a:solidFill>
                <a:latin typeface="Calibri"/>
                <a:cs typeface="Calibri"/>
              </a:rPr>
              <a:t> </a:t>
            </a:r>
            <a:r>
              <a:rPr sz="2550" b="0" dirty="0">
                <a:solidFill>
                  <a:srgbClr val="2F2F2F"/>
                </a:solidFill>
                <a:latin typeface="Calibri"/>
                <a:cs typeface="Calibri"/>
              </a:rPr>
              <a:t>potrebni</a:t>
            </a:r>
            <a:r>
              <a:rPr sz="2550" b="0" spc="-40" dirty="0">
                <a:solidFill>
                  <a:srgbClr val="2F2F2F"/>
                </a:solidFill>
                <a:latin typeface="Calibri"/>
                <a:cs typeface="Calibri"/>
              </a:rPr>
              <a:t> </a:t>
            </a:r>
            <a:r>
              <a:rPr sz="2550" b="0" dirty="0" err="1">
                <a:solidFill>
                  <a:srgbClr val="363636"/>
                </a:solidFill>
                <a:latin typeface="Calibri"/>
                <a:cs typeface="Calibri"/>
              </a:rPr>
              <a:t>podaci</a:t>
            </a:r>
            <a:r>
              <a:rPr sz="2550" b="0" spc="-60" dirty="0">
                <a:solidFill>
                  <a:srgbClr val="363636"/>
                </a:solidFill>
                <a:latin typeface="Calibri"/>
                <a:cs typeface="Calibri"/>
              </a:rPr>
              <a:t> </a:t>
            </a:r>
            <a:r>
              <a:rPr sz="2550" b="0" dirty="0" err="1">
                <a:solidFill>
                  <a:srgbClr val="343434"/>
                </a:solidFill>
                <a:latin typeface="Calibri"/>
                <a:cs typeface="Calibri"/>
              </a:rPr>
              <a:t>ve</a:t>
            </a:r>
            <a:r>
              <a:rPr lang="sr-Latn-RS" sz="2550" b="0" dirty="0">
                <a:solidFill>
                  <a:srgbClr val="343434"/>
                </a:solidFill>
                <a:latin typeface="Calibri"/>
                <a:cs typeface="Calibri"/>
              </a:rPr>
              <a:t>ć</a:t>
            </a:r>
            <a:r>
              <a:rPr sz="2550" b="0" spc="-114" dirty="0">
                <a:solidFill>
                  <a:srgbClr val="343434"/>
                </a:solidFill>
                <a:latin typeface="Calibri"/>
                <a:cs typeface="Calibri"/>
              </a:rPr>
              <a:t> </a:t>
            </a:r>
            <a:r>
              <a:rPr sz="2550" b="0" dirty="0">
                <a:solidFill>
                  <a:srgbClr val="2F2F2F"/>
                </a:solidFill>
                <a:latin typeface="Calibri"/>
                <a:cs typeface="Calibri"/>
              </a:rPr>
              <a:t>prisutni</a:t>
            </a:r>
            <a:r>
              <a:rPr sz="2550" b="0" spc="-70" dirty="0">
                <a:solidFill>
                  <a:srgbClr val="2F2F2F"/>
                </a:solidFill>
                <a:latin typeface="Calibri"/>
                <a:cs typeface="Calibri"/>
              </a:rPr>
              <a:t> </a:t>
            </a:r>
            <a:r>
              <a:rPr sz="2550" b="0" spc="90" dirty="0">
                <a:solidFill>
                  <a:srgbClr val="363636"/>
                </a:solidFill>
                <a:latin typeface="Calibri"/>
                <a:cs typeface="Calibri"/>
              </a:rPr>
              <a:t>u</a:t>
            </a:r>
            <a:r>
              <a:rPr sz="2550" b="0" spc="-145" dirty="0">
                <a:solidFill>
                  <a:srgbClr val="363636"/>
                </a:solidFill>
                <a:latin typeface="Calibri"/>
                <a:cs typeface="Calibri"/>
              </a:rPr>
              <a:t> </a:t>
            </a:r>
            <a:r>
              <a:rPr sz="2550" b="0" spc="-35" dirty="0">
                <a:solidFill>
                  <a:srgbClr val="383838"/>
                </a:solidFill>
                <a:latin typeface="Calibri"/>
                <a:cs typeface="Calibri"/>
              </a:rPr>
              <a:t>samom</a:t>
            </a:r>
            <a:r>
              <a:rPr sz="2550" b="0" spc="30" dirty="0">
                <a:solidFill>
                  <a:srgbClr val="383838"/>
                </a:solidFill>
                <a:latin typeface="Calibri"/>
                <a:cs typeface="Calibri"/>
              </a:rPr>
              <a:t> </a:t>
            </a:r>
            <a:r>
              <a:rPr sz="2550" b="0" spc="-10" dirty="0">
                <a:solidFill>
                  <a:srgbClr val="2D2D2D"/>
                </a:solidFill>
                <a:latin typeface="Calibri"/>
                <a:cs typeface="Calibri"/>
              </a:rPr>
              <a:t>indeksu, </a:t>
            </a:r>
            <a:r>
              <a:rPr sz="2550" b="0" dirty="0" err="1">
                <a:solidFill>
                  <a:srgbClr val="2F2F2F"/>
                </a:solidFill>
                <a:latin typeface="Calibri"/>
                <a:cs typeface="Calibri"/>
              </a:rPr>
              <a:t>koriste</a:t>
            </a:r>
            <a:r>
              <a:rPr lang="sr-Latn-RS" sz="2550" b="0" dirty="0">
                <a:solidFill>
                  <a:srgbClr val="2F2F2F"/>
                </a:solidFill>
                <a:latin typeface="Calibri"/>
                <a:cs typeface="Calibri"/>
              </a:rPr>
              <a:t>ć</a:t>
            </a:r>
            <a:r>
              <a:rPr sz="2550" b="0" dirty="0" err="1">
                <a:solidFill>
                  <a:srgbClr val="2F2F2F"/>
                </a:solidFill>
                <a:latin typeface="Calibri"/>
                <a:cs typeface="Calibri"/>
              </a:rPr>
              <a:t>i</a:t>
            </a:r>
            <a:r>
              <a:rPr sz="2550" b="0" spc="25" dirty="0">
                <a:solidFill>
                  <a:srgbClr val="2F2F2F"/>
                </a:solidFill>
                <a:latin typeface="Calibri"/>
                <a:cs typeface="Calibri"/>
              </a:rPr>
              <a:t> </a:t>
            </a:r>
            <a:r>
              <a:rPr sz="2550" b="0" dirty="0">
                <a:solidFill>
                  <a:srgbClr val="363636"/>
                </a:solidFill>
                <a:latin typeface="Calibri"/>
                <a:cs typeface="Calibri"/>
              </a:rPr>
              <a:t>visibility</a:t>
            </a:r>
            <a:r>
              <a:rPr sz="2550" b="0" spc="-5" dirty="0">
                <a:solidFill>
                  <a:srgbClr val="363636"/>
                </a:solidFill>
                <a:latin typeface="Calibri"/>
                <a:cs typeface="Calibri"/>
              </a:rPr>
              <a:t> </a:t>
            </a:r>
            <a:r>
              <a:rPr sz="2550" b="0" spc="-40" dirty="0">
                <a:solidFill>
                  <a:srgbClr val="343434"/>
                </a:solidFill>
                <a:latin typeface="Calibri"/>
                <a:cs typeface="Calibri"/>
              </a:rPr>
              <a:t>map</a:t>
            </a:r>
            <a:r>
              <a:rPr sz="2550" b="0" spc="-165" dirty="0">
                <a:solidFill>
                  <a:srgbClr val="343434"/>
                </a:solidFill>
                <a:latin typeface="Calibri"/>
                <a:cs typeface="Calibri"/>
              </a:rPr>
              <a:t> </a:t>
            </a:r>
            <a:r>
              <a:rPr sz="2550" b="0" spc="65" dirty="0">
                <a:solidFill>
                  <a:srgbClr val="343434"/>
                </a:solidFill>
                <a:latin typeface="Calibri"/>
                <a:cs typeface="Calibri"/>
              </a:rPr>
              <a:t>za</a:t>
            </a:r>
            <a:r>
              <a:rPr sz="2550" b="0" spc="-140" dirty="0">
                <a:solidFill>
                  <a:srgbClr val="343434"/>
                </a:solidFill>
                <a:latin typeface="Calibri"/>
                <a:cs typeface="Calibri"/>
              </a:rPr>
              <a:t> </a:t>
            </a:r>
            <a:r>
              <a:rPr sz="2550" b="0" dirty="0">
                <a:solidFill>
                  <a:srgbClr val="2F2F2F"/>
                </a:solidFill>
                <a:latin typeface="Calibri"/>
                <a:cs typeface="Calibri"/>
              </a:rPr>
              <a:t>proveru</a:t>
            </a:r>
            <a:r>
              <a:rPr sz="2550" b="0" spc="105" dirty="0">
                <a:solidFill>
                  <a:srgbClr val="2F2F2F"/>
                </a:solidFill>
                <a:latin typeface="Calibri"/>
                <a:cs typeface="Calibri"/>
              </a:rPr>
              <a:t> </a:t>
            </a:r>
            <a:r>
              <a:rPr sz="2550" b="0" dirty="0">
                <a:solidFill>
                  <a:srgbClr val="343434"/>
                </a:solidFill>
                <a:latin typeface="Calibri"/>
                <a:cs typeface="Calibri"/>
              </a:rPr>
              <a:t>transakcione</a:t>
            </a:r>
            <a:r>
              <a:rPr sz="2550" b="0" spc="40" dirty="0">
                <a:solidFill>
                  <a:srgbClr val="343434"/>
                </a:solidFill>
                <a:latin typeface="Calibri"/>
                <a:cs typeface="Calibri"/>
              </a:rPr>
              <a:t> </a:t>
            </a:r>
            <a:r>
              <a:rPr sz="2550" b="0" spc="-10" dirty="0">
                <a:solidFill>
                  <a:srgbClr val="333333"/>
                </a:solidFill>
                <a:latin typeface="Calibri"/>
                <a:cs typeface="Calibri"/>
              </a:rPr>
              <a:t>vidljivosti.</a:t>
            </a:r>
            <a:endParaRPr sz="2550" dirty="0">
              <a:latin typeface="Calibri"/>
              <a:cs typeface="Calibri"/>
            </a:endParaRPr>
          </a:p>
        </p:txBody>
      </p:sp>
      <p:sp>
        <p:nvSpPr>
          <p:cNvPr id="5" name="object 5"/>
          <p:cNvSpPr txBox="1">
            <a:spLocks noGrp="1"/>
          </p:cNvSpPr>
          <p:nvPr>
            <p:ph sz="half" idx="3"/>
          </p:nvPr>
        </p:nvSpPr>
        <p:spPr>
          <a:prstGeom prst="rect">
            <a:avLst/>
          </a:prstGeom>
        </p:spPr>
        <p:txBody>
          <a:bodyPr vert="horz" wrap="square" lIns="0" tIns="349885" rIns="0" bIns="0" rtlCol="0">
            <a:spAutoFit/>
          </a:bodyPr>
          <a:lstStyle/>
          <a:p>
            <a:pPr marL="14604">
              <a:lnSpc>
                <a:spcPct val="100000"/>
              </a:lnSpc>
              <a:spcBef>
                <a:spcPts val="2755"/>
              </a:spcBef>
            </a:pPr>
            <a:r>
              <a:rPr spc="-150" dirty="0">
                <a:solidFill>
                  <a:srgbClr val="014B7C"/>
                </a:solidFill>
              </a:rPr>
              <a:t>Fokus</a:t>
            </a:r>
            <a:r>
              <a:rPr spc="-15" dirty="0">
                <a:solidFill>
                  <a:srgbClr val="014B7C"/>
                </a:solidFill>
              </a:rPr>
              <a:t> </a:t>
            </a:r>
            <a:r>
              <a:rPr spc="-10" dirty="0"/>
              <a:t>analize</a:t>
            </a:r>
          </a:p>
          <a:p>
            <a:pPr marL="12700" marR="5080" indent="2540">
              <a:lnSpc>
                <a:spcPct val="107800"/>
              </a:lnSpc>
              <a:spcBef>
                <a:spcPts val="1605"/>
              </a:spcBef>
            </a:pPr>
            <a:r>
              <a:rPr sz="2550" b="0" dirty="0">
                <a:solidFill>
                  <a:schemeClr val="tx1">
                    <a:lumMod val="75000"/>
                    <a:lumOff val="25000"/>
                  </a:schemeClr>
                </a:solidFill>
                <a:latin typeface="Calibri"/>
                <a:cs typeface="Calibri"/>
              </a:rPr>
              <a:t>Analiza</a:t>
            </a:r>
            <a:r>
              <a:rPr sz="2550" b="0" spc="9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obuhvata</a:t>
            </a:r>
            <a:r>
              <a:rPr sz="2550" b="0" spc="160"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način</a:t>
            </a:r>
            <a:r>
              <a:rPr sz="2550" b="0" spc="7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na</a:t>
            </a:r>
            <a:r>
              <a:rPr sz="2550" b="0" spc="75"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koji</a:t>
            </a:r>
            <a:r>
              <a:rPr sz="2550" b="0" spc="40"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PostgreSQL</a:t>
            </a:r>
            <a:r>
              <a:rPr sz="2550" b="0" spc="240"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rešava</a:t>
            </a:r>
            <a:r>
              <a:rPr sz="2550" b="0" spc="100"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problem </a:t>
            </a:r>
            <a:r>
              <a:rPr sz="2550" b="0" dirty="0">
                <a:solidFill>
                  <a:schemeClr val="tx1">
                    <a:lumMod val="75000"/>
                    <a:lumOff val="25000"/>
                  </a:schemeClr>
                </a:solidFill>
                <a:latin typeface="Calibri"/>
                <a:cs typeface="Calibri"/>
              </a:rPr>
              <a:t>pristupa</a:t>
            </a:r>
            <a:r>
              <a:rPr sz="2550" b="0" spc="-90" dirty="0">
                <a:solidFill>
                  <a:schemeClr val="tx1">
                    <a:lumMod val="75000"/>
                    <a:lumOff val="25000"/>
                  </a:schemeClr>
                </a:solidFill>
                <a:latin typeface="Calibri"/>
                <a:cs typeface="Calibri"/>
              </a:rPr>
              <a:t> </a:t>
            </a:r>
            <a:r>
              <a:rPr sz="2550" b="0" spc="-20" dirty="0">
                <a:solidFill>
                  <a:schemeClr val="tx1">
                    <a:lumMod val="75000"/>
                    <a:lumOff val="25000"/>
                  </a:schemeClr>
                </a:solidFill>
                <a:latin typeface="Calibri"/>
                <a:cs typeface="Calibri"/>
              </a:rPr>
              <a:t>podacima</a:t>
            </a:r>
            <a:r>
              <a:rPr sz="2550" b="0" spc="-1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na</a:t>
            </a:r>
            <a:r>
              <a:rPr sz="2550" b="0" spc="-14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disku:</a:t>
            </a:r>
            <a:r>
              <a:rPr sz="2550" b="0" spc="-100" dirty="0">
                <a:solidFill>
                  <a:schemeClr val="tx1">
                    <a:lumMod val="75000"/>
                    <a:lumOff val="25000"/>
                  </a:schemeClr>
                </a:solidFill>
                <a:latin typeface="Calibri"/>
                <a:cs typeface="Calibri"/>
              </a:rPr>
              <a:t> </a:t>
            </a:r>
            <a:r>
              <a:rPr sz="2550" b="0" spc="-20" dirty="0">
                <a:solidFill>
                  <a:schemeClr val="tx1">
                    <a:lumMod val="75000"/>
                    <a:lumOff val="25000"/>
                  </a:schemeClr>
                </a:solidFill>
                <a:latin typeface="Calibri"/>
                <a:cs typeface="Calibri"/>
              </a:rPr>
              <a:t>potpunu</a:t>
            </a:r>
            <a:r>
              <a:rPr sz="2550" b="0" spc="-95"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eliminaciju</a:t>
            </a:r>
            <a:r>
              <a:rPr sz="2550" b="0" spc="-50"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pristupa </a:t>
            </a:r>
            <a:r>
              <a:rPr sz="2550" b="0" dirty="0">
                <a:solidFill>
                  <a:schemeClr val="tx1">
                    <a:lumMod val="75000"/>
                    <a:lumOff val="25000"/>
                  </a:schemeClr>
                </a:solidFill>
                <a:latin typeface="Calibri"/>
                <a:cs typeface="Calibri"/>
              </a:rPr>
              <a:t>tabeli</a:t>
            </a:r>
            <a:r>
              <a:rPr sz="2550" b="0" spc="-145" dirty="0">
                <a:solidFill>
                  <a:schemeClr val="tx1">
                    <a:lumMod val="75000"/>
                    <a:lumOff val="25000"/>
                  </a:schemeClr>
                </a:solidFill>
                <a:latin typeface="Calibri"/>
                <a:cs typeface="Calibri"/>
              </a:rPr>
              <a:t> </a:t>
            </a:r>
            <a:r>
              <a:rPr sz="2550" b="0" spc="-20" dirty="0">
                <a:solidFill>
                  <a:schemeClr val="tx1">
                    <a:lumMod val="75000"/>
                    <a:lumOff val="25000"/>
                  </a:schemeClr>
                </a:solidFill>
                <a:latin typeface="Calibri"/>
                <a:cs typeface="Calibri"/>
              </a:rPr>
              <a:t>(Heap)</a:t>
            </a:r>
            <a:r>
              <a:rPr sz="2550" b="0" spc="-35" dirty="0">
                <a:solidFill>
                  <a:schemeClr val="tx1">
                    <a:lumMod val="75000"/>
                    <a:lumOff val="25000"/>
                  </a:schemeClr>
                </a:solidFill>
                <a:latin typeface="Calibri"/>
                <a:cs typeface="Calibri"/>
              </a:rPr>
              <a:t> </a:t>
            </a:r>
            <a:r>
              <a:rPr sz="2550" b="0" spc="55" dirty="0">
                <a:solidFill>
                  <a:schemeClr val="tx1">
                    <a:lumMod val="75000"/>
                    <a:lumOff val="25000"/>
                  </a:schemeClr>
                </a:solidFill>
                <a:latin typeface="Calibri"/>
                <a:cs typeface="Calibri"/>
              </a:rPr>
              <a:t>ili</a:t>
            </a:r>
            <a:r>
              <a:rPr sz="2550" b="0" spc="-180"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inteligentno</a:t>
            </a:r>
            <a:r>
              <a:rPr sz="2550" b="0" spc="20"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ukrštanje</a:t>
            </a:r>
            <a:r>
              <a:rPr sz="2550" b="0" spc="-80" dirty="0">
                <a:solidFill>
                  <a:schemeClr val="tx1">
                    <a:lumMod val="75000"/>
                    <a:lumOff val="25000"/>
                  </a:schemeClr>
                </a:solidFill>
                <a:latin typeface="Calibri"/>
                <a:cs typeface="Calibri"/>
              </a:rPr>
              <a:t> </a:t>
            </a:r>
            <a:r>
              <a:rPr sz="2550" b="0" dirty="0">
                <a:solidFill>
                  <a:schemeClr val="tx1">
                    <a:lumMod val="75000"/>
                    <a:lumOff val="25000"/>
                  </a:schemeClr>
                </a:solidFill>
                <a:latin typeface="Calibri"/>
                <a:cs typeface="Calibri"/>
              </a:rPr>
              <a:t>više</a:t>
            </a:r>
            <a:r>
              <a:rPr sz="2550" b="0" spc="-145" dirty="0">
                <a:solidFill>
                  <a:schemeClr val="tx1">
                    <a:lumMod val="75000"/>
                    <a:lumOff val="25000"/>
                  </a:schemeClr>
                </a:solidFill>
                <a:latin typeface="Calibri"/>
                <a:cs typeface="Calibri"/>
              </a:rPr>
              <a:t> </a:t>
            </a:r>
            <a:r>
              <a:rPr sz="2550" b="0" spc="-10" dirty="0">
                <a:solidFill>
                  <a:schemeClr val="tx1">
                    <a:lumMod val="75000"/>
                    <a:lumOff val="25000"/>
                  </a:schemeClr>
                </a:solidFill>
                <a:latin typeface="Calibri"/>
                <a:cs typeface="Calibri"/>
              </a:rPr>
              <a:t>indeksa istovremeno.</a:t>
            </a:r>
            <a:endParaRPr sz="2550" dirty="0">
              <a:solidFill>
                <a:schemeClr val="tx1">
                  <a:lumMod val="75000"/>
                  <a:lumOff val="25000"/>
                </a:schemeClr>
              </a:solidFill>
              <a:latin typeface="Calibri"/>
              <a:cs typeface="Calibri"/>
            </a:endParaRPr>
          </a:p>
          <a:p>
            <a:pPr>
              <a:lnSpc>
                <a:spcPct val="100000"/>
              </a:lnSpc>
            </a:pPr>
            <a:endParaRPr sz="2550" dirty="0">
              <a:latin typeface="Calibri"/>
              <a:cs typeface="Calibri"/>
            </a:endParaRPr>
          </a:p>
          <a:p>
            <a:pPr>
              <a:lnSpc>
                <a:spcPct val="100000"/>
              </a:lnSpc>
            </a:pPr>
            <a:endParaRPr sz="2550" dirty="0">
              <a:latin typeface="Calibri"/>
              <a:cs typeface="Calibri"/>
            </a:endParaRPr>
          </a:p>
          <a:p>
            <a:pPr>
              <a:lnSpc>
                <a:spcPct val="100000"/>
              </a:lnSpc>
              <a:spcBef>
                <a:spcPts val="340"/>
              </a:spcBef>
            </a:pPr>
            <a:endParaRPr sz="2550" dirty="0">
              <a:latin typeface="Calibri"/>
              <a:cs typeface="Calibri"/>
            </a:endParaRPr>
          </a:p>
          <a:p>
            <a:pPr marL="26670">
              <a:lnSpc>
                <a:spcPct val="100000"/>
              </a:lnSpc>
            </a:pPr>
            <a:r>
              <a:rPr sz="3850" spc="-105" dirty="0">
                <a:solidFill>
                  <a:srgbClr val="004F8C"/>
                </a:solidFill>
                <a:latin typeface="Times New Roman"/>
                <a:cs typeface="Times New Roman"/>
              </a:rPr>
              <a:t>Bitmap</a:t>
            </a:r>
            <a:r>
              <a:rPr sz="3850" spc="-80" dirty="0">
                <a:solidFill>
                  <a:srgbClr val="004F8C"/>
                </a:solidFill>
                <a:latin typeface="Times New Roman"/>
                <a:cs typeface="Times New Roman"/>
              </a:rPr>
              <a:t> </a:t>
            </a:r>
            <a:r>
              <a:rPr sz="3850" spc="-90" dirty="0">
                <a:solidFill>
                  <a:srgbClr val="014F85"/>
                </a:solidFill>
                <a:latin typeface="Times New Roman"/>
                <a:cs typeface="Times New Roman"/>
              </a:rPr>
              <a:t>Index</a:t>
            </a:r>
            <a:r>
              <a:rPr sz="3850" spc="-155" dirty="0">
                <a:solidFill>
                  <a:srgbClr val="014F85"/>
                </a:solidFill>
                <a:latin typeface="Times New Roman"/>
                <a:cs typeface="Times New Roman"/>
              </a:rPr>
              <a:t> </a:t>
            </a:r>
            <a:r>
              <a:rPr sz="3850" spc="-20" dirty="0">
                <a:solidFill>
                  <a:srgbClr val="00427B"/>
                </a:solidFill>
                <a:latin typeface="Times New Roman"/>
                <a:cs typeface="Times New Roman"/>
              </a:rPr>
              <a:t>Scan</a:t>
            </a:r>
            <a:endParaRPr sz="3850" dirty="0">
              <a:latin typeface="Times New Roman"/>
              <a:cs typeface="Times New Roman"/>
            </a:endParaRPr>
          </a:p>
          <a:p>
            <a:pPr marL="12700" marR="394970" indent="4445" algn="just">
              <a:lnSpc>
                <a:spcPct val="107100"/>
              </a:lnSpc>
              <a:spcBef>
                <a:spcPts val="1595"/>
              </a:spcBef>
            </a:pPr>
            <a:r>
              <a:rPr sz="2550" b="0" dirty="0">
                <a:solidFill>
                  <a:srgbClr val="333333"/>
                </a:solidFill>
                <a:latin typeface="Calibri"/>
                <a:cs typeface="Calibri"/>
              </a:rPr>
              <a:t>Rešava</a:t>
            </a:r>
            <a:r>
              <a:rPr sz="2550" b="0" spc="-20" dirty="0">
                <a:solidFill>
                  <a:srgbClr val="333333"/>
                </a:solidFill>
                <a:latin typeface="Calibri"/>
                <a:cs typeface="Calibri"/>
              </a:rPr>
              <a:t> </a:t>
            </a:r>
            <a:r>
              <a:rPr sz="2550" b="0" spc="-10" dirty="0">
                <a:solidFill>
                  <a:srgbClr val="2D2D2D"/>
                </a:solidFill>
                <a:latin typeface="Calibri"/>
                <a:cs typeface="Calibri"/>
              </a:rPr>
              <a:t>problem</a:t>
            </a:r>
            <a:r>
              <a:rPr sz="2550" b="0" spc="25" dirty="0">
                <a:solidFill>
                  <a:srgbClr val="2D2D2D"/>
                </a:solidFill>
                <a:latin typeface="Calibri"/>
                <a:cs typeface="Calibri"/>
              </a:rPr>
              <a:t> </a:t>
            </a:r>
            <a:r>
              <a:rPr sz="2550" b="0" dirty="0">
                <a:solidFill>
                  <a:srgbClr val="343434"/>
                </a:solidFill>
                <a:latin typeface="Calibri"/>
                <a:cs typeface="Calibri"/>
              </a:rPr>
              <a:t>višestruke</a:t>
            </a:r>
            <a:r>
              <a:rPr sz="2550" b="0" spc="60" dirty="0">
                <a:solidFill>
                  <a:srgbClr val="343434"/>
                </a:solidFill>
                <a:latin typeface="Calibri"/>
                <a:cs typeface="Calibri"/>
              </a:rPr>
              <a:t> </a:t>
            </a:r>
            <a:r>
              <a:rPr sz="2550" b="0" spc="-35" dirty="0">
                <a:solidFill>
                  <a:srgbClr val="2D2D2D"/>
                </a:solidFill>
                <a:latin typeface="Calibri"/>
                <a:cs typeface="Calibri"/>
              </a:rPr>
              <a:t>selekcije.</a:t>
            </a:r>
            <a:r>
              <a:rPr sz="2550" b="0" spc="-65" dirty="0">
                <a:solidFill>
                  <a:srgbClr val="2D2D2D"/>
                </a:solidFill>
                <a:latin typeface="Calibri"/>
                <a:cs typeface="Calibri"/>
              </a:rPr>
              <a:t> </a:t>
            </a:r>
            <a:r>
              <a:rPr sz="2550" b="0" spc="60" dirty="0">
                <a:solidFill>
                  <a:srgbClr val="333333"/>
                </a:solidFill>
                <a:latin typeface="Calibri"/>
                <a:cs typeface="Calibri"/>
              </a:rPr>
              <a:t>Kada</a:t>
            </a:r>
            <a:r>
              <a:rPr sz="2550" b="0" spc="-90" dirty="0">
                <a:solidFill>
                  <a:srgbClr val="333333"/>
                </a:solidFill>
                <a:latin typeface="Calibri"/>
                <a:cs typeface="Calibri"/>
              </a:rPr>
              <a:t> </a:t>
            </a:r>
            <a:r>
              <a:rPr sz="2550" b="0" dirty="0">
                <a:solidFill>
                  <a:srgbClr val="343434"/>
                </a:solidFill>
                <a:latin typeface="Calibri"/>
                <a:cs typeface="Calibri"/>
              </a:rPr>
              <a:t>upit</a:t>
            </a:r>
            <a:r>
              <a:rPr sz="2550" b="0" spc="-135" dirty="0">
                <a:solidFill>
                  <a:srgbClr val="343434"/>
                </a:solidFill>
                <a:latin typeface="Calibri"/>
                <a:cs typeface="Calibri"/>
              </a:rPr>
              <a:t> </a:t>
            </a:r>
            <a:r>
              <a:rPr sz="2550" b="0" dirty="0">
                <a:solidFill>
                  <a:srgbClr val="343434"/>
                </a:solidFill>
                <a:latin typeface="Calibri"/>
                <a:cs typeface="Calibri"/>
              </a:rPr>
              <a:t>filtrira</a:t>
            </a:r>
            <a:r>
              <a:rPr sz="2550" b="0" spc="-70" dirty="0">
                <a:solidFill>
                  <a:srgbClr val="343434"/>
                </a:solidFill>
                <a:latin typeface="Calibri"/>
                <a:cs typeface="Calibri"/>
              </a:rPr>
              <a:t> </a:t>
            </a:r>
            <a:r>
              <a:rPr sz="2550" b="0" spc="-25" dirty="0">
                <a:solidFill>
                  <a:srgbClr val="3B3B3B"/>
                </a:solidFill>
                <a:latin typeface="Calibri"/>
                <a:cs typeface="Calibri"/>
              </a:rPr>
              <a:t>po </a:t>
            </a:r>
            <a:r>
              <a:rPr sz="2550" b="0" dirty="0">
                <a:solidFill>
                  <a:srgbClr val="383838"/>
                </a:solidFill>
                <a:latin typeface="Calibri"/>
                <a:cs typeface="Calibri"/>
              </a:rPr>
              <a:t>više</a:t>
            </a:r>
            <a:r>
              <a:rPr sz="2550" b="0" spc="-145" dirty="0">
                <a:solidFill>
                  <a:srgbClr val="383838"/>
                </a:solidFill>
                <a:latin typeface="Calibri"/>
                <a:cs typeface="Calibri"/>
              </a:rPr>
              <a:t> </a:t>
            </a:r>
            <a:r>
              <a:rPr sz="2550" b="0" spc="-25" dirty="0">
                <a:solidFill>
                  <a:srgbClr val="2D2D2D"/>
                </a:solidFill>
                <a:latin typeface="Calibri"/>
                <a:cs typeface="Calibri"/>
              </a:rPr>
              <a:t>kolona,</a:t>
            </a:r>
            <a:r>
              <a:rPr sz="2550" b="0" spc="-120" dirty="0">
                <a:solidFill>
                  <a:srgbClr val="2D2D2D"/>
                </a:solidFill>
                <a:latin typeface="Calibri"/>
                <a:cs typeface="Calibri"/>
              </a:rPr>
              <a:t> </a:t>
            </a:r>
            <a:r>
              <a:rPr sz="2550" b="0" spc="-10" dirty="0">
                <a:solidFill>
                  <a:srgbClr val="363636"/>
                </a:solidFill>
                <a:latin typeface="Calibri"/>
                <a:cs typeface="Calibri"/>
              </a:rPr>
              <a:t>mehanizam</a:t>
            </a:r>
            <a:r>
              <a:rPr sz="2550" b="0" spc="45" dirty="0">
                <a:solidFill>
                  <a:srgbClr val="363636"/>
                </a:solidFill>
                <a:latin typeface="Calibri"/>
                <a:cs typeface="Calibri"/>
              </a:rPr>
              <a:t> </a:t>
            </a:r>
            <a:r>
              <a:rPr sz="2550" b="0" dirty="0">
                <a:solidFill>
                  <a:srgbClr val="343434"/>
                </a:solidFill>
                <a:latin typeface="Calibri"/>
                <a:cs typeface="Calibri"/>
              </a:rPr>
              <a:t>kreira</a:t>
            </a:r>
            <a:r>
              <a:rPr sz="2550" b="0" spc="5" dirty="0">
                <a:solidFill>
                  <a:srgbClr val="343434"/>
                </a:solidFill>
                <a:latin typeface="Calibri"/>
                <a:cs typeface="Calibri"/>
              </a:rPr>
              <a:t> </a:t>
            </a:r>
            <a:r>
              <a:rPr sz="2550" b="0" spc="-40" dirty="0">
                <a:solidFill>
                  <a:srgbClr val="313131"/>
                </a:solidFill>
                <a:latin typeface="Calibri"/>
                <a:cs typeface="Calibri"/>
              </a:rPr>
              <a:t>bitmape</a:t>
            </a:r>
            <a:r>
              <a:rPr sz="2550" b="0" spc="-10" dirty="0">
                <a:solidFill>
                  <a:srgbClr val="313131"/>
                </a:solidFill>
                <a:latin typeface="Calibri"/>
                <a:cs typeface="Calibri"/>
              </a:rPr>
              <a:t> </a:t>
            </a:r>
            <a:r>
              <a:rPr sz="2550" b="0" spc="65" dirty="0">
                <a:solidFill>
                  <a:srgbClr val="363636"/>
                </a:solidFill>
                <a:latin typeface="Calibri"/>
                <a:cs typeface="Calibri"/>
              </a:rPr>
              <a:t>u</a:t>
            </a:r>
            <a:r>
              <a:rPr sz="2550" b="0" spc="-145" dirty="0">
                <a:solidFill>
                  <a:srgbClr val="363636"/>
                </a:solidFill>
                <a:latin typeface="Calibri"/>
                <a:cs typeface="Calibri"/>
              </a:rPr>
              <a:t> </a:t>
            </a:r>
            <a:r>
              <a:rPr sz="2550" b="0" dirty="0">
                <a:solidFill>
                  <a:srgbClr val="2D2D2D"/>
                </a:solidFill>
                <a:latin typeface="Calibri"/>
                <a:cs typeface="Calibri"/>
              </a:rPr>
              <a:t>memoriji</a:t>
            </a:r>
            <a:r>
              <a:rPr sz="2550" b="0" spc="-30" dirty="0">
                <a:solidFill>
                  <a:srgbClr val="2D2D2D"/>
                </a:solidFill>
                <a:latin typeface="Calibri"/>
                <a:cs typeface="Calibri"/>
              </a:rPr>
              <a:t> </a:t>
            </a:r>
            <a:r>
              <a:rPr sz="2550" b="0" dirty="0">
                <a:solidFill>
                  <a:srgbClr val="3D3D3D"/>
                </a:solidFill>
                <a:latin typeface="Calibri"/>
                <a:cs typeface="Calibri"/>
              </a:rPr>
              <a:t>i</a:t>
            </a:r>
            <a:r>
              <a:rPr sz="2550" b="0" spc="-70" dirty="0">
                <a:solidFill>
                  <a:srgbClr val="3D3D3D"/>
                </a:solidFill>
                <a:latin typeface="Calibri"/>
                <a:cs typeface="Calibri"/>
              </a:rPr>
              <a:t> </a:t>
            </a:r>
            <a:r>
              <a:rPr sz="2550" b="0" spc="35" dirty="0">
                <a:solidFill>
                  <a:srgbClr val="383838"/>
                </a:solidFill>
                <a:latin typeface="Calibri"/>
                <a:cs typeface="Calibri"/>
              </a:rPr>
              <a:t>vrši </a:t>
            </a:r>
            <a:r>
              <a:rPr sz="2550" b="0" dirty="0">
                <a:solidFill>
                  <a:srgbClr val="2F2F2F"/>
                </a:solidFill>
                <a:latin typeface="Calibri"/>
                <a:cs typeface="Calibri"/>
              </a:rPr>
              <a:t>njihovo</a:t>
            </a:r>
            <a:r>
              <a:rPr sz="2550" b="0" spc="45" dirty="0">
                <a:solidFill>
                  <a:srgbClr val="2F2F2F"/>
                </a:solidFill>
                <a:latin typeface="Calibri"/>
                <a:cs typeface="Calibri"/>
              </a:rPr>
              <a:t> </a:t>
            </a:r>
            <a:r>
              <a:rPr sz="2550" b="0" dirty="0">
                <a:solidFill>
                  <a:srgbClr val="2F2F2F"/>
                </a:solidFill>
                <a:latin typeface="Calibri"/>
                <a:cs typeface="Calibri"/>
              </a:rPr>
              <a:t>logičko</a:t>
            </a:r>
            <a:r>
              <a:rPr sz="2550" b="0" spc="-55" dirty="0">
                <a:solidFill>
                  <a:srgbClr val="2F2F2F"/>
                </a:solidFill>
                <a:latin typeface="Calibri"/>
                <a:cs typeface="Calibri"/>
              </a:rPr>
              <a:t> </a:t>
            </a:r>
            <a:r>
              <a:rPr sz="2550" b="0" dirty="0">
                <a:solidFill>
                  <a:srgbClr val="313131"/>
                </a:solidFill>
                <a:latin typeface="Calibri"/>
                <a:cs typeface="Calibri"/>
              </a:rPr>
              <a:t>ukrštanje</a:t>
            </a:r>
            <a:r>
              <a:rPr sz="2550" b="0" spc="-95" dirty="0">
                <a:solidFill>
                  <a:srgbClr val="313131"/>
                </a:solidFill>
                <a:latin typeface="Calibri"/>
                <a:cs typeface="Calibri"/>
              </a:rPr>
              <a:t> </a:t>
            </a:r>
            <a:r>
              <a:rPr sz="2550" b="0" spc="-10" dirty="0">
                <a:solidFill>
                  <a:srgbClr val="343434"/>
                </a:solidFill>
                <a:latin typeface="Calibri"/>
                <a:cs typeface="Calibri"/>
              </a:rPr>
              <a:t>pre</a:t>
            </a:r>
            <a:r>
              <a:rPr sz="2550" b="0" spc="-150" dirty="0">
                <a:solidFill>
                  <a:srgbClr val="343434"/>
                </a:solidFill>
                <a:latin typeface="Calibri"/>
                <a:cs typeface="Calibri"/>
              </a:rPr>
              <a:t> </a:t>
            </a:r>
            <a:r>
              <a:rPr sz="2550" b="0" dirty="0">
                <a:solidFill>
                  <a:srgbClr val="2F2F2F"/>
                </a:solidFill>
                <a:latin typeface="Calibri"/>
                <a:cs typeface="Calibri"/>
              </a:rPr>
              <a:t>pristupa</a:t>
            </a:r>
            <a:r>
              <a:rPr sz="2550" b="0" spc="25" dirty="0">
                <a:solidFill>
                  <a:srgbClr val="2F2F2F"/>
                </a:solidFill>
                <a:latin typeface="Calibri"/>
                <a:cs typeface="Calibri"/>
              </a:rPr>
              <a:t> </a:t>
            </a:r>
            <a:r>
              <a:rPr sz="2550" b="0" spc="-10" dirty="0">
                <a:solidFill>
                  <a:srgbClr val="282828"/>
                </a:solidFill>
                <a:latin typeface="Calibri"/>
                <a:cs typeface="Calibri"/>
              </a:rPr>
              <a:t>podacima.</a:t>
            </a:r>
            <a:endParaRPr sz="255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06166" rIns="0" bIns="0" rtlCol="0">
            <a:spAutoFit/>
          </a:bodyPr>
          <a:lstStyle/>
          <a:p>
            <a:pPr>
              <a:lnSpc>
                <a:spcPct val="100000"/>
              </a:lnSpc>
              <a:spcBef>
                <a:spcPts val="130"/>
              </a:spcBef>
            </a:pPr>
            <a:r>
              <a:rPr sz="6150" b="1" dirty="0">
                <a:solidFill>
                  <a:srgbClr val="005089"/>
                </a:solidFill>
              </a:rPr>
              <a:t>Arhitektura</a:t>
            </a:r>
            <a:r>
              <a:rPr sz="6150" b="1" spc="380" dirty="0">
                <a:solidFill>
                  <a:srgbClr val="005089"/>
                </a:solidFill>
              </a:rPr>
              <a:t> </a:t>
            </a:r>
            <a:r>
              <a:rPr sz="6150" b="1" dirty="0">
                <a:solidFill>
                  <a:srgbClr val="005087"/>
                </a:solidFill>
              </a:rPr>
              <a:t>stranica</a:t>
            </a:r>
            <a:r>
              <a:rPr sz="6150" b="1" spc="335" dirty="0">
                <a:solidFill>
                  <a:srgbClr val="005087"/>
                </a:solidFill>
              </a:rPr>
              <a:t> </a:t>
            </a:r>
            <a:r>
              <a:rPr sz="6150" b="1" spc="155" dirty="0">
                <a:solidFill>
                  <a:srgbClr val="054B90"/>
                </a:solidFill>
              </a:rPr>
              <a:t>na</a:t>
            </a:r>
            <a:r>
              <a:rPr sz="6150" b="1" spc="-85" dirty="0">
                <a:solidFill>
                  <a:srgbClr val="054B90"/>
                </a:solidFill>
              </a:rPr>
              <a:t> </a:t>
            </a:r>
            <a:r>
              <a:rPr sz="6150" b="1" spc="70" dirty="0">
                <a:solidFill>
                  <a:srgbClr val="00508E"/>
                </a:solidFill>
              </a:rPr>
              <a:t>disku</a:t>
            </a:r>
            <a:endParaRPr sz="6150" b="1" dirty="0"/>
          </a:p>
        </p:txBody>
      </p:sp>
      <p:sp>
        <p:nvSpPr>
          <p:cNvPr id="3" name="object 3"/>
          <p:cNvSpPr txBox="1"/>
          <p:nvPr/>
        </p:nvSpPr>
        <p:spPr>
          <a:xfrm>
            <a:off x="923150" y="3280393"/>
            <a:ext cx="8520430" cy="1274901"/>
          </a:xfrm>
          <a:prstGeom prst="rect">
            <a:avLst/>
          </a:prstGeom>
        </p:spPr>
        <p:txBody>
          <a:bodyPr vert="horz" wrap="square" lIns="0" tIns="12065" rIns="0" bIns="0" rtlCol="0">
            <a:spAutoFit/>
          </a:bodyPr>
          <a:lstStyle/>
          <a:p>
            <a:pPr marL="12700" marR="5080" indent="2540">
              <a:lnSpc>
                <a:spcPct val="109100"/>
              </a:lnSpc>
              <a:spcBef>
                <a:spcPts val="95"/>
              </a:spcBef>
            </a:pPr>
            <a:r>
              <a:rPr sz="2550" dirty="0">
                <a:solidFill>
                  <a:schemeClr val="tx1">
                    <a:lumMod val="75000"/>
                    <a:lumOff val="25000"/>
                  </a:schemeClr>
                </a:solidFill>
                <a:latin typeface="Calibri"/>
                <a:cs typeface="Calibri"/>
              </a:rPr>
              <a:t>PostgreSQL</a:t>
            </a:r>
            <a:r>
              <a:rPr sz="2550" spc="114" dirty="0">
                <a:solidFill>
                  <a:schemeClr val="tx1">
                    <a:lumMod val="75000"/>
                    <a:lumOff val="25000"/>
                  </a:schemeClr>
                </a:solidFill>
                <a:latin typeface="Calibri"/>
                <a:cs typeface="Calibri"/>
              </a:rPr>
              <a:t> </a:t>
            </a:r>
            <a:r>
              <a:rPr sz="2550" dirty="0" err="1">
                <a:solidFill>
                  <a:schemeClr val="tx1">
                    <a:lumMod val="75000"/>
                    <a:lumOff val="25000"/>
                  </a:schemeClr>
                </a:solidFill>
                <a:latin typeface="Calibri"/>
                <a:cs typeface="Calibri"/>
              </a:rPr>
              <a:t>organizuje</a:t>
            </a:r>
            <a:r>
              <a:rPr sz="2550" spc="45" dirty="0">
                <a:solidFill>
                  <a:schemeClr val="tx1">
                    <a:lumMod val="75000"/>
                    <a:lumOff val="25000"/>
                  </a:schemeClr>
                </a:solidFill>
                <a:latin typeface="Calibri"/>
                <a:cs typeface="Calibri"/>
              </a:rPr>
              <a:t> </a:t>
            </a:r>
            <a:r>
              <a:rPr sz="2550" spc="-30" dirty="0" err="1">
                <a:solidFill>
                  <a:schemeClr val="tx1">
                    <a:lumMod val="75000"/>
                    <a:lumOff val="25000"/>
                  </a:schemeClr>
                </a:solidFill>
                <a:latin typeface="Calibri"/>
                <a:cs typeface="Calibri"/>
              </a:rPr>
              <a:t>podatke</a:t>
            </a:r>
            <a:r>
              <a:rPr lang="sr-Latn-RS" sz="2550" spc="-30" dirty="0">
                <a:solidFill>
                  <a:schemeClr val="tx1">
                    <a:lumMod val="75000"/>
                    <a:lumOff val="25000"/>
                  </a:schemeClr>
                </a:solidFill>
                <a:latin typeface="Calibri"/>
                <a:cs typeface="Calibri"/>
              </a:rPr>
              <a:t> (tabele, indeksi)</a:t>
            </a:r>
            <a:r>
              <a:rPr sz="2550" spc="5" dirty="0">
                <a:solidFill>
                  <a:schemeClr val="tx1">
                    <a:lumMod val="75000"/>
                    <a:lumOff val="25000"/>
                  </a:schemeClr>
                </a:solidFill>
                <a:latin typeface="Calibri"/>
                <a:cs typeface="Calibri"/>
              </a:rPr>
              <a:t> </a:t>
            </a:r>
            <a:r>
              <a:rPr sz="2550" spc="90" dirty="0">
                <a:solidFill>
                  <a:schemeClr val="tx1">
                    <a:lumMod val="75000"/>
                    <a:lumOff val="25000"/>
                  </a:schemeClr>
                </a:solidFill>
                <a:latin typeface="Calibri"/>
                <a:cs typeface="Calibri"/>
              </a:rPr>
              <a:t>u</a:t>
            </a:r>
            <a:r>
              <a:rPr sz="2550" spc="-11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stranice</a:t>
            </a:r>
            <a:r>
              <a:rPr sz="2550" spc="40" dirty="0">
                <a:solidFill>
                  <a:schemeClr val="tx1">
                    <a:lumMod val="75000"/>
                    <a:lumOff val="25000"/>
                  </a:schemeClr>
                </a:solidFill>
                <a:latin typeface="Calibri"/>
                <a:cs typeface="Calibri"/>
              </a:rPr>
              <a:t> </a:t>
            </a:r>
            <a:r>
              <a:rPr sz="2550" spc="-35" dirty="0">
                <a:solidFill>
                  <a:schemeClr val="tx1">
                    <a:lumMod val="75000"/>
                    <a:lumOff val="25000"/>
                  </a:schemeClr>
                </a:solidFill>
                <a:latin typeface="Calibri"/>
                <a:cs typeface="Calibri"/>
              </a:rPr>
              <a:t>(pages)</a:t>
            </a:r>
            <a:r>
              <a:rPr sz="2550" spc="9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fiksne</a:t>
            </a:r>
            <a:r>
              <a:rPr sz="2550" spc="-60" dirty="0">
                <a:solidFill>
                  <a:schemeClr val="tx1">
                    <a:lumMod val="75000"/>
                    <a:lumOff val="25000"/>
                  </a:schemeClr>
                </a:solidFill>
                <a:latin typeface="Calibri"/>
                <a:cs typeface="Calibri"/>
              </a:rPr>
              <a:t> </a:t>
            </a:r>
            <a:r>
              <a:rPr sz="2550" spc="-10" dirty="0">
                <a:solidFill>
                  <a:schemeClr val="tx1">
                    <a:lumMod val="75000"/>
                    <a:lumOff val="25000"/>
                  </a:schemeClr>
                </a:solidFill>
                <a:latin typeface="Calibri"/>
                <a:cs typeface="Calibri"/>
              </a:rPr>
              <a:t>veličine </a:t>
            </a:r>
            <a:r>
              <a:rPr sz="2550" dirty="0">
                <a:solidFill>
                  <a:schemeClr val="tx1">
                    <a:lumMod val="75000"/>
                    <a:lumOff val="25000"/>
                  </a:schemeClr>
                </a:solidFill>
                <a:latin typeface="Calibri"/>
                <a:cs typeface="Calibri"/>
              </a:rPr>
              <a:t>od</a:t>
            </a:r>
            <a:r>
              <a:rPr sz="2550" spc="-8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8</a:t>
            </a:r>
            <a:r>
              <a:rPr sz="2550" spc="-6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kilobajta.</a:t>
            </a:r>
            <a:r>
              <a:rPr sz="2550" spc="2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Svaki</a:t>
            </a:r>
            <a:r>
              <a:rPr sz="2550" spc="-9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fajl</a:t>
            </a:r>
            <a:r>
              <a:rPr sz="2550" spc="20" dirty="0">
                <a:solidFill>
                  <a:schemeClr val="tx1">
                    <a:lumMod val="75000"/>
                    <a:lumOff val="25000"/>
                  </a:schemeClr>
                </a:solidFill>
                <a:latin typeface="Calibri"/>
                <a:cs typeface="Calibri"/>
              </a:rPr>
              <a:t> </a:t>
            </a:r>
            <a:r>
              <a:rPr sz="2550" spc="-20" dirty="0">
                <a:solidFill>
                  <a:schemeClr val="tx1">
                    <a:lumMod val="75000"/>
                    <a:lumOff val="25000"/>
                  </a:schemeClr>
                </a:solidFill>
                <a:latin typeface="Calibri"/>
                <a:cs typeface="Calibri"/>
              </a:rPr>
              <a:t>tabele</a:t>
            </a:r>
            <a:r>
              <a:rPr sz="2550" spc="-50" dirty="0">
                <a:solidFill>
                  <a:schemeClr val="tx1">
                    <a:lumMod val="75000"/>
                    <a:lumOff val="25000"/>
                  </a:schemeClr>
                </a:solidFill>
                <a:latin typeface="Calibri"/>
                <a:cs typeface="Calibri"/>
              </a:rPr>
              <a:t> </a:t>
            </a:r>
            <a:r>
              <a:rPr sz="2550" spc="55" dirty="0">
                <a:solidFill>
                  <a:schemeClr val="tx1">
                    <a:lumMod val="75000"/>
                    <a:lumOff val="25000"/>
                  </a:schemeClr>
                </a:solidFill>
                <a:latin typeface="Calibri"/>
                <a:cs typeface="Calibri"/>
              </a:rPr>
              <a:t>ili</a:t>
            </a:r>
            <a:r>
              <a:rPr sz="2550" spc="-17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indeksa</a:t>
            </a:r>
            <a:r>
              <a:rPr sz="2550" spc="95" dirty="0">
                <a:solidFill>
                  <a:schemeClr val="tx1">
                    <a:lumMod val="75000"/>
                    <a:lumOff val="25000"/>
                  </a:schemeClr>
                </a:solidFill>
                <a:latin typeface="Calibri"/>
                <a:cs typeface="Calibri"/>
              </a:rPr>
              <a:t> </a:t>
            </a:r>
            <a:r>
              <a:rPr sz="2550" spc="-20" dirty="0">
                <a:solidFill>
                  <a:schemeClr val="tx1">
                    <a:lumMod val="75000"/>
                    <a:lumOff val="25000"/>
                  </a:schemeClr>
                </a:solidFill>
                <a:latin typeface="Calibri"/>
                <a:cs typeface="Calibri"/>
              </a:rPr>
              <a:t>je</a:t>
            </a:r>
            <a:r>
              <a:rPr sz="2550" spc="-165" dirty="0">
                <a:solidFill>
                  <a:schemeClr val="tx1">
                    <a:lumMod val="75000"/>
                    <a:lumOff val="25000"/>
                  </a:schemeClr>
                </a:solidFill>
                <a:latin typeface="Calibri"/>
                <a:cs typeface="Calibri"/>
              </a:rPr>
              <a:t> </a:t>
            </a:r>
            <a:r>
              <a:rPr sz="2550" spc="65" dirty="0">
                <a:solidFill>
                  <a:schemeClr val="tx1">
                    <a:lumMod val="75000"/>
                    <a:lumOff val="25000"/>
                  </a:schemeClr>
                </a:solidFill>
                <a:latin typeface="Calibri"/>
                <a:cs typeface="Calibri"/>
              </a:rPr>
              <a:t>niz</a:t>
            </a:r>
            <a:r>
              <a:rPr sz="2550" spc="-13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ovakvih</a:t>
            </a:r>
            <a:r>
              <a:rPr sz="2550" spc="35" dirty="0">
                <a:solidFill>
                  <a:schemeClr val="tx1">
                    <a:lumMod val="75000"/>
                    <a:lumOff val="25000"/>
                  </a:schemeClr>
                </a:solidFill>
                <a:latin typeface="Calibri"/>
                <a:cs typeface="Calibri"/>
              </a:rPr>
              <a:t> </a:t>
            </a:r>
            <a:r>
              <a:rPr sz="2550" spc="-10" dirty="0" err="1">
                <a:solidFill>
                  <a:schemeClr val="tx1">
                    <a:lumMod val="75000"/>
                    <a:lumOff val="25000"/>
                  </a:schemeClr>
                </a:solidFill>
                <a:latin typeface="Calibri"/>
                <a:cs typeface="Calibri"/>
              </a:rPr>
              <a:t>stranica</a:t>
            </a:r>
            <a:r>
              <a:rPr sz="2550" spc="-10" dirty="0">
                <a:solidFill>
                  <a:schemeClr val="tx1">
                    <a:lumMod val="75000"/>
                    <a:lumOff val="25000"/>
                  </a:schemeClr>
                </a:solidFill>
                <a:latin typeface="Calibri"/>
                <a:cs typeface="Calibri"/>
              </a:rPr>
              <a:t>.</a:t>
            </a:r>
            <a:endParaRPr lang="sr-Latn-RS" sz="2550" spc="-10" dirty="0">
              <a:solidFill>
                <a:schemeClr val="tx1">
                  <a:lumMod val="75000"/>
                  <a:lumOff val="25000"/>
                </a:schemeClr>
              </a:solidFill>
              <a:latin typeface="Calibri"/>
              <a:cs typeface="Calibri"/>
            </a:endParaRPr>
          </a:p>
        </p:txBody>
      </p:sp>
      <p:sp>
        <p:nvSpPr>
          <p:cNvPr id="5" name="object 5"/>
          <p:cNvSpPr txBox="1"/>
          <p:nvPr/>
        </p:nvSpPr>
        <p:spPr>
          <a:xfrm>
            <a:off x="1255890" y="4802112"/>
            <a:ext cx="8206740" cy="3903889"/>
          </a:xfrm>
          <a:prstGeom prst="rect">
            <a:avLst/>
          </a:prstGeom>
        </p:spPr>
        <p:txBody>
          <a:bodyPr vert="horz" wrap="square" lIns="0" tIns="12700" rIns="0" bIns="0" rtlCol="0">
            <a:spAutoFit/>
          </a:bodyPr>
          <a:lstStyle/>
          <a:p>
            <a:pPr marL="336550" marR="336550" indent="-324485">
              <a:lnSpc>
                <a:spcPts val="3220"/>
              </a:lnSpc>
              <a:spcBef>
                <a:spcPts val="100"/>
              </a:spcBef>
              <a:buClr>
                <a:srgbClr val="364660"/>
              </a:buClr>
              <a:buChar char="•"/>
              <a:tabLst>
                <a:tab pos="336550" algn="l"/>
              </a:tabLst>
            </a:pPr>
            <a:r>
              <a:rPr sz="2550" dirty="0">
                <a:solidFill>
                  <a:schemeClr val="tx1">
                    <a:lumMod val="75000"/>
                    <a:lumOff val="25000"/>
                  </a:schemeClr>
                </a:solidFill>
                <a:latin typeface="Calibri"/>
                <a:cs typeface="Calibri"/>
              </a:rPr>
              <a:t>PageHeaderData:</a:t>
            </a:r>
            <a:r>
              <a:rPr sz="2550" spc="-17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Zaglavlje</a:t>
            </a:r>
            <a:r>
              <a:rPr sz="2550" spc="14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sa</a:t>
            </a:r>
            <a:r>
              <a:rPr sz="2550" spc="3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LSN-om</a:t>
            </a:r>
            <a:r>
              <a:rPr sz="2550" spc="14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i</a:t>
            </a:r>
            <a:r>
              <a:rPr sz="2550" spc="5" dirty="0">
                <a:solidFill>
                  <a:schemeClr val="tx1">
                    <a:lumMod val="75000"/>
                    <a:lumOff val="25000"/>
                  </a:schemeClr>
                </a:solidFill>
                <a:latin typeface="Calibri"/>
                <a:cs typeface="Calibri"/>
              </a:rPr>
              <a:t> </a:t>
            </a:r>
            <a:r>
              <a:rPr sz="2550" spc="-25" dirty="0">
                <a:solidFill>
                  <a:schemeClr val="tx1">
                    <a:lumMod val="75000"/>
                    <a:lumOff val="25000"/>
                  </a:schemeClr>
                </a:solidFill>
                <a:latin typeface="Calibri"/>
                <a:cs typeface="Calibri"/>
              </a:rPr>
              <a:t>metapodacima</a:t>
            </a:r>
            <a:r>
              <a:rPr sz="2550" spc="305" dirty="0">
                <a:solidFill>
                  <a:schemeClr val="tx1">
                    <a:lumMod val="75000"/>
                    <a:lumOff val="25000"/>
                  </a:schemeClr>
                </a:solidFill>
                <a:latin typeface="Calibri"/>
                <a:cs typeface="Calibri"/>
              </a:rPr>
              <a:t> </a:t>
            </a:r>
            <a:r>
              <a:rPr sz="2550" spc="-50" dirty="0">
                <a:solidFill>
                  <a:schemeClr val="tx1">
                    <a:lumMod val="75000"/>
                    <a:lumOff val="25000"/>
                  </a:schemeClr>
                </a:solidFill>
                <a:latin typeface="Calibri"/>
                <a:cs typeface="Calibri"/>
              </a:rPr>
              <a:t>o </a:t>
            </a:r>
            <a:r>
              <a:rPr sz="2550" spc="-10" dirty="0">
                <a:solidFill>
                  <a:schemeClr val="tx1">
                    <a:lumMod val="75000"/>
                    <a:lumOff val="25000"/>
                  </a:schemeClr>
                </a:solidFill>
                <a:latin typeface="Calibri"/>
                <a:cs typeface="Calibri"/>
              </a:rPr>
              <a:t>slobodnom</a:t>
            </a:r>
            <a:r>
              <a:rPr sz="2550" spc="-30" dirty="0">
                <a:solidFill>
                  <a:schemeClr val="tx1">
                    <a:lumMod val="75000"/>
                    <a:lumOff val="25000"/>
                  </a:schemeClr>
                </a:solidFill>
                <a:latin typeface="Calibri"/>
                <a:cs typeface="Calibri"/>
              </a:rPr>
              <a:t> </a:t>
            </a:r>
            <a:r>
              <a:rPr sz="2550" spc="-10" dirty="0">
                <a:solidFill>
                  <a:schemeClr val="tx1">
                    <a:lumMod val="75000"/>
                    <a:lumOff val="25000"/>
                  </a:schemeClr>
                </a:solidFill>
                <a:latin typeface="Calibri"/>
                <a:cs typeface="Calibri"/>
              </a:rPr>
              <a:t>prostoru.</a:t>
            </a:r>
            <a:endParaRPr sz="2550" dirty="0">
              <a:solidFill>
                <a:schemeClr val="tx1">
                  <a:lumMod val="75000"/>
                  <a:lumOff val="25000"/>
                </a:schemeClr>
              </a:solidFill>
              <a:latin typeface="Calibri"/>
              <a:cs typeface="Calibri"/>
            </a:endParaRPr>
          </a:p>
          <a:p>
            <a:pPr marL="335280" marR="563880" indent="-320040">
              <a:lnSpc>
                <a:spcPct val="116500"/>
              </a:lnSpc>
              <a:spcBef>
                <a:spcPts val="1170"/>
              </a:spcBef>
              <a:buChar char="•"/>
              <a:tabLst>
                <a:tab pos="335280" algn="l"/>
                <a:tab pos="340360" algn="l"/>
              </a:tabLst>
            </a:pPr>
            <a:r>
              <a:rPr sz="2300" dirty="0">
                <a:solidFill>
                  <a:schemeClr val="tx1">
                    <a:lumMod val="75000"/>
                    <a:lumOff val="25000"/>
                  </a:schemeClr>
                </a:solidFill>
                <a:latin typeface="Calibri"/>
                <a:cs typeface="Calibri"/>
              </a:rPr>
              <a:t>	</a:t>
            </a:r>
            <a:r>
              <a:rPr sz="2550" spc="114" dirty="0">
                <a:solidFill>
                  <a:schemeClr val="tx1">
                    <a:lumMod val="75000"/>
                    <a:lumOff val="25000"/>
                  </a:schemeClr>
                </a:solidFill>
                <a:latin typeface="Calibri"/>
                <a:cs typeface="Calibri"/>
              </a:rPr>
              <a:t>Item</a:t>
            </a:r>
            <a:r>
              <a:rPr sz="2550" spc="-35" dirty="0">
                <a:solidFill>
                  <a:schemeClr val="tx1">
                    <a:lumMod val="75000"/>
                    <a:lumOff val="25000"/>
                  </a:schemeClr>
                </a:solidFill>
                <a:latin typeface="Calibri"/>
                <a:cs typeface="Calibri"/>
              </a:rPr>
              <a:t> </a:t>
            </a:r>
            <a:r>
              <a:rPr sz="2550" spc="105" dirty="0">
                <a:solidFill>
                  <a:schemeClr val="tx1">
                    <a:lumMod val="75000"/>
                    <a:lumOff val="25000"/>
                  </a:schemeClr>
                </a:solidFill>
                <a:latin typeface="Calibri"/>
                <a:cs typeface="Calibri"/>
              </a:rPr>
              <a:t>Pointers:</a:t>
            </a:r>
            <a:r>
              <a:rPr sz="2550" spc="65" dirty="0">
                <a:solidFill>
                  <a:schemeClr val="tx1">
                    <a:lumMod val="75000"/>
                    <a:lumOff val="25000"/>
                  </a:schemeClr>
                </a:solidFill>
                <a:latin typeface="Calibri"/>
                <a:cs typeface="Calibri"/>
              </a:rPr>
              <a:t> </a:t>
            </a:r>
            <a:r>
              <a:rPr sz="2550" spc="110" dirty="0">
                <a:solidFill>
                  <a:schemeClr val="tx1">
                    <a:lumMod val="75000"/>
                    <a:lumOff val="25000"/>
                  </a:schemeClr>
                </a:solidFill>
                <a:latin typeface="Calibri"/>
                <a:cs typeface="Calibri"/>
              </a:rPr>
              <a:t>Niz </a:t>
            </a:r>
            <a:r>
              <a:rPr sz="2550" spc="120" dirty="0">
                <a:solidFill>
                  <a:schemeClr val="tx1">
                    <a:lumMod val="75000"/>
                    <a:lumOff val="25000"/>
                  </a:schemeClr>
                </a:solidFill>
                <a:latin typeface="Calibri"/>
                <a:cs typeface="Calibri"/>
              </a:rPr>
              <a:t>pokazivača</a:t>
            </a:r>
            <a:r>
              <a:rPr sz="2550" spc="160" dirty="0">
                <a:solidFill>
                  <a:schemeClr val="tx1">
                    <a:lumMod val="75000"/>
                    <a:lumOff val="25000"/>
                  </a:schemeClr>
                </a:solidFill>
                <a:latin typeface="Calibri"/>
                <a:cs typeface="Calibri"/>
              </a:rPr>
              <a:t> </a:t>
            </a:r>
            <a:r>
              <a:rPr sz="2550" spc="114" dirty="0">
                <a:solidFill>
                  <a:schemeClr val="tx1">
                    <a:lumMod val="75000"/>
                    <a:lumOff val="25000"/>
                  </a:schemeClr>
                </a:solidFill>
                <a:latin typeface="Calibri"/>
                <a:cs typeface="Calibri"/>
              </a:rPr>
              <a:t>(4</a:t>
            </a:r>
            <a:r>
              <a:rPr sz="2550" spc="25" dirty="0">
                <a:solidFill>
                  <a:schemeClr val="tx1">
                    <a:lumMod val="75000"/>
                    <a:lumOff val="25000"/>
                  </a:schemeClr>
                </a:solidFill>
                <a:latin typeface="Calibri"/>
                <a:cs typeface="Calibri"/>
              </a:rPr>
              <a:t> </a:t>
            </a:r>
            <a:r>
              <a:rPr sz="2550" spc="80" dirty="0">
                <a:solidFill>
                  <a:schemeClr val="tx1">
                    <a:lumMod val="75000"/>
                    <a:lumOff val="25000"/>
                  </a:schemeClr>
                </a:solidFill>
                <a:latin typeface="Calibri"/>
                <a:cs typeface="Calibri"/>
              </a:rPr>
              <a:t>bajta)</a:t>
            </a:r>
            <a:r>
              <a:rPr sz="2550" spc="75" dirty="0">
                <a:solidFill>
                  <a:schemeClr val="tx1">
                    <a:lumMod val="75000"/>
                    <a:lumOff val="25000"/>
                  </a:schemeClr>
                </a:solidFill>
                <a:latin typeface="Calibri"/>
                <a:cs typeface="Calibri"/>
              </a:rPr>
              <a:t> koji</a:t>
            </a:r>
            <a:r>
              <a:rPr lang="en-US" sz="2550" spc="75" dirty="0">
                <a:solidFill>
                  <a:schemeClr val="tx1">
                    <a:lumMod val="75000"/>
                    <a:lumOff val="25000"/>
                  </a:schemeClr>
                </a:solidFill>
                <a:latin typeface="Calibri"/>
                <a:cs typeface="Calibri"/>
              </a:rPr>
              <a:t> </a:t>
            </a:r>
            <a:r>
              <a:rPr sz="2550" spc="100" dirty="0" err="1">
                <a:solidFill>
                  <a:schemeClr val="tx1">
                    <a:lumMod val="75000"/>
                    <a:lumOff val="25000"/>
                  </a:schemeClr>
                </a:solidFill>
                <a:latin typeface="Calibri"/>
                <a:cs typeface="Calibri"/>
              </a:rPr>
              <a:t>pokazuju</a:t>
            </a:r>
            <a:r>
              <a:rPr sz="2550" spc="150" dirty="0">
                <a:solidFill>
                  <a:schemeClr val="tx1">
                    <a:lumMod val="75000"/>
                    <a:lumOff val="25000"/>
                  </a:schemeClr>
                </a:solidFill>
                <a:latin typeface="Calibri"/>
                <a:cs typeface="Calibri"/>
              </a:rPr>
              <a:t> </a:t>
            </a:r>
            <a:r>
              <a:rPr sz="2550" spc="90" dirty="0">
                <a:solidFill>
                  <a:schemeClr val="tx1">
                    <a:lumMod val="75000"/>
                    <a:lumOff val="25000"/>
                  </a:schemeClr>
                </a:solidFill>
                <a:latin typeface="Calibri"/>
                <a:cs typeface="Calibri"/>
              </a:rPr>
              <a:t>na pozicije</a:t>
            </a:r>
            <a:r>
              <a:rPr sz="2550" spc="85" dirty="0">
                <a:solidFill>
                  <a:schemeClr val="tx1">
                    <a:lumMod val="75000"/>
                    <a:lumOff val="25000"/>
                  </a:schemeClr>
                </a:solidFill>
                <a:latin typeface="Calibri"/>
                <a:cs typeface="Calibri"/>
              </a:rPr>
              <a:t> </a:t>
            </a:r>
            <a:r>
              <a:rPr sz="2550" spc="114" dirty="0">
                <a:solidFill>
                  <a:schemeClr val="tx1">
                    <a:lumMod val="75000"/>
                    <a:lumOff val="25000"/>
                  </a:schemeClr>
                </a:solidFill>
                <a:latin typeface="Calibri"/>
                <a:cs typeface="Calibri"/>
              </a:rPr>
              <a:t>redova</a:t>
            </a:r>
            <a:r>
              <a:rPr sz="2550" spc="75" dirty="0">
                <a:solidFill>
                  <a:schemeClr val="tx1">
                    <a:lumMod val="75000"/>
                    <a:lumOff val="25000"/>
                  </a:schemeClr>
                </a:solidFill>
                <a:latin typeface="Calibri"/>
                <a:cs typeface="Calibri"/>
              </a:rPr>
              <a:t> </a:t>
            </a:r>
            <a:r>
              <a:rPr sz="2550" spc="120" dirty="0">
                <a:solidFill>
                  <a:schemeClr val="tx1">
                    <a:lumMod val="75000"/>
                    <a:lumOff val="25000"/>
                  </a:schemeClr>
                </a:solidFill>
                <a:latin typeface="Calibri"/>
                <a:cs typeface="Calibri"/>
              </a:rPr>
              <a:t>unutar</a:t>
            </a:r>
            <a:r>
              <a:rPr sz="2550" spc="75" dirty="0">
                <a:solidFill>
                  <a:schemeClr val="tx1">
                    <a:lumMod val="75000"/>
                    <a:lumOff val="25000"/>
                  </a:schemeClr>
                </a:solidFill>
                <a:latin typeface="Calibri"/>
                <a:cs typeface="Calibri"/>
              </a:rPr>
              <a:t> </a:t>
            </a:r>
            <a:r>
              <a:rPr sz="2550" spc="80" dirty="0">
                <a:solidFill>
                  <a:schemeClr val="tx1">
                    <a:lumMod val="75000"/>
                    <a:lumOff val="25000"/>
                  </a:schemeClr>
                </a:solidFill>
                <a:latin typeface="Calibri"/>
                <a:cs typeface="Calibri"/>
              </a:rPr>
              <a:t>stranice.</a:t>
            </a:r>
            <a:endParaRPr sz="2550" dirty="0">
              <a:solidFill>
                <a:schemeClr val="tx1">
                  <a:lumMod val="75000"/>
                  <a:lumOff val="25000"/>
                </a:schemeClr>
              </a:solidFill>
              <a:latin typeface="Calibri"/>
              <a:cs typeface="Calibri"/>
            </a:endParaRPr>
          </a:p>
          <a:p>
            <a:pPr marL="332740" marR="5080" indent="-320675">
              <a:lnSpc>
                <a:spcPct val="109100"/>
              </a:lnSpc>
              <a:spcBef>
                <a:spcPts val="1290"/>
              </a:spcBef>
              <a:buChar char="•"/>
              <a:tabLst>
                <a:tab pos="332740" algn="l"/>
                <a:tab pos="337820" algn="l"/>
              </a:tabLst>
            </a:pPr>
            <a:r>
              <a:rPr sz="2550" dirty="0">
                <a:solidFill>
                  <a:schemeClr val="tx1">
                    <a:lumMod val="75000"/>
                    <a:lumOff val="25000"/>
                  </a:schemeClr>
                </a:solidFill>
                <a:latin typeface="Calibri"/>
                <a:cs typeface="Calibri"/>
              </a:rPr>
              <a:t>	</a:t>
            </a:r>
            <a:r>
              <a:rPr sz="2550" spc="-30" dirty="0">
                <a:solidFill>
                  <a:schemeClr val="tx1">
                    <a:lumMod val="75000"/>
                    <a:lumOff val="25000"/>
                  </a:schemeClr>
                </a:solidFill>
                <a:latin typeface="Calibri"/>
                <a:cs typeface="Calibri"/>
              </a:rPr>
              <a:t>Tuples:</a:t>
            </a:r>
            <a:r>
              <a:rPr sz="2550" spc="15" dirty="0">
                <a:solidFill>
                  <a:schemeClr val="tx1">
                    <a:lumMod val="75000"/>
                    <a:lumOff val="25000"/>
                  </a:schemeClr>
                </a:solidFill>
                <a:latin typeface="Calibri"/>
                <a:cs typeface="Calibri"/>
              </a:rPr>
              <a:t> </a:t>
            </a:r>
            <a:r>
              <a:rPr sz="2550" spc="-20" dirty="0">
                <a:solidFill>
                  <a:schemeClr val="tx1">
                    <a:lumMod val="75000"/>
                    <a:lumOff val="25000"/>
                  </a:schemeClr>
                </a:solidFill>
                <a:latin typeface="Calibri"/>
                <a:cs typeface="Calibri"/>
              </a:rPr>
              <a:t>Sami</a:t>
            </a:r>
            <a:r>
              <a:rPr sz="2550" spc="-10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redovi</a:t>
            </a:r>
            <a:r>
              <a:rPr sz="2550" spc="-20" dirty="0">
                <a:solidFill>
                  <a:schemeClr val="tx1">
                    <a:lumMod val="75000"/>
                    <a:lumOff val="25000"/>
                  </a:schemeClr>
                </a:solidFill>
                <a:latin typeface="Calibri"/>
                <a:cs typeface="Calibri"/>
              </a:rPr>
              <a:t> </a:t>
            </a:r>
            <a:r>
              <a:rPr sz="2550" spc="-10" dirty="0">
                <a:solidFill>
                  <a:schemeClr val="tx1">
                    <a:lumMod val="75000"/>
                    <a:lumOff val="25000"/>
                  </a:schemeClr>
                </a:solidFill>
                <a:latin typeface="Calibri"/>
                <a:cs typeface="Calibri"/>
              </a:rPr>
              <a:t>koji</a:t>
            </a:r>
            <a:r>
              <a:rPr sz="2550" spc="-5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se</a:t>
            </a:r>
            <a:r>
              <a:rPr sz="2550" spc="-105" dirty="0">
                <a:solidFill>
                  <a:schemeClr val="tx1">
                    <a:lumMod val="75000"/>
                    <a:lumOff val="25000"/>
                  </a:schemeClr>
                </a:solidFill>
                <a:latin typeface="Calibri"/>
                <a:cs typeface="Calibri"/>
              </a:rPr>
              <a:t> </a:t>
            </a:r>
            <a:r>
              <a:rPr sz="2550" spc="-30" dirty="0">
                <a:solidFill>
                  <a:schemeClr val="tx1">
                    <a:lumMod val="75000"/>
                    <a:lumOff val="25000"/>
                  </a:schemeClr>
                </a:solidFill>
                <a:latin typeface="Calibri"/>
                <a:cs typeface="Calibri"/>
              </a:rPr>
              <a:t>smeštaju</a:t>
            </a:r>
            <a:r>
              <a:rPr sz="2550" spc="5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od</a:t>
            </a:r>
            <a:r>
              <a:rPr sz="2550" spc="-8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kraja</a:t>
            </a:r>
            <a:r>
              <a:rPr sz="2550" spc="-2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stranice</a:t>
            </a:r>
            <a:r>
              <a:rPr sz="2550" spc="-40" dirty="0">
                <a:solidFill>
                  <a:schemeClr val="tx1">
                    <a:lumMod val="75000"/>
                    <a:lumOff val="25000"/>
                  </a:schemeClr>
                </a:solidFill>
                <a:latin typeface="Calibri"/>
                <a:cs typeface="Calibri"/>
              </a:rPr>
              <a:t> </a:t>
            </a:r>
            <a:r>
              <a:rPr sz="2550" spc="-10" dirty="0">
                <a:solidFill>
                  <a:schemeClr val="tx1">
                    <a:lumMod val="75000"/>
                    <a:lumOff val="25000"/>
                  </a:schemeClr>
                </a:solidFill>
                <a:latin typeface="Calibri"/>
                <a:cs typeface="Calibri"/>
              </a:rPr>
              <a:t>prema početku.</a:t>
            </a:r>
            <a:endParaRPr sz="2550" dirty="0">
              <a:solidFill>
                <a:schemeClr val="tx1">
                  <a:lumMod val="75000"/>
                  <a:lumOff val="25000"/>
                </a:schemeClr>
              </a:solidFill>
              <a:latin typeface="Calibri"/>
              <a:cs typeface="Calibri"/>
            </a:endParaRPr>
          </a:p>
          <a:p>
            <a:pPr marL="337820" marR="296545" indent="-325755">
              <a:lnSpc>
                <a:spcPct val="109100"/>
              </a:lnSpc>
              <a:spcBef>
                <a:spcPts val="1110"/>
              </a:spcBef>
              <a:buClr>
                <a:srgbClr val="313F5E"/>
              </a:buClr>
              <a:buChar char="•"/>
              <a:tabLst>
                <a:tab pos="340995" algn="l"/>
              </a:tabLst>
            </a:pPr>
            <a:r>
              <a:rPr sz="2550" dirty="0">
                <a:solidFill>
                  <a:schemeClr val="tx1">
                    <a:lumMod val="75000"/>
                    <a:lumOff val="25000"/>
                  </a:schemeClr>
                </a:solidFill>
                <a:latin typeface="Calibri"/>
                <a:cs typeface="Calibri"/>
              </a:rPr>
              <a:t>TID</a:t>
            </a:r>
            <a:r>
              <a:rPr sz="2550" spc="520" dirty="0">
                <a:solidFill>
                  <a:schemeClr val="tx1">
                    <a:lumMod val="75000"/>
                    <a:lumOff val="25000"/>
                  </a:schemeClr>
                </a:solidFill>
                <a:latin typeface="Calibri"/>
                <a:cs typeface="Calibri"/>
              </a:rPr>
              <a:t> </a:t>
            </a:r>
            <a:r>
              <a:rPr sz="2550" spc="-20" dirty="0">
                <a:solidFill>
                  <a:schemeClr val="tx1">
                    <a:lumMod val="75000"/>
                    <a:lumOff val="25000"/>
                  </a:schemeClr>
                </a:solidFill>
                <a:latin typeface="Calibri"/>
                <a:cs typeface="Calibri"/>
              </a:rPr>
              <a:t>(Tuple</a:t>
            </a:r>
            <a:r>
              <a:rPr sz="2550" spc="-6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ID):</a:t>
            </a:r>
            <a:r>
              <a:rPr sz="2550" spc="-145" dirty="0">
                <a:solidFill>
                  <a:schemeClr val="tx1">
                    <a:lumMod val="75000"/>
                    <a:lumOff val="25000"/>
                  </a:schemeClr>
                </a:solidFill>
                <a:latin typeface="Calibri"/>
                <a:cs typeface="Calibri"/>
              </a:rPr>
              <a:t> </a:t>
            </a:r>
            <a:r>
              <a:rPr sz="2550" spc="75" dirty="0">
                <a:solidFill>
                  <a:schemeClr val="tx1">
                    <a:lumMod val="75000"/>
                    <a:lumOff val="25000"/>
                  </a:schemeClr>
                </a:solidFill>
                <a:latin typeface="Calibri"/>
                <a:cs typeface="Calibri"/>
              </a:rPr>
              <a:t>Par</a:t>
            </a:r>
            <a:r>
              <a:rPr sz="2550" spc="-60" dirty="0">
                <a:solidFill>
                  <a:schemeClr val="tx1">
                    <a:lumMod val="75000"/>
                    <a:lumOff val="25000"/>
                  </a:schemeClr>
                </a:solidFill>
                <a:latin typeface="Calibri"/>
                <a:cs typeface="Calibri"/>
              </a:rPr>
              <a:t> </a:t>
            </a:r>
            <a:r>
              <a:rPr sz="2550" spc="-30" dirty="0">
                <a:solidFill>
                  <a:schemeClr val="tx1">
                    <a:lumMod val="75000"/>
                    <a:lumOff val="25000"/>
                  </a:schemeClr>
                </a:solidFill>
                <a:latin typeface="Calibri"/>
                <a:cs typeface="Calibri"/>
              </a:rPr>
              <a:t>(broj_stranice,</a:t>
            </a:r>
            <a:r>
              <a:rPr sz="2550" spc="-140" dirty="0">
                <a:solidFill>
                  <a:schemeClr val="tx1">
                    <a:lumMod val="75000"/>
                    <a:lumOff val="25000"/>
                  </a:schemeClr>
                </a:solidFill>
                <a:latin typeface="Calibri"/>
                <a:cs typeface="Calibri"/>
              </a:rPr>
              <a:t> </a:t>
            </a:r>
            <a:r>
              <a:rPr sz="2550" spc="-30" dirty="0">
                <a:solidFill>
                  <a:schemeClr val="tx1">
                    <a:lumMod val="75000"/>
                    <a:lumOff val="25000"/>
                  </a:schemeClr>
                </a:solidFill>
                <a:latin typeface="Calibri"/>
                <a:cs typeface="Calibri"/>
              </a:rPr>
              <a:t>broj_pozicije)</a:t>
            </a:r>
            <a:r>
              <a:rPr sz="2550" spc="-12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koji</a:t>
            </a:r>
            <a:r>
              <a:rPr sz="2550" spc="-45" dirty="0">
                <a:solidFill>
                  <a:schemeClr val="tx1">
                    <a:lumMod val="75000"/>
                    <a:lumOff val="25000"/>
                  </a:schemeClr>
                </a:solidFill>
                <a:latin typeface="Calibri"/>
                <a:cs typeface="Calibri"/>
              </a:rPr>
              <a:t> </a:t>
            </a:r>
            <a:r>
              <a:rPr sz="2550" spc="-10" dirty="0">
                <a:solidFill>
                  <a:schemeClr val="tx1">
                    <a:lumMod val="75000"/>
                    <a:lumOff val="25000"/>
                  </a:schemeClr>
                </a:solidFill>
                <a:latin typeface="Calibri"/>
                <a:cs typeface="Calibri"/>
              </a:rPr>
              <a:t>tačno 	</a:t>
            </a:r>
            <a:r>
              <a:rPr sz="2550" dirty="0">
                <a:solidFill>
                  <a:schemeClr val="tx1">
                    <a:lumMod val="75000"/>
                    <a:lumOff val="25000"/>
                  </a:schemeClr>
                </a:solidFill>
                <a:latin typeface="Calibri"/>
                <a:cs typeface="Calibri"/>
              </a:rPr>
              <a:t>locira</a:t>
            </a:r>
            <a:r>
              <a:rPr sz="2550" spc="15" dirty="0">
                <a:solidFill>
                  <a:schemeClr val="tx1">
                    <a:lumMod val="75000"/>
                    <a:lumOff val="25000"/>
                  </a:schemeClr>
                </a:solidFill>
                <a:latin typeface="Calibri"/>
                <a:cs typeface="Calibri"/>
              </a:rPr>
              <a:t> </a:t>
            </a:r>
            <a:r>
              <a:rPr sz="2550" spc="-20" dirty="0">
                <a:solidFill>
                  <a:schemeClr val="tx1">
                    <a:lumMod val="75000"/>
                    <a:lumOff val="25000"/>
                  </a:schemeClr>
                </a:solidFill>
                <a:latin typeface="Calibri"/>
                <a:cs typeface="Calibri"/>
              </a:rPr>
              <a:t>red.</a:t>
            </a:r>
            <a:endParaRPr sz="2550" dirty="0">
              <a:solidFill>
                <a:schemeClr val="tx1">
                  <a:lumMod val="75000"/>
                  <a:lumOff val="25000"/>
                </a:schemeClr>
              </a:solidFill>
              <a:latin typeface="Calibri"/>
              <a:cs typeface="Calibri"/>
            </a:endParaRPr>
          </a:p>
        </p:txBody>
      </p:sp>
      <p:pic>
        <p:nvPicPr>
          <p:cNvPr id="6" name="Picture 5">
            <a:extLst>
              <a:ext uri="{FF2B5EF4-FFF2-40B4-BE49-F238E27FC236}">
                <a16:creationId xmlns:a16="http://schemas.microsoft.com/office/drawing/2014/main" id="{D7FDBEA0-9C7E-3649-2027-16A3948B70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2050" y="3280393"/>
            <a:ext cx="9128900" cy="51710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376860" y="5626712"/>
            <a:ext cx="895260" cy="691078"/>
          </a:xfrm>
          <a:prstGeom prst="rect">
            <a:avLst/>
          </a:prstGeom>
        </p:spPr>
      </p:pic>
      <p:pic>
        <p:nvPicPr>
          <p:cNvPr id="3" name="object 3"/>
          <p:cNvPicPr/>
          <p:nvPr/>
        </p:nvPicPr>
        <p:blipFill>
          <a:blip r:embed="rId3" cstate="print"/>
          <a:stretch>
            <a:fillRect/>
          </a:stretch>
        </p:blipFill>
        <p:spPr>
          <a:xfrm>
            <a:off x="9753629" y="5579593"/>
            <a:ext cx="596840" cy="785316"/>
          </a:xfrm>
          <a:prstGeom prst="rect">
            <a:avLst/>
          </a:prstGeom>
        </p:spPr>
      </p:pic>
      <p:pic>
        <p:nvPicPr>
          <p:cNvPr id="4" name="object 4"/>
          <p:cNvPicPr/>
          <p:nvPr/>
        </p:nvPicPr>
        <p:blipFill>
          <a:blip r:embed="rId4" cstate="print"/>
          <a:stretch>
            <a:fillRect/>
          </a:stretch>
        </p:blipFill>
        <p:spPr>
          <a:xfrm>
            <a:off x="15824125" y="5611006"/>
            <a:ext cx="910967" cy="722491"/>
          </a:xfrm>
          <a:prstGeom prst="rect">
            <a:avLst/>
          </a:prstGeom>
        </p:spPr>
      </p:pic>
      <p:sp>
        <p:nvSpPr>
          <p:cNvPr id="5" name="object 5" descr="$PPTXTitle"/>
          <p:cNvSpPr txBox="1">
            <a:spLocks noGrp="1"/>
          </p:cNvSpPr>
          <p:nvPr>
            <p:ph type="title"/>
          </p:nvPr>
        </p:nvSpPr>
        <p:spPr>
          <a:prstGeom prst="rect">
            <a:avLst/>
          </a:prstGeom>
        </p:spPr>
        <p:txBody>
          <a:bodyPr vert="horz" wrap="square" lIns="0" tIns="106166" rIns="0" bIns="0" rtlCol="0">
            <a:spAutoFit/>
          </a:bodyPr>
          <a:lstStyle/>
          <a:p>
            <a:pPr>
              <a:lnSpc>
                <a:spcPct val="100000"/>
              </a:lnSpc>
              <a:spcBef>
                <a:spcPts val="130"/>
              </a:spcBef>
            </a:pPr>
            <a:r>
              <a:rPr sz="6150" b="1" dirty="0">
                <a:solidFill>
                  <a:srgbClr val="004D80"/>
                </a:solidFill>
              </a:rPr>
              <a:t>B-Tree</a:t>
            </a:r>
            <a:r>
              <a:rPr sz="6150" b="1" spc="240" dirty="0">
                <a:solidFill>
                  <a:srgbClr val="004D80"/>
                </a:solidFill>
              </a:rPr>
              <a:t> </a:t>
            </a:r>
            <a:r>
              <a:rPr sz="6150" b="1" dirty="0">
                <a:solidFill>
                  <a:srgbClr val="0A5285"/>
                </a:solidFill>
              </a:rPr>
              <a:t>struktura</a:t>
            </a:r>
            <a:r>
              <a:rPr sz="6150" b="1" spc="484" dirty="0">
                <a:solidFill>
                  <a:srgbClr val="0A5285"/>
                </a:solidFill>
              </a:rPr>
              <a:t> </a:t>
            </a:r>
            <a:r>
              <a:rPr sz="6150" b="1" spc="40" dirty="0">
                <a:solidFill>
                  <a:srgbClr val="014F80"/>
                </a:solidFill>
              </a:rPr>
              <a:t>indeksa</a:t>
            </a:r>
            <a:endParaRPr sz="6150" b="1" dirty="0"/>
          </a:p>
        </p:txBody>
      </p:sp>
      <p:sp>
        <p:nvSpPr>
          <p:cNvPr id="6" name="object 6"/>
          <p:cNvSpPr txBox="1"/>
          <p:nvPr/>
        </p:nvSpPr>
        <p:spPr>
          <a:xfrm>
            <a:off x="1504284" y="6606128"/>
            <a:ext cx="4625340" cy="2059939"/>
          </a:xfrm>
          <a:prstGeom prst="rect">
            <a:avLst/>
          </a:prstGeom>
        </p:spPr>
        <p:txBody>
          <a:bodyPr vert="horz" wrap="square" lIns="0" tIns="15875" rIns="0" bIns="0" rtlCol="0">
            <a:spAutoFit/>
          </a:bodyPr>
          <a:lstStyle/>
          <a:p>
            <a:pPr algn="ctr">
              <a:lnSpc>
                <a:spcPts val="3045"/>
              </a:lnSpc>
              <a:spcBef>
                <a:spcPts val="125"/>
              </a:spcBef>
            </a:pPr>
            <a:r>
              <a:rPr sz="2550" dirty="0">
                <a:solidFill>
                  <a:srgbClr val="0A568E"/>
                </a:solidFill>
                <a:latin typeface="Cambria"/>
                <a:cs typeface="Cambria"/>
              </a:rPr>
              <a:t>Hijerarhija</a:t>
            </a:r>
            <a:r>
              <a:rPr sz="2550" spc="250" dirty="0">
                <a:solidFill>
                  <a:srgbClr val="0A568E"/>
                </a:solidFill>
                <a:latin typeface="Cambria"/>
                <a:cs typeface="Cambria"/>
              </a:rPr>
              <a:t> </a:t>
            </a:r>
            <a:r>
              <a:rPr sz="2550" spc="-10" dirty="0">
                <a:solidFill>
                  <a:srgbClr val="00467B"/>
                </a:solidFill>
                <a:latin typeface="Cambria"/>
                <a:cs typeface="Cambria"/>
              </a:rPr>
              <a:t>čvorova</a:t>
            </a:r>
            <a:endParaRPr sz="2550" dirty="0">
              <a:latin typeface="Cambria"/>
              <a:cs typeface="Cambria"/>
            </a:endParaRPr>
          </a:p>
          <a:p>
            <a:pPr marL="4445" algn="ctr">
              <a:lnSpc>
                <a:spcPts val="3045"/>
              </a:lnSpc>
            </a:pPr>
            <a:r>
              <a:rPr sz="2550" dirty="0">
                <a:solidFill>
                  <a:srgbClr val="343434"/>
                </a:solidFill>
                <a:latin typeface="Calibri"/>
                <a:cs typeface="Calibri"/>
              </a:rPr>
              <a:t>Postoji</a:t>
            </a:r>
            <a:r>
              <a:rPr sz="2550" spc="25" dirty="0">
                <a:solidFill>
                  <a:srgbClr val="343434"/>
                </a:solidFill>
                <a:latin typeface="Calibri"/>
                <a:cs typeface="Calibri"/>
              </a:rPr>
              <a:t> </a:t>
            </a:r>
            <a:r>
              <a:rPr sz="2550" spc="-10" dirty="0">
                <a:solidFill>
                  <a:srgbClr val="343434"/>
                </a:solidFill>
                <a:latin typeface="Calibri"/>
                <a:cs typeface="Calibri"/>
              </a:rPr>
              <a:t>meta</a:t>
            </a:r>
            <a:r>
              <a:rPr sz="2550" spc="30" dirty="0">
                <a:solidFill>
                  <a:srgbClr val="343434"/>
                </a:solidFill>
                <a:latin typeface="Calibri"/>
                <a:cs typeface="Calibri"/>
              </a:rPr>
              <a:t> </a:t>
            </a:r>
            <a:r>
              <a:rPr sz="2550" dirty="0">
                <a:solidFill>
                  <a:srgbClr val="2F2F2F"/>
                </a:solidFill>
                <a:latin typeface="Calibri"/>
                <a:cs typeface="Calibri"/>
              </a:rPr>
              <a:t>stranica</a:t>
            </a:r>
            <a:r>
              <a:rPr sz="2550" spc="35" dirty="0">
                <a:solidFill>
                  <a:srgbClr val="2F2F2F"/>
                </a:solidFill>
                <a:latin typeface="Calibri"/>
                <a:cs typeface="Calibri"/>
              </a:rPr>
              <a:t> </a:t>
            </a:r>
            <a:r>
              <a:rPr sz="2550" spc="-25" dirty="0">
                <a:solidFill>
                  <a:srgbClr val="363636"/>
                </a:solidFill>
                <a:latin typeface="Calibri"/>
                <a:cs typeface="Calibri"/>
              </a:rPr>
              <a:t>sa</a:t>
            </a:r>
            <a:endParaRPr sz="2550" dirty="0">
              <a:latin typeface="Calibri"/>
              <a:cs typeface="Calibri"/>
            </a:endParaRPr>
          </a:p>
          <a:p>
            <a:pPr marL="12700" marR="5080" indent="-20320" algn="ctr">
              <a:lnSpc>
                <a:spcPct val="107100"/>
              </a:lnSpc>
              <a:spcBef>
                <a:spcPts val="60"/>
              </a:spcBef>
            </a:pPr>
            <a:r>
              <a:rPr sz="2550" dirty="0">
                <a:solidFill>
                  <a:srgbClr val="2A2A2A"/>
                </a:solidFill>
                <a:latin typeface="Calibri"/>
                <a:cs typeface="Calibri"/>
              </a:rPr>
              <a:t>pokazivačem</a:t>
            </a:r>
            <a:r>
              <a:rPr sz="2550" spc="90" dirty="0">
                <a:solidFill>
                  <a:srgbClr val="2A2A2A"/>
                </a:solidFill>
                <a:latin typeface="Calibri"/>
                <a:cs typeface="Calibri"/>
              </a:rPr>
              <a:t> </a:t>
            </a:r>
            <a:r>
              <a:rPr sz="2550" dirty="0">
                <a:solidFill>
                  <a:srgbClr val="3D495D"/>
                </a:solidFill>
                <a:latin typeface="Calibri"/>
                <a:cs typeface="Calibri"/>
              </a:rPr>
              <a:t>na</a:t>
            </a:r>
            <a:r>
              <a:rPr sz="2550" spc="-85" dirty="0">
                <a:solidFill>
                  <a:srgbClr val="3D495D"/>
                </a:solidFill>
                <a:latin typeface="Calibri"/>
                <a:cs typeface="Calibri"/>
              </a:rPr>
              <a:t> </a:t>
            </a:r>
            <a:r>
              <a:rPr sz="2550" spc="-35" dirty="0">
                <a:solidFill>
                  <a:srgbClr val="2B2B2B"/>
                </a:solidFill>
                <a:latin typeface="Calibri"/>
                <a:cs typeface="Calibri"/>
              </a:rPr>
              <a:t>koren,</a:t>
            </a:r>
            <a:r>
              <a:rPr sz="2550" spc="-150" dirty="0">
                <a:solidFill>
                  <a:srgbClr val="2B2B2B"/>
                </a:solidFill>
                <a:latin typeface="Calibri"/>
                <a:cs typeface="Calibri"/>
              </a:rPr>
              <a:t> </a:t>
            </a:r>
            <a:r>
              <a:rPr sz="2550" spc="-10" dirty="0">
                <a:solidFill>
                  <a:srgbClr val="2F2F2F"/>
                </a:solidFill>
                <a:latin typeface="Calibri"/>
                <a:cs typeface="Calibri"/>
              </a:rPr>
              <a:t>unutrašnji </a:t>
            </a:r>
            <a:r>
              <a:rPr sz="2550" dirty="0">
                <a:solidFill>
                  <a:srgbClr val="3A3A3A"/>
                </a:solidFill>
                <a:latin typeface="Calibri"/>
                <a:cs typeface="Calibri"/>
              </a:rPr>
              <a:t>čvorovi</a:t>
            </a:r>
            <a:r>
              <a:rPr sz="2550" spc="80" dirty="0">
                <a:solidFill>
                  <a:srgbClr val="3A3A3A"/>
                </a:solidFill>
                <a:latin typeface="Calibri"/>
                <a:cs typeface="Calibri"/>
              </a:rPr>
              <a:t> </a:t>
            </a:r>
            <a:r>
              <a:rPr sz="2550" dirty="0">
                <a:solidFill>
                  <a:srgbClr val="333333"/>
                </a:solidFill>
                <a:latin typeface="Calibri"/>
                <a:cs typeface="Calibri"/>
              </a:rPr>
              <a:t>sa</a:t>
            </a:r>
            <a:r>
              <a:rPr sz="2550" spc="-20" dirty="0">
                <a:solidFill>
                  <a:srgbClr val="333333"/>
                </a:solidFill>
                <a:latin typeface="Calibri"/>
                <a:cs typeface="Calibri"/>
              </a:rPr>
              <a:t> </a:t>
            </a:r>
            <a:r>
              <a:rPr sz="2550" dirty="0">
                <a:solidFill>
                  <a:srgbClr val="313131"/>
                </a:solidFill>
                <a:latin typeface="Calibri"/>
                <a:cs typeface="Calibri"/>
              </a:rPr>
              <a:t>ključevima</a:t>
            </a:r>
            <a:r>
              <a:rPr sz="2550" spc="80" dirty="0">
                <a:solidFill>
                  <a:srgbClr val="313131"/>
                </a:solidFill>
                <a:latin typeface="Calibri"/>
                <a:cs typeface="Calibri"/>
              </a:rPr>
              <a:t> </a:t>
            </a:r>
            <a:r>
              <a:rPr sz="2550" spc="65" dirty="0">
                <a:solidFill>
                  <a:srgbClr val="383838"/>
                </a:solidFill>
                <a:latin typeface="Calibri"/>
                <a:cs typeface="Calibri"/>
              </a:rPr>
              <a:t>za</a:t>
            </a:r>
            <a:r>
              <a:rPr sz="2550" spc="-55" dirty="0">
                <a:solidFill>
                  <a:srgbClr val="383838"/>
                </a:solidFill>
                <a:latin typeface="Calibri"/>
                <a:cs typeface="Calibri"/>
              </a:rPr>
              <a:t> </a:t>
            </a:r>
            <a:r>
              <a:rPr sz="2550" dirty="0">
                <a:solidFill>
                  <a:srgbClr val="363636"/>
                </a:solidFill>
                <a:latin typeface="Calibri"/>
                <a:cs typeface="Calibri"/>
              </a:rPr>
              <a:t>grananje</a:t>
            </a:r>
            <a:r>
              <a:rPr sz="2550" spc="5" dirty="0">
                <a:solidFill>
                  <a:srgbClr val="363636"/>
                </a:solidFill>
                <a:latin typeface="Calibri"/>
                <a:cs typeface="Calibri"/>
              </a:rPr>
              <a:t> </a:t>
            </a:r>
            <a:r>
              <a:rPr sz="2550" spc="-50" dirty="0">
                <a:solidFill>
                  <a:srgbClr val="363636"/>
                </a:solidFill>
                <a:latin typeface="Calibri"/>
                <a:cs typeface="Calibri"/>
              </a:rPr>
              <a:t>i </a:t>
            </a:r>
            <a:r>
              <a:rPr sz="2550" dirty="0">
                <a:solidFill>
                  <a:srgbClr val="333333"/>
                </a:solidFill>
                <a:latin typeface="Calibri"/>
                <a:cs typeface="Calibri"/>
              </a:rPr>
              <a:t>listovi </a:t>
            </a:r>
            <a:r>
              <a:rPr sz="2550" dirty="0">
                <a:solidFill>
                  <a:srgbClr val="3A3A3A"/>
                </a:solidFill>
                <a:latin typeface="Calibri"/>
                <a:cs typeface="Calibri"/>
              </a:rPr>
              <a:t>sa</a:t>
            </a:r>
            <a:r>
              <a:rPr sz="2550" spc="-70" dirty="0">
                <a:solidFill>
                  <a:srgbClr val="3A3A3A"/>
                </a:solidFill>
                <a:latin typeface="Calibri"/>
                <a:cs typeface="Calibri"/>
              </a:rPr>
              <a:t> </a:t>
            </a:r>
            <a:r>
              <a:rPr sz="2550" dirty="0">
                <a:solidFill>
                  <a:srgbClr val="3D3D3D"/>
                </a:solidFill>
                <a:latin typeface="Calibri"/>
                <a:cs typeface="Calibri"/>
              </a:rPr>
              <a:t>TID</a:t>
            </a:r>
            <a:r>
              <a:rPr sz="2550" spc="280" dirty="0">
                <a:solidFill>
                  <a:srgbClr val="3D3D3D"/>
                </a:solidFill>
                <a:latin typeface="Calibri"/>
                <a:cs typeface="Calibri"/>
              </a:rPr>
              <a:t> </a:t>
            </a:r>
            <a:r>
              <a:rPr sz="2550" spc="-10" dirty="0">
                <a:solidFill>
                  <a:srgbClr val="313131"/>
                </a:solidFill>
                <a:latin typeface="Calibri"/>
                <a:cs typeface="Calibri"/>
              </a:rPr>
              <a:t>pokazivačima.</a:t>
            </a:r>
            <a:endParaRPr sz="2550" dirty="0">
              <a:latin typeface="Calibri"/>
              <a:cs typeface="Calibri"/>
            </a:endParaRPr>
          </a:p>
        </p:txBody>
      </p:sp>
      <p:sp>
        <p:nvSpPr>
          <p:cNvPr id="8" name="object 8"/>
          <p:cNvSpPr txBox="1"/>
          <p:nvPr/>
        </p:nvSpPr>
        <p:spPr>
          <a:xfrm>
            <a:off x="7802363" y="6598275"/>
            <a:ext cx="4495165" cy="2067560"/>
          </a:xfrm>
          <a:prstGeom prst="rect">
            <a:avLst/>
          </a:prstGeom>
        </p:spPr>
        <p:txBody>
          <a:bodyPr vert="horz" wrap="square" lIns="0" tIns="12065" rIns="0" bIns="0" rtlCol="0">
            <a:spAutoFit/>
          </a:bodyPr>
          <a:lstStyle/>
          <a:p>
            <a:pPr marL="12700" marR="5080" indent="1086485">
              <a:lnSpc>
                <a:spcPct val="101000"/>
              </a:lnSpc>
              <a:spcBef>
                <a:spcPts val="95"/>
              </a:spcBef>
            </a:pPr>
            <a:r>
              <a:rPr sz="2550" spc="175" dirty="0">
                <a:solidFill>
                  <a:srgbClr val="005293"/>
                </a:solidFill>
                <a:latin typeface="Calibri"/>
                <a:cs typeface="Calibri"/>
              </a:rPr>
              <a:t>0(log</a:t>
            </a:r>
            <a:r>
              <a:rPr sz="2550" spc="-130" dirty="0">
                <a:solidFill>
                  <a:srgbClr val="005293"/>
                </a:solidFill>
                <a:latin typeface="Calibri"/>
                <a:cs typeface="Calibri"/>
              </a:rPr>
              <a:t> </a:t>
            </a:r>
            <a:r>
              <a:rPr sz="2550" spc="180" dirty="0">
                <a:solidFill>
                  <a:srgbClr val="085293"/>
                </a:solidFill>
                <a:latin typeface="Calibri"/>
                <a:cs typeface="Calibri"/>
              </a:rPr>
              <a:t>n)</a:t>
            </a:r>
            <a:r>
              <a:rPr sz="2550" spc="-229" dirty="0">
                <a:solidFill>
                  <a:srgbClr val="085293"/>
                </a:solidFill>
                <a:latin typeface="Calibri"/>
                <a:cs typeface="Calibri"/>
              </a:rPr>
              <a:t> </a:t>
            </a:r>
            <a:r>
              <a:rPr sz="2550" spc="160" dirty="0">
                <a:solidFill>
                  <a:srgbClr val="0E4D7C"/>
                </a:solidFill>
                <a:latin typeface="Calibri"/>
                <a:cs typeface="Calibri"/>
              </a:rPr>
              <a:t>pristup </a:t>
            </a:r>
            <a:r>
              <a:rPr sz="2550" dirty="0">
                <a:solidFill>
                  <a:srgbClr val="333333"/>
                </a:solidFill>
                <a:latin typeface="Calibri"/>
                <a:cs typeface="Calibri"/>
              </a:rPr>
              <a:t>Garantovano</a:t>
            </a:r>
            <a:r>
              <a:rPr sz="2550" spc="75" dirty="0">
                <a:solidFill>
                  <a:srgbClr val="333333"/>
                </a:solidFill>
                <a:latin typeface="Calibri"/>
                <a:cs typeface="Calibri"/>
              </a:rPr>
              <a:t> </a:t>
            </a:r>
            <a:r>
              <a:rPr sz="2550" spc="-10" dirty="0">
                <a:solidFill>
                  <a:srgbClr val="313131"/>
                </a:solidFill>
                <a:latin typeface="Calibri"/>
                <a:cs typeface="Calibri"/>
              </a:rPr>
              <a:t>logaritamsko</a:t>
            </a:r>
            <a:r>
              <a:rPr sz="2550" spc="60" dirty="0">
                <a:solidFill>
                  <a:srgbClr val="313131"/>
                </a:solidFill>
                <a:latin typeface="Calibri"/>
                <a:cs typeface="Calibri"/>
              </a:rPr>
              <a:t> </a:t>
            </a:r>
            <a:r>
              <a:rPr sz="2550" spc="-10" dirty="0">
                <a:solidFill>
                  <a:srgbClr val="313131"/>
                </a:solidFill>
                <a:latin typeface="Calibri"/>
                <a:cs typeface="Calibri"/>
              </a:rPr>
              <a:t>vreme</a:t>
            </a:r>
            <a:endParaRPr sz="2550">
              <a:latin typeface="Calibri"/>
              <a:cs typeface="Calibri"/>
            </a:endParaRPr>
          </a:p>
          <a:p>
            <a:pPr marL="182880" marR="189230" algn="ctr">
              <a:lnSpc>
                <a:spcPct val="107100"/>
              </a:lnSpc>
              <a:spcBef>
                <a:spcPts val="60"/>
              </a:spcBef>
            </a:pPr>
            <a:r>
              <a:rPr sz="2550" dirty="0">
                <a:solidFill>
                  <a:srgbClr val="2D2D2D"/>
                </a:solidFill>
                <a:latin typeface="Calibri"/>
                <a:cs typeface="Calibri"/>
              </a:rPr>
              <a:t>pristupa</a:t>
            </a:r>
            <a:r>
              <a:rPr sz="2550" spc="35" dirty="0">
                <a:solidFill>
                  <a:srgbClr val="2D2D2D"/>
                </a:solidFill>
                <a:latin typeface="Calibri"/>
                <a:cs typeface="Calibri"/>
              </a:rPr>
              <a:t> </a:t>
            </a:r>
            <a:r>
              <a:rPr sz="2550" dirty="0">
                <a:solidFill>
                  <a:srgbClr val="363636"/>
                </a:solidFill>
                <a:latin typeface="Calibri"/>
                <a:cs typeface="Calibri"/>
              </a:rPr>
              <a:t>čini</a:t>
            </a:r>
            <a:r>
              <a:rPr sz="2550" spc="-125" dirty="0">
                <a:solidFill>
                  <a:srgbClr val="363636"/>
                </a:solidFill>
                <a:latin typeface="Calibri"/>
                <a:cs typeface="Calibri"/>
              </a:rPr>
              <a:t> </a:t>
            </a:r>
            <a:r>
              <a:rPr sz="2550" spc="-55" dirty="0">
                <a:solidFill>
                  <a:srgbClr val="333333"/>
                </a:solidFill>
                <a:latin typeface="Calibri"/>
                <a:cs typeface="Calibri"/>
              </a:rPr>
              <a:t>B-</a:t>
            </a:r>
            <a:r>
              <a:rPr sz="2550" spc="-20" dirty="0">
                <a:solidFill>
                  <a:srgbClr val="333333"/>
                </a:solidFill>
                <a:latin typeface="Calibri"/>
                <a:cs typeface="Calibri"/>
              </a:rPr>
              <a:t>Tree</a:t>
            </a:r>
            <a:r>
              <a:rPr sz="2550" spc="-65" dirty="0">
                <a:solidFill>
                  <a:srgbClr val="333333"/>
                </a:solidFill>
                <a:latin typeface="Calibri"/>
                <a:cs typeface="Calibri"/>
              </a:rPr>
              <a:t> </a:t>
            </a:r>
            <a:r>
              <a:rPr sz="2550" spc="-10" dirty="0">
                <a:solidFill>
                  <a:srgbClr val="343434"/>
                </a:solidFill>
                <a:latin typeface="Calibri"/>
                <a:cs typeface="Calibri"/>
              </a:rPr>
              <a:t>idealnim</a:t>
            </a:r>
            <a:r>
              <a:rPr sz="2550" spc="-70" dirty="0">
                <a:solidFill>
                  <a:srgbClr val="343434"/>
                </a:solidFill>
                <a:latin typeface="Calibri"/>
                <a:cs typeface="Calibri"/>
              </a:rPr>
              <a:t> </a:t>
            </a:r>
            <a:r>
              <a:rPr sz="2550" spc="40" dirty="0">
                <a:solidFill>
                  <a:srgbClr val="3B3B3B"/>
                </a:solidFill>
                <a:latin typeface="Calibri"/>
                <a:cs typeface="Calibri"/>
              </a:rPr>
              <a:t>za </a:t>
            </a:r>
            <a:r>
              <a:rPr sz="2550" spc="-10" dirty="0">
                <a:solidFill>
                  <a:srgbClr val="313131"/>
                </a:solidFill>
                <a:latin typeface="Calibri"/>
                <a:cs typeface="Calibri"/>
              </a:rPr>
              <a:t>upite</a:t>
            </a:r>
            <a:r>
              <a:rPr sz="2550" spc="-135" dirty="0">
                <a:solidFill>
                  <a:srgbClr val="313131"/>
                </a:solidFill>
                <a:latin typeface="Calibri"/>
                <a:cs typeface="Calibri"/>
              </a:rPr>
              <a:t> </a:t>
            </a:r>
            <a:r>
              <a:rPr sz="2550" dirty="0">
                <a:solidFill>
                  <a:srgbClr val="3B3B3B"/>
                </a:solidFill>
                <a:latin typeface="Calibri"/>
                <a:cs typeface="Calibri"/>
              </a:rPr>
              <a:t>sa</a:t>
            </a:r>
            <a:r>
              <a:rPr sz="2550" spc="-135" dirty="0">
                <a:solidFill>
                  <a:srgbClr val="3B3B3B"/>
                </a:solidFill>
                <a:latin typeface="Calibri"/>
                <a:cs typeface="Calibri"/>
              </a:rPr>
              <a:t> </a:t>
            </a:r>
            <a:r>
              <a:rPr sz="2550" spc="-25" dirty="0">
                <a:solidFill>
                  <a:srgbClr val="333333"/>
                </a:solidFill>
                <a:latin typeface="Calibri"/>
                <a:cs typeface="Calibri"/>
              </a:rPr>
              <a:t>jednakošču,</a:t>
            </a:r>
            <a:r>
              <a:rPr sz="2550" spc="-55" dirty="0">
                <a:solidFill>
                  <a:srgbClr val="333333"/>
                </a:solidFill>
                <a:latin typeface="Calibri"/>
                <a:cs typeface="Calibri"/>
              </a:rPr>
              <a:t> </a:t>
            </a:r>
            <a:r>
              <a:rPr sz="2550" spc="-35" dirty="0">
                <a:solidFill>
                  <a:srgbClr val="343434"/>
                </a:solidFill>
                <a:latin typeface="Calibri"/>
                <a:cs typeface="Calibri"/>
              </a:rPr>
              <a:t>opsegom</a:t>
            </a:r>
            <a:r>
              <a:rPr sz="2550" spc="-5" dirty="0">
                <a:solidFill>
                  <a:srgbClr val="343434"/>
                </a:solidFill>
                <a:latin typeface="Calibri"/>
                <a:cs typeface="Calibri"/>
              </a:rPr>
              <a:t> </a:t>
            </a:r>
            <a:r>
              <a:rPr sz="2550" spc="-50" dirty="0">
                <a:solidFill>
                  <a:srgbClr val="2B4160"/>
                </a:solidFill>
                <a:latin typeface="Calibri"/>
                <a:cs typeface="Calibri"/>
              </a:rPr>
              <a:t>i </a:t>
            </a:r>
            <a:r>
              <a:rPr sz="2550" dirty="0">
                <a:solidFill>
                  <a:srgbClr val="2A2A2A"/>
                </a:solidFill>
                <a:latin typeface="Calibri"/>
                <a:cs typeface="Calibri"/>
              </a:rPr>
              <a:t>sortiranjem</a:t>
            </a:r>
            <a:r>
              <a:rPr sz="2550" spc="35" dirty="0">
                <a:solidFill>
                  <a:srgbClr val="2A2A2A"/>
                </a:solidFill>
                <a:latin typeface="Calibri"/>
                <a:cs typeface="Calibri"/>
              </a:rPr>
              <a:t> </a:t>
            </a:r>
            <a:r>
              <a:rPr sz="2550" spc="85" dirty="0">
                <a:solidFill>
                  <a:srgbClr val="2F2F2F"/>
                </a:solidFill>
                <a:latin typeface="Calibri"/>
                <a:cs typeface="Calibri"/>
              </a:rPr>
              <a:t>(ORDER</a:t>
            </a:r>
            <a:r>
              <a:rPr sz="2550" spc="-145" dirty="0">
                <a:solidFill>
                  <a:srgbClr val="2F2F2F"/>
                </a:solidFill>
                <a:latin typeface="Calibri"/>
                <a:cs typeface="Calibri"/>
              </a:rPr>
              <a:t> </a:t>
            </a:r>
            <a:r>
              <a:rPr sz="2550" spc="45" dirty="0">
                <a:solidFill>
                  <a:srgbClr val="2F2F2F"/>
                </a:solidFill>
                <a:latin typeface="Calibri"/>
                <a:cs typeface="Calibri"/>
              </a:rPr>
              <a:t>BY).</a:t>
            </a:r>
            <a:endParaRPr sz="2550">
              <a:latin typeface="Calibri"/>
              <a:cs typeface="Calibri"/>
            </a:endParaRPr>
          </a:p>
        </p:txBody>
      </p:sp>
      <p:sp>
        <p:nvSpPr>
          <p:cNvPr id="9" name="object 9"/>
          <p:cNvSpPr txBox="1"/>
          <p:nvPr/>
        </p:nvSpPr>
        <p:spPr>
          <a:xfrm>
            <a:off x="13888248" y="6606128"/>
            <a:ext cx="4780915" cy="2059939"/>
          </a:xfrm>
          <a:prstGeom prst="rect">
            <a:avLst/>
          </a:prstGeom>
        </p:spPr>
        <p:txBody>
          <a:bodyPr vert="horz" wrap="square" lIns="0" tIns="0" rIns="0" bIns="0" rtlCol="0">
            <a:spAutoFit/>
          </a:bodyPr>
          <a:lstStyle/>
          <a:p>
            <a:pPr marL="313690" marR="330200" indent="949960">
              <a:lnSpc>
                <a:spcPct val="104099"/>
              </a:lnSpc>
            </a:pPr>
            <a:r>
              <a:rPr sz="2550" spc="185" dirty="0">
                <a:solidFill>
                  <a:srgbClr val="004682"/>
                </a:solidFill>
                <a:latin typeface="Calibri"/>
                <a:cs typeface="Calibri"/>
              </a:rPr>
              <a:t>Dvostruka</a:t>
            </a:r>
            <a:r>
              <a:rPr sz="2550" spc="-275" dirty="0">
                <a:solidFill>
                  <a:srgbClr val="004682"/>
                </a:solidFill>
                <a:latin typeface="Calibri"/>
                <a:cs typeface="Calibri"/>
              </a:rPr>
              <a:t> </a:t>
            </a:r>
            <a:r>
              <a:rPr sz="2550" spc="190" dirty="0">
                <a:solidFill>
                  <a:srgbClr val="034B7E"/>
                </a:solidFill>
                <a:latin typeface="Calibri"/>
                <a:cs typeface="Calibri"/>
              </a:rPr>
              <a:t>lista</a:t>
            </a:r>
            <a:r>
              <a:rPr sz="2550" spc="635" dirty="0">
                <a:solidFill>
                  <a:srgbClr val="034B7E"/>
                </a:solidFill>
                <a:latin typeface="Calibri"/>
                <a:cs typeface="Calibri"/>
              </a:rPr>
              <a:t> </a:t>
            </a:r>
            <a:r>
              <a:rPr sz="2550" dirty="0">
                <a:solidFill>
                  <a:srgbClr val="333333"/>
                </a:solidFill>
                <a:latin typeface="Calibri"/>
                <a:cs typeface="Calibri"/>
              </a:rPr>
              <a:t>Listovi</a:t>
            </a:r>
            <a:r>
              <a:rPr sz="2550" spc="-15" dirty="0">
                <a:solidFill>
                  <a:srgbClr val="333333"/>
                </a:solidFill>
                <a:latin typeface="Calibri"/>
                <a:cs typeface="Calibri"/>
              </a:rPr>
              <a:t> </a:t>
            </a:r>
            <a:r>
              <a:rPr sz="2550" dirty="0">
                <a:solidFill>
                  <a:srgbClr val="3B3B3B"/>
                </a:solidFill>
                <a:latin typeface="Calibri"/>
                <a:cs typeface="Calibri"/>
              </a:rPr>
              <a:t>su</a:t>
            </a:r>
            <a:r>
              <a:rPr sz="2550" spc="-85" dirty="0">
                <a:solidFill>
                  <a:srgbClr val="3B3B3B"/>
                </a:solidFill>
                <a:latin typeface="Calibri"/>
                <a:cs typeface="Calibri"/>
              </a:rPr>
              <a:t> </a:t>
            </a:r>
            <a:r>
              <a:rPr sz="2550" dirty="0">
                <a:solidFill>
                  <a:srgbClr val="313131"/>
                </a:solidFill>
                <a:latin typeface="Calibri"/>
                <a:cs typeface="Calibri"/>
              </a:rPr>
              <a:t>povezani</a:t>
            </a:r>
            <a:r>
              <a:rPr sz="2550" spc="65" dirty="0">
                <a:solidFill>
                  <a:srgbClr val="313131"/>
                </a:solidFill>
                <a:latin typeface="Calibri"/>
                <a:cs typeface="Calibri"/>
              </a:rPr>
              <a:t> </a:t>
            </a:r>
            <a:r>
              <a:rPr sz="2550" spc="90" dirty="0">
                <a:solidFill>
                  <a:srgbClr val="383838"/>
                </a:solidFill>
                <a:latin typeface="Calibri"/>
                <a:cs typeface="Calibri"/>
              </a:rPr>
              <a:t>u</a:t>
            </a:r>
            <a:r>
              <a:rPr sz="2550" spc="-155" dirty="0">
                <a:solidFill>
                  <a:srgbClr val="383838"/>
                </a:solidFill>
                <a:latin typeface="Calibri"/>
                <a:cs typeface="Calibri"/>
              </a:rPr>
              <a:t> </a:t>
            </a:r>
            <a:r>
              <a:rPr sz="2550" spc="-10" dirty="0">
                <a:solidFill>
                  <a:srgbClr val="343434"/>
                </a:solidFill>
                <a:latin typeface="Calibri"/>
                <a:cs typeface="Calibri"/>
              </a:rPr>
              <a:t>dvostruko </a:t>
            </a:r>
            <a:r>
              <a:rPr sz="2550" dirty="0">
                <a:solidFill>
                  <a:srgbClr val="2D2D2D"/>
                </a:solidFill>
                <a:latin typeface="Calibri"/>
                <a:cs typeface="Calibri"/>
              </a:rPr>
              <a:t>ulančanu</a:t>
            </a:r>
            <a:r>
              <a:rPr sz="2550" spc="190" dirty="0">
                <a:solidFill>
                  <a:srgbClr val="2D2D2D"/>
                </a:solidFill>
                <a:latin typeface="Calibri"/>
                <a:cs typeface="Calibri"/>
              </a:rPr>
              <a:t> </a:t>
            </a:r>
            <a:r>
              <a:rPr sz="2550" spc="-20" dirty="0">
                <a:solidFill>
                  <a:srgbClr val="3A3A3A"/>
                </a:solidFill>
                <a:latin typeface="Calibri"/>
                <a:cs typeface="Calibri"/>
              </a:rPr>
              <a:t>listu,</a:t>
            </a:r>
            <a:r>
              <a:rPr sz="2550" spc="-140" dirty="0">
                <a:solidFill>
                  <a:srgbClr val="3A3A3A"/>
                </a:solidFill>
                <a:latin typeface="Calibri"/>
                <a:cs typeface="Calibri"/>
              </a:rPr>
              <a:t> </a:t>
            </a:r>
            <a:r>
              <a:rPr sz="2550" spc="-10" dirty="0" err="1">
                <a:solidFill>
                  <a:srgbClr val="282828"/>
                </a:solidFill>
                <a:latin typeface="Calibri"/>
                <a:cs typeface="Calibri"/>
              </a:rPr>
              <a:t>omogu</a:t>
            </a:r>
            <a:r>
              <a:rPr lang="sr-Latn-RS" sz="2550" spc="-10" dirty="0">
                <a:solidFill>
                  <a:srgbClr val="282828"/>
                </a:solidFill>
                <a:latin typeface="Calibri"/>
                <a:cs typeface="Calibri"/>
              </a:rPr>
              <a:t>ć</a:t>
            </a:r>
            <a:r>
              <a:rPr sz="2550" spc="-10" dirty="0" err="1">
                <a:solidFill>
                  <a:srgbClr val="282828"/>
                </a:solidFill>
                <a:latin typeface="Calibri"/>
                <a:cs typeface="Calibri"/>
              </a:rPr>
              <a:t>avaju</a:t>
            </a:r>
            <a:r>
              <a:rPr lang="sr-Latn-RS" sz="2550" spc="-10" dirty="0">
                <a:solidFill>
                  <a:srgbClr val="282828"/>
                </a:solidFill>
                <a:latin typeface="Calibri"/>
                <a:cs typeface="Calibri"/>
              </a:rPr>
              <a:t>ć</a:t>
            </a:r>
            <a:r>
              <a:rPr sz="2550" spc="-10" dirty="0" err="1">
                <a:solidFill>
                  <a:srgbClr val="282828"/>
                </a:solidFill>
                <a:latin typeface="Calibri"/>
                <a:cs typeface="Calibri"/>
              </a:rPr>
              <a:t>i</a:t>
            </a:r>
            <a:endParaRPr sz="2550" dirty="0">
              <a:latin typeface="Calibri"/>
              <a:cs typeface="Calibri"/>
            </a:endParaRPr>
          </a:p>
          <a:p>
            <a:pPr marL="516890" marR="5080" indent="-504825" algn="ctr">
              <a:lnSpc>
                <a:spcPts val="3340"/>
              </a:lnSpc>
            </a:pPr>
            <a:r>
              <a:rPr sz="2550" dirty="0" err="1">
                <a:solidFill>
                  <a:srgbClr val="343434"/>
                </a:solidFill>
                <a:latin typeface="Calibri"/>
                <a:cs typeface="Calibri"/>
              </a:rPr>
              <a:t>efikasno</a:t>
            </a:r>
            <a:r>
              <a:rPr sz="2550" spc="-65" dirty="0">
                <a:solidFill>
                  <a:srgbClr val="343434"/>
                </a:solidFill>
                <a:latin typeface="Calibri"/>
                <a:cs typeface="Calibri"/>
              </a:rPr>
              <a:t> </a:t>
            </a:r>
            <a:r>
              <a:rPr sz="2550" spc="-10" dirty="0" err="1">
                <a:solidFill>
                  <a:srgbClr val="383838"/>
                </a:solidFill>
                <a:latin typeface="Calibri"/>
                <a:cs typeface="Calibri"/>
              </a:rPr>
              <a:t>sekvenci</a:t>
            </a:r>
            <a:r>
              <a:rPr lang="sr-Latn-RS" sz="2550" spc="-10" dirty="0">
                <a:solidFill>
                  <a:srgbClr val="383838"/>
                </a:solidFill>
                <a:latin typeface="Calibri"/>
                <a:cs typeface="Calibri"/>
              </a:rPr>
              <a:t>jalno</a:t>
            </a:r>
            <a:r>
              <a:rPr sz="2550" spc="-10" dirty="0">
                <a:solidFill>
                  <a:srgbClr val="383838"/>
                </a:solidFill>
                <a:latin typeface="Calibri"/>
                <a:cs typeface="Calibri"/>
              </a:rPr>
              <a:t> </a:t>
            </a:r>
            <a:r>
              <a:rPr sz="2550" spc="-10" dirty="0" err="1">
                <a:solidFill>
                  <a:srgbClr val="343434"/>
                </a:solidFill>
                <a:latin typeface="Calibri"/>
                <a:cs typeface="Calibri"/>
              </a:rPr>
              <a:t>skeniranje</a:t>
            </a:r>
            <a:r>
              <a:rPr sz="2550" spc="-105" dirty="0">
                <a:solidFill>
                  <a:srgbClr val="343434"/>
                </a:solidFill>
                <a:latin typeface="Calibri"/>
                <a:cs typeface="Calibri"/>
              </a:rPr>
              <a:t> </a:t>
            </a:r>
            <a:r>
              <a:rPr lang="sr-Latn-RS" sz="2550" spc="-105" dirty="0">
                <a:solidFill>
                  <a:srgbClr val="343434"/>
                </a:solidFill>
                <a:latin typeface="Calibri"/>
                <a:cs typeface="Calibri"/>
              </a:rPr>
              <a:t>       </a:t>
            </a:r>
            <a:r>
              <a:rPr sz="2550" spc="-20" dirty="0" err="1">
                <a:solidFill>
                  <a:srgbClr val="333333"/>
                </a:solidFill>
                <a:latin typeface="Calibri"/>
                <a:cs typeface="Calibri"/>
              </a:rPr>
              <a:t>opsega</a:t>
            </a:r>
            <a:r>
              <a:rPr sz="2550" spc="-125" dirty="0">
                <a:solidFill>
                  <a:srgbClr val="333333"/>
                </a:solidFill>
                <a:latin typeface="Calibri"/>
                <a:cs typeface="Calibri"/>
              </a:rPr>
              <a:t> </a:t>
            </a:r>
            <a:r>
              <a:rPr sz="2550" spc="-10" dirty="0">
                <a:solidFill>
                  <a:srgbClr val="313131"/>
                </a:solidFill>
                <a:latin typeface="Calibri"/>
                <a:cs typeface="Calibri"/>
              </a:rPr>
              <a:t>vrednosti.</a:t>
            </a:r>
            <a:endParaRPr sz="2550" dirty="0">
              <a:latin typeface="Calibri"/>
              <a:cs typeface="Calibri"/>
            </a:endParaRPr>
          </a:p>
        </p:txBody>
      </p:sp>
      <p:sp>
        <p:nvSpPr>
          <p:cNvPr id="10" name="object 3">
            <a:extLst>
              <a:ext uri="{FF2B5EF4-FFF2-40B4-BE49-F238E27FC236}">
                <a16:creationId xmlns:a16="http://schemas.microsoft.com/office/drawing/2014/main" id="{15439B26-9735-C937-0F54-1874D567CD7C}"/>
              </a:ext>
            </a:extLst>
          </p:cNvPr>
          <p:cNvSpPr txBox="1"/>
          <p:nvPr/>
        </p:nvSpPr>
        <p:spPr>
          <a:xfrm>
            <a:off x="923150" y="3280393"/>
            <a:ext cx="18272900" cy="847155"/>
          </a:xfrm>
          <a:prstGeom prst="rect">
            <a:avLst/>
          </a:prstGeom>
        </p:spPr>
        <p:txBody>
          <a:bodyPr vert="horz" wrap="square" lIns="0" tIns="12065" rIns="0" bIns="0" rtlCol="0">
            <a:spAutoFit/>
          </a:bodyPr>
          <a:lstStyle/>
          <a:p>
            <a:pPr marL="12700" marR="5080" indent="2540">
              <a:lnSpc>
                <a:spcPct val="109100"/>
              </a:lnSpc>
              <a:spcBef>
                <a:spcPts val="95"/>
              </a:spcBef>
            </a:pPr>
            <a:r>
              <a:rPr lang="sr-Latn-RS" sz="2550" dirty="0">
                <a:solidFill>
                  <a:schemeClr val="tx1">
                    <a:lumMod val="75000"/>
                    <a:lumOff val="25000"/>
                  </a:schemeClr>
                </a:solidFill>
                <a:latin typeface="Calibri"/>
                <a:cs typeface="Calibri"/>
              </a:rPr>
              <a:t>Najčešće korišćen tip indeksa u PostgreSQL-u je B-Tree (Balanced Tree) indeks, koji je i podrazumevan kada se kreira indeks naredbom CREATE INDEX</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Struktura</a:t>
            </a:r>
            <a:r>
              <a:rPr lang="en-US" sz="2550" dirty="0">
                <a:solidFill>
                  <a:schemeClr val="tx1">
                    <a:lumMod val="75000"/>
                    <a:lumOff val="25000"/>
                  </a:schemeClr>
                </a:solidFill>
                <a:latin typeface="Calibri"/>
                <a:cs typeface="Calibri"/>
              </a:rPr>
              <a:t> B-Tree </a:t>
            </a:r>
            <a:r>
              <a:rPr lang="en-US" sz="2550" dirty="0" err="1">
                <a:solidFill>
                  <a:schemeClr val="tx1">
                    <a:lumMod val="75000"/>
                    <a:lumOff val="25000"/>
                  </a:schemeClr>
                </a:solidFill>
                <a:latin typeface="Calibri"/>
                <a:cs typeface="Calibri"/>
              </a:rPr>
              <a:t>indeksa</a:t>
            </a:r>
            <a:r>
              <a:rPr lang="en-US" sz="2550" dirty="0">
                <a:solidFill>
                  <a:schemeClr val="tx1">
                    <a:lumMod val="75000"/>
                    <a:lumOff val="25000"/>
                  </a:schemeClr>
                </a:solidFill>
                <a:latin typeface="Calibri"/>
                <a:cs typeface="Calibri"/>
              </a:rPr>
              <a:t> u PostgreSQL-u se </a:t>
            </a:r>
            <a:r>
              <a:rPr lang="en-US" sz="2550" dirty="0" err="1">
                <a:solidFill>
                  <a:schemeClr val="tx1">
                    <a:lumMod val="75000"/>
                    <a:lumOff val="25000"/>
                  </a:schemeClr>
                </a:solidFill>
                <a:latin typeface="Calibri"/>
                <a:cs typeface="Calibri"/>
              </a:rPr>
              <a:t>zove</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nxtBTree</a:t>
            </a:r>
            <a:r>
              <a:rPr lang="en-US" sz="2550" dirty="0">
                <a:solidFill>
                  <a:schemeClr val="tx1">
                    <a:lumMod val="75000"/>
                    <a:lumOff val="25000"/>
                  </a:schemeClr>
                </a:solidFill>
                <a:latin typeface="Calibri"/>
                <a:cs typeface="Calibri"/>
              </a:rPr>
              <a:t>.</a:t>
            </a:r>
            <a:endParaRPr sz="2550" dirty="0">
              <a:solidFill>
                <a:schemeClr val="tx1">
                  <a:lumMod val="75000"/>
                  <a:lumOff val="25000"/>
                </a:schemeClr>
              </a:solidFill>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79413" rIns="0" bIns="0" rtlCol="0">
            <a:spAutoFit/>
          </a:bodyPr>
          <a:lstStyle/>
          <a:p>
            <a:pPr>
              <a:lnSpc>
                <a:spcPct val="100000"/>
              </a:lnSpc>
              <a:spcBef>
                <a:spcPts val="110"/>
              </a:spcBef>
            </a:pPr>
            <a:r>
              <a:rPr b="1" spc="-229" dirty="0">
                <a:solidFill>
                  <a:srgbClr val="004F85"/>
                </a:solidFill>
                <a:latin typeface="Cambria"/>
                <a:cs typeface="Cambria"/>
              </a:rPr>
              <a:t>Index-</a:t>
            </a:r>
            <a:r>
              <a:rPr b="1" spc="-90" dirty="0">
                <a:solidFill>
                  <a:srgbClr val="004F85"/>
                </a:solidFill>
                <a:latin typeface="Cambria"/>
                <a:cs typeface="Cambria"/>
              </a:rPr>
              <a:t>Only</a:t>
            </a:r>
            <a:r>
              <a:rPr b="1" spc="-25" dirty="0">
                <a:solidFill>
                  <a:srgbClr val="004F85"/>
                </a:solidFill>
                <a:latin typeface="Cambria"/>
                <a:cs typeface="Cambria"/>
              </a:rPr>
              <a:t> </a:t>
            </a:r>
            <a:r>
              <a:rPr b="1" spc="-110" dirty="0">
                <a:solidFill>
                  <a:srgbClr val="054D80"/>
                </a:solidFill>
                <a:latin typeface="Cambria"/>
                <a:cs typeface="Cambria"/>
              </a:rPr>
              <a:t>Scan</a:t>
            </a:r>
            <a:r>
              <a:rPr b="1" spc="-235" dirty="0">
                <a:solidFill>
                  <a:srgbClr val="054D80"/>
                </a:solidFill>
                <a:latin typeface="Cambria"/>
                <a:cs typeface="Cambria"/>
              </a:rPr>
              <a:t> </a:t>
            </a:r>
            <a:r>
              <a:rPr b="1" dirty="0">
                <a:solidFill>
                  <a:srgbClr val="004F89"/>
                </a:solidFill>
                <a:latin typeface="Cambria"/>
                <a:cs typeface="Cambria"/>
              </a:rPr>
              <a:t>i</a:t>
            </a:r>
            <a:r>
              <a:rPr b="1" spc="-345" dirty="0">
                <a:solidFill>
                  <a:srgbClr val="004F89"/>
                </a:solidFill>
                <a:latin typeface="Cambria"/>
                <a:cs typeface="Cambria"/>
              </a:rPr>
              <a:t> </a:t>
            </a:r>
            <a:r>
              <a:rPr b="1" spc="-335" dirty="0">
                <a:solidFill>
                  <a:srgbClr val="004F87"/>
                </a:solidFill>
                <a:latin typeface="Cambria"/>
                <a:cs typeface="Cambria"/>
              </a:rPr>
              <a:t>pokrivanje</a:t>
            </a:r>
          </a:p>
        </p:txBody>
      </p:sp>
      <p:sp>
        <p:nvSpPr>
          <p:cNvPr id="3" name="object 3"/>
          <p:cNvSpPr txBox="1"/>
          <p:nvPr/>
        </p:nvSpPr>
        <p:spPr>
          <a:xfrm>
            <a:off x="1471916" y="3633131"/>
            <a:ext cx="15703550" cy="1997710"/>
          </a:xfrm>
          <a:prstGeom prst="rect">
            <a:avLst/>
          </a:prstGeom>
        </p:spPr>
        <p:txBody>
          <a:bodyPr vert="horz" wrap="square" lIns="0" tIns="354330" rIns="0" bIns="0" rtlCol="0">
            <a:spAutoFit/>
          </a:bodyPr>
          <a:lstStyle/>
          <a:p>
            <a:pPr marL="26034">
              <a:lnSpc>
                <a:spcPct val="100000"/>
              </a:lnSpc>
              <a:spcBef>
                <a:spcPts val="2790"/>
              </a:spcBef>
            </a:pPr>
            <a:r>
              <a:rPr sz="3850" b="1" spc="-85" dirty="0">
                <a:solidFill>
                  <a:srgbClr val="0A507C"/>
                </a:solidFill>
                <a:latin typeface="Times New Roman"/>
                <a:cs typeface="Times New Roman"/>
              </a:rPr>
              <a:t>Izbegavanje</a:t>
            </a:r>
            <a:r>
              <a:rPr sz="3850" b="1" spc="-90" dirty="0">
                <a:solidFill>
                  <a:srgbClr val="0A507C"/>
                </a:solidFill>
                <a:latin typeface="Times New Roman"/>
                <a:cs typeface="Times New Roman"/>
              </a:rPr>
              <a:t> </a:t>
            </a:r>
            <a:r>
              <a:rPr sz="3850" b="1" spc="-114" dirty="0">
                <a:solidFill>
                  <a:srgbClr val="05547E"/>
                </a:solidFill>
                <a:latin typeface="Times New Roman"/>
                <a:cs typeface="Times New Roman"/>
              </a:rPr>
              <a:t>Random</a:t>
            </a:r>
            <a:r>
              <a:rPr sz="3850" b="1" spc="-105" dirty="0">
                <a:solidFill>
                  <a:srgbClr val="05547E"/>
                </a:solidFill>
                <a:latin typeface="Times New Roman"/>
                <a:cs typeface="Times New Roman"/>
              </a:rPr>
              <a:t> </a:t>
            </a:r>
            <a:r>
              <a:rPr sz="3850" b="1" spc="-340" dirty="0">
                <a:solidFill>
                  <a:srgbClr val="004B82"/>
                </a:solidFill>
                <a:latin typeface="Times New Roman"/>
                <a:cs typeface="Times New Roman"/>
              </a:rPr>
              <a:t>I/O</a:t>
            </a:r>
            <a:r>
              <a:rPr sz="3850" b="1" spc="-155" dirty="0">
                <a:solidFill>
                  <a:srgbClr val="004B82"/>
                </a:solidFill>
                <a:latin typeface="Times New Roman"/>
                <a:cs typeface="Times New Roman"/>
              </a:rPr>
              <a:t> </a:t>
            </a:r>
            <a:r>
              <a:rPr sz="3850" b="1" spc="-10" dirty="0">
                <a:solidFill>
                  <a:srgbClr val="004F8C"/>
                </a:solidFill>
                <a:latin typeface="Times New Roman"/>
                <a:cs typeface="Times New Roman"/>
              </a:rPr>
              <a:t>pristupa</a:t>
            </a:r>
            <a:endParaRPr sz="3850" dirty="0">
              <a:latin typeface="Times New Roman"/>
              <a:cs typeface="Times New Roman"/>
            </a:endParaRPr>
          </a:p>
          <a:p>
            <a:pPr marL="12700" marR="5080" indent="3810">
              <a:lnSpc>
                <a:spcPct val="109100"/>
              </a:lnSpc>
              <a:spcBef>
                <a:spcPts val="1530"/>
              </a:spcBef>
            </a:pPr>
            <a:r>
              <a:rPr sz="2550" spc="160" dirty="0">
                <a:solidFill>
                  <a:schemeClr val="tx1">
                    <a:lumMod val="75000"/>
                    <a:lumOff val="25000"/>
                  </a:schemeClr>
                </a:solidFill>
                <a:latin typeface="Calibri"/>
                <a:cs typeface="Calibri"/>
              </a:rPr>
              <a:t>U</a:t>
            </a:r>
            <a:r>
              <a:rPr sz="2550" spc="-14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standardnom</a:t>
            </a:r>
            <a:r>
              <a:rPr sz="2550" spc="22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Index</a:t>
            </a:r>
            <a:r>
              <a:rPr sz="2550" spc="6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Scan-u,</a:t>
            </a:r>
            <a:r>
              <a:rPr sz="2550" spc="-7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baza</a:t>
            </a:r>
            <a:r>
              <a:rPr sz="2550" spc="-25" dirty="0">
                <a:solidFill>
                  <a:schemeClr val="tx1">
                    <a:lumMod val="75000"/>
                    <a:lumOff val="25000"/>
                  </a:schemeClr>
                </a:solidFill>
                <a:latin typeface="Calibri"/>
                <a:cs typeface="Calibri"/>
              </a:rPr>
              <a:t> </a:t>
            </a:r>
            <a:r>
              <a:rPr sz="2550" spc="50" dirty="0">
                <a:solidFill>
                  <a:schemeClr val="tx1">
                    <a:lumMod val="75000"/>
                    <a:lumOff val="25000"/>
                  </a:schemeClr>
                </a:solidFill>
                <a:latin typeface="Calibri"/>
                <a:cs typeface="Calibri"/>
              </a:rPr>
              <a:t>čita</a:t>
            </a:r>
            <a:r>
              <a:rPr sz="2550" spc="-95" dirty="0">
                <a:solidFill>
                  <a:schemeClr val="tx1">
                    <a:lumMod val="75000"/>
                    <a:lumOff val="25000"/>
                  </a:schemeClr>
                </a:solidFill>
                <a:latin typeface="Calibri"/>
                <a:cs typeface="Calibri"/>
              </a:rPr>
              <a:t> </a:t>
            </a:r>
            <a:r>
              <a:rPr sz="2550" spc="65" dirty="0">
                <a:solidFill>
                  <a:schemeClr val="tx1">
                    <a:lumMod val="75000"/>
                    <a:lumOff val="25000"/>
                  </a:schemeClr>
                </a:solidFill>
                <a:latin typeface="Calibri"/>
                <a:cs typeface="Calibri"/>
              </a:rPr>
              <a:t>TID</a:t>
            </a:r>
            <a:r>
              <a:rPr sz="2550" spc="9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iz</a:t>
            </a:r>
            <a:r>
              <a:rPr sz="2550" spc="-15" dirty="0">
                <a:solidFill>
                  <a:schemeClr val="tx1">
                    <a:lumMod val="75000"/>
                    <a:lumOff val="25000"/>
                  </a:schemeClr>
                </a:solidFill>
                <a:latin typeface="Calibri"/>
                <a:cs typeface="Calibri"/>
              </a:rPr>
              <a:t> </a:t>
            </a:r>
            <a:r>
              <a:rPr sz="2550" spc="-10" dirty="0">
                <a:solidFill>
                  <a:schemeClr val="tx1">
                    <a:lumMod val="75000"/>
                    <a:lumOff val="25000"/>
                  </a:schemeClr>
                </a:solidFill>
                <a:latin typeface="Calibri"/>
                <a:cs typeface="Calibri"/>
              </a:rPr>
              <a:t>indeksa, </a:t>
            </a:r>
            <a:r>
              <a:rPr sz="2550" dirty="0">
                <a:solidFill>
                  <a:schemeClr val="tx1">
                    <a:lumMod val="75000"/>
                    <a:lumOff val="25000"/>
                  </a:schemeClr>
                </a:solidFill>
                <a:latin typeface="Calibri"/>
                <a:cs typeface="Calibri"/>
              </a:rPr>
              <a:t>a</a:t>
            </a:r>
            <a:r>
              <a:rPr sz="2550" spc="-17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zatim</a:t>
            </a:r>
            <a:r>
              <a:rPr sz="2550" spc="10" dirty="0">
                <a:solidFill>
                  <a:schemeClr val="tx1">
                    <a:lumMod val="75000"/>
                    <a:lumOff val="25000"/>
                  </a:schemeClr>
                </a:solidFill>
                <a:latin typeface="Calibri"/>
                <a:cs typeface="Calibri"/>
              </a:rPr>
              <a:t> </a:t>
            </a:r>
            <a:r>
              <a:rPr sz="2550" spc="55" dirty="0">
                <a:solidFill>
                  <a:schemeClr val="tx1">
                    <a:lumMod val="75000"/>
                    <a:lumOff val="25000"/>
                  </a:schemeClr>
                </a:solidFill>
                <a:latin typeface="Calibri"/>
                <a:cs typeface="Calibri"/>
              </a:rPr>
              <a:t>vrši</a:t>
            </a:r>
            <a:r>
              <a:rPr sz="2550" spc="-15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Heap</a:t>
            </a:r>
            <a:r>
              <a:rPr sz="2550" spc="-13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Fetch</a:t>
            </a:r>
            <a:r>
              <a:rPr sz="2550" spc="-85" dirty="0">
                <a:solidFill>
                  <a:schemeClr val="tx1">
                    <a:lumMod val="75000"/>
                    <a:lumOff val="25000"/>
                  </a:schemeClr>
                </a:solidFill>
                <a:latin typeface="Calibri"/>
                <a:cs typeface="Calibri"/>
              </a:rPr>
              <a:t> </a:t>
            </a:r>
            <a:r>
              <a:rPr sz="2550" spc="65" dirty="0">
                <a:solidFill>
                  <a:schemeClr val="tx1">
                    <a:lumMod val="75000"/>
                    <a:lumOff val="25000"/>
                  </a:schemeClr>
                </a:solidFill>
                <a:latin typeface="Calibri"/>
                <a:cs typeface="Calibri"/>
              </a:rPr>
              <a:t>za</a:t>
            </a:r>
            <a:r>
              <a:rPr sz="2550" spc="-8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svaku</a:t>
            </a:r>
            <a:r>
              <a:rPr sz="2550" spc="2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stranicu</a:t>
            </a:r>
            <a:r>
              <a:rPr sz="2550" spc="160" dirty="0">
                <a:solidFill>
                  <a:schemeClr val="tx1">
                    <a:lumMod val="75000"/>
                    <a:lumOff val="25000"/>
                  </a:schemeClr>
                </a:solidFill>
                <a:latin typeface="Calibri"/>
                <a:cs typeface="Calibri"/>
              </a:rPr>
              <a:t> </a:t>
            </a:r>
            <a:r>
              <a:rPr sz="2550" spc="-40" dirty="0">
                <a:solidFill>
                  <a:schemeClr val="tx1">
                    <a:lumMod val="75000"/>
                    <a:lumOff val="25000"/>
                  </a:schemeClr>
                </a:solidFill>
                <a:latin typeface="Calibri"/>
                <a:cs typeface="Calibri"/>
              </a:rPr>
              <a:t>tabele.</a:t>
            </a:r>
            <a:r>
              <a:rPr sz="2550" spc="-9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Random</a:t>
            </a:r>
            <a:r>
              <a:rPr sz="2550" spc="13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I/O</a:t>
            </a:r>
            <a:r>
              <a:rPr sz="2550" spc="-85" dirty="0">
                <a:solidFill>
                  <a:schemeClr val="tx1">
                    <a:lumMod val="75000"/>
                    <a:lumOff val="25000"/>
                  </a:schemeClr>
                </a:solidFill>
                <a:latin typeface="Calibri"/>
                <a:cs typeface="Calibri"/>
              </a:rPr>
              <a:t> </a:t>
            </a:r>
            <a:r>
              <a:rPr sz="2550" spc="-25" dirty="0">
                <a:solidFill>
                  <a:schemeClr val="tx1">
                    <a:lumMod val="75000"/>
                    <a:lumOff val="25000"/>
                  </a:schemeClr>
                </a:solidFill>
                <a:latin typeface="Calibri"/>
                <a:cs typeface="Calibri"/>
              </a:rPr>
              <a:t>je </a:t>
            </a:r>
            <a:r>
              <a:rPr sz="2550" dirty="0">
                <a:solidFill>
                  <a:schemeClr val="tx1">
                    <a:lumMod val="75000"/>
                    <a:lumOff val="25000"/>
                  </a:schemeClr>
                </a:solidFill>
                <a:latin typeface="Calibri"/>
                <a:cs typeface="Calibri"/>
              </a:rPr>
              <a:t>dominantan</a:t>
            </a:r>
            <a:r>
              <a:rPr sz="2550" spc="25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trošak</a:t>
            </a:r>
            <a:r>
              <a:rPr sz="2550" spc="45" dirty="0">
                <a:solidFill>
                  <a:schemeClr val="tx1">
                    <a:lumMod val="75000"/>
                    <a:lumOff val="25000"/>
                  </a:schemeClr>
                </a:solidFill>
                <a:latin typeface="Calibri"/>
                <a:cs typeface="Calibri"/>
              </a:rPr>
              <a:t> </a:t>
            </a:r>
            <a:r>
              <a:rPr sz="2550" spc="-20" dirty="0">
                <a:solidFill>
                  <a:schemeClr val="tx1">
                    <a:lumMod val="75000"/>
                    <a:lumOff val="25000"/>
                  </a:schemeClr>
                </a:solidFill>
                <a:latin typeface="Calibri"/>
                <a:cs typeface="Calibri"/>
              </a:rPr>
              <a:t>kod</a:t>
            </a:r>
            <a:r>
              <a:rPr sz="2550" spc="-5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velikih</a:t>
            </a:r>
            <a:r>
              <a:rPr sz="2550" spc="-5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rezultata.</a:t>
            </a:r>
            <a:r>
              <a:rPr sz="2550" spc="6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Index-Only</a:t>
            </a:r>
            <a:r>
              <a:rPr sz="2550" spc="21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Scan</a:t>
            </a:r>
            <a:r>
              <a:rPr sz="2550" spc="-35" dirty="0">
                <a:solidFill>
                  <a:schemeClr val="tx1">
                    <a:lumMod val="75000"/>
                    <a:lumOff val="25000"/>
                  </a:schemeClr>
                </a:solidFill>
                <a:latin typeface="Calibri"/>
                <a:cs typeface="Calibri"/>
              </a:rPr>
              <a:t> </a:t>
            </a:r>
            <a:r>
              <a:rPr sz="2550" spc="-10" dirty="0">
                <a:solidFill>
                  <a:schemeClr val="tx1">
                    <a:lumMod val="75000"/>
                    <a:lumOff val="25000"/>
                  </a:schemeClr>
                </a:solidFill>
                <a:latin typeface="Calibri"/>
                <a:cs typeface="Calibri"/>
              </a:rPr>
              <a:t>eliminiše</a:t>
            </a:r>
            <a:r>
              <a:rPr sz="2550" spc="-45"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ovaj</a:t>
            </a:r>
            <a:r>
              <a:rPr sz="2550" spc="-4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korak</a:t>
            </a:r>
            <a:r>
              <a:rPr sz="2550" spc="45" dirty="0">
                <a:solidFill>
                  <a:schemeClr val="tx1">
                    <a:lumMod val="75000"/>
                    <a:lumOff val="25000"/>
                  </a:schemeClr>
                </a:solidFill>
                <a:latin typeface="Calibri"/>
                <a:cs typeface="Calibri"/>
              </a:rPr>
              <a:t> </a:t>
            </a:r>
            <a:r>
              <a:rPr sz="2550" spc="-35" dirty="0">
                <a:solidFill>
                  <a:schemeClr val="tx1">
                    <a:lumMod val="75000"/>
                    <a:lumOff val="25000"/>
                  </a:schemeClr>
                </a:solidFill>
                <a:latin typeface="Calibri"/>
                <a:cs typeface="Calibri"/>
              </a:rPr>
              <a:t>ako </a:t>
            </a:r>
            <a:r>
              <a:rPr sz="2550" dirty="0">
                <a:solidFill>
                  <a:schemeClr val="tx1">
                    <a:lumMod val="75000"/>
                    <a:lumOff val="25000"/>
                  </a:schemeClr>
                </a:solidFill>
                <a:latin typeface="Calibri"/>
                <a:cs typeface="Calibri"/>
              </a:rPr>
              <a:t>su</a:t>
            </a:r>
            <a:r>
              <a:rPr sz="2550" spc="-9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svi</a:t>
            </a:r>
            <a:r>
              <a:rPr sz="2550" spc="-160" dirty="0">
                <a:solidFill>
                  <a:schemeClr val="tx1">
                    <a:lumMod val="75000"/>
                    <a:lumOff val="25000"/>
                  </a:schemeClr>
                </a:solidFill>
                <a:latin typeface="Calibri"/>
                <a:cs typeface="Calibri"/>
              </a:rPr>
              <a:t> </a:t>
            </a:r>
            <a:r>
              <a:rPr sz="2550" dirty="0">
                <a:solidFill>
                  <a:schemeClr val="tx1">
                    <a:lumMod val="75000"/>
                    <a:lumOff val="25000"/>
                  </a:schemeClr>
                </a:solidFill>
                <a:latin typeface="Calibri"/>
                <a:cs typeface="Calibri"/>
              </a:rPr>
              <a:t>potrebni</a:t>
            </a:r>
            <a:r>
              <a:rPr sz="2550" spc="-10" dirty="0">
                <a:solidFill>
                  <a:schemeClr val="tx1">
                    <a:lumMod val="75000"/>
                    <a:lumOff val="25000"/>
                  </a:schemeClr>
                </a:solidFill>
                <a:latin typeface="Calibri"/>
                <a:cs typeface="Calibri"/>
              </a:rPr>
              <a:t> </a:t>
            </a:r>
            <a:r>
              <a:rPr sz="2550" dirty="0" err="1">
                <a:solidFill>
                  <a:schemeClr val="tx1">
                    <a:lumMod val="75000"/>
                    <a:lumOff val="25000"/>
                  </a:schemeClr>
                </a:solidFill>
                <a:latin typeface="Calibri"/>
                <a:cs typeface="Calibri"/>
              </a:rPr>
              <a:t>podaci</a:t>
            </a:r>
            <a:r>
              <a:rPr sz="2550" spc="-30" dirty="0">
                <a:solidFill>
                  <a:schemeClr val="tx1">
                    <a:lumMod val="75000"/>
                    <a:lumOff val="25000"/>
                  </a:schemeClr>
                </a:solidFill>
                <a:latin typeface="Calibri"/>
                <a:cs typeface="Calibri"/>
              </a:rPr>
              <a:t> </a:t>
            </a:r>
            <a:r>
              <a:rPr sz="2550" dirty="0" err="1">
                <a:solidFill>
                  <a:schemeClr val="tx1">
                    <a:lumMod val="75000"/>
                    <a:lumOff val="25000"/>
                  </a:schemeClr>
                </a:solidFill>
                <a:latin typeface="Calibri"/>
                <a:cs typeface="Calibri"/>
              </a:rPr>
              <a:t>ve</a:t>
            </a:r>
            <a:r>
              <a:rPr lang="sr-Latn-RS" sz="2550" dirty="0">
                <a:solidFill>
                  <a:schemeClr val="tx1">
                    <a:lumMod val="75000"/>
                    <a:lumOff val="25000"/>
                  </a:schemeClr>
                </a:solidFill>
                <a:latin typeface="Calibri"/>
                <a:cs typeface="Calibri"/>
              </a:rPr>
              <a:t>ć</a:t>
            </a:r>
            <a:r>
              <a:rPr sz="2550" spc="-80" dirty="0">
                <a:solidFill>
                  <a:schemeClr val="tx1">
                    <a:lumMod val="75000"/>
                    <a:lumOff val="25000"/>
                  </a:schemeClr>
                </a:solidFill>
                <a:latin typeface="Calibri"/>
                <a:cs typeface="Calibri"/>
              </a:rPr>
              <a:t> </a:t>
            </a:r>
            <a:r>
              <a:rPr sz="2550" spc="90" dirty="0">
                <a:solidFill>
                  <a:schemeClr val="tx1">
                    <a:lumMod val="75000"/>
                    <a:lumOff val="25000"/>
                  </a:schemeClr>
                </a:solidFill>
                <a:latin typeface="Calibri"/>
                <a:cs typeface="Calibri"/>
              </a:rPr>
              <a:t>u</a:t>
            </a:r>
            <a:r>
              <a:rPr sz="2550" spc="-135" dirty="0">
                <a:solidFill>
                  <a:schemeClr val="tx1">
                    <a:lumMod val="75000"/>
                    <a:lumOff val="25000"/>
                  </a:schemeClr>
                </a:solidFill>
                <a:latin typeface="Calibri"/>
                <a:cs typeface="Calibri"/>
              </a:rPr>
              <a:t> </a:t>
            </a:r>
            <a:r>
              <a:rPr sz="2550" spc="-10" dirty="0">
                <a:solidFill>
                  <a:schemeClr val="tx1">
                    <a:lumMod val="75000"/>
                    <a:lumOff val="25000"/>
                  </a:schemeClr>
                </a:solidFill>
                <a:latin typeface="Calibri"/>
                <a:cs typeface="Calibri"/>
              </a:rPr>
              <a:t>indeksu.</a:t>
            </a:r>
            <a:endParaRPr sz="2550" dirty="0">
              <a:solidFill>
                <a:schemeClr val="tx1">
                  <a:lumMod val="75000"/>
                  <a:lumOff val="25000"/>
                </a:schemeClr>
              </a:solidFill>
              <a:latin typeface="Calibri"/>
              <a:cs typeface="Calibri"/>
            </a:endParaRPr>
          </a:p>
        </p:txBody>
      </p:sp>
      <p:sp>
        <p:nvSpPr>
          <p:cNvPr id="4" name="object 4"/>
          <p:cNvSpPr txBox="1"/>
          <p:nvPr/>
        </p:nvSpPr>
        <p:spPr>
          <a:xfrm>
            <a:off x="1472867" y="6824133"/>
            <a:ext cx="7842884" cy="1205971"/>
          </a:xfrm>
          <a:prstGeom prst="rect">
            <a:avLst/>
          </a:prstGeom>
        </p:spPr>
        <p:txBody>
          <a:bodyPr vert="horz" wrap="square" lIns="0" tIns="17145" rIns="0" bIns="0" rtlCol="0">
            <a:spAutoFit/>
          </a:bodyPr>
          <a:lstStyle/>
          <a:p>
            <a:pPr marL="12700">
              <a:lnSpc>
                <a:spcPct val="100000"/>
              </a:lnSpc>
              <a:spcBef>
                <a:spcPts val="135"/>
              </a:spcBef>
            </a:pPr>
            <a:r>
              <a:rPr sz="3700" b="1" spc="-140" dirty="0" err="1">
                <a:solidFill>
                  <a:srgbClr val="004F87"/>
                </a:solidFill>
                <a:latin typeface="Cambria"/>
                <a:cs typeface="Cambria"/>
              </a:rPr>
              <a:t>Pokrivaju</a:t>
            </a:r>
            <a:r>
              <a:rPr lang="sr-Latn-RS" sz="3700" b="1" spc="-140" dirty="0">
                <a:solidFill>
                  <a:srgbClr val="004F87"/>
                </a:solidFill>
                <a:latin typeface="Cambria"/>
                <a:cs typeface="Cambria"/>
              </a:rPr>
              <a:t>ć</a:t>
            </a:r>
            <a:r>
              <a:rPr sz="3700" b="1" spc="-140" dirty="0" err="1">
                <a:solidFill>
                  <a:srgbClr val="004F87"/>
                </a:solidFill>
                <a:latin typeface="Cambria"/>
                <a:cs typeface="Cambria"/>
              </a:rPr>
              <a:t>i</a:t>
            </a:r>
            <a:r>
              <a:rPr sz="3700" b="1" dirty="0">
                <a:solidFill>
                  <a:srgbClr val="004F87"/>
                </a:solidFill>
                <a:latin typeface="Cambria"/>
                <a:cs typeface="Cambria"/>
              </a:rPr>
              <a:t> </a:t>
            </a:r>
            <a:r>
              <a:rPr sz="3700" b="1" spc="-160" dirty="0">
                <a:solidFill>
                  <a:srgbClr val="014D82"/>
                </a:solidFill>
                <a:latin typeface="Cambria"/>
                <a:cs typeface="Cambria"/>
              </a:rPr>
              <a:t>indeks</a:t>
            </a:r>
            <a:r>
              <a:rPr sz="3700" b="1" spc="-55" dirty="0">
                <a:solidFill>
                  <a:srgbClr val="014D82"/>
                </a:solidFill>
                <a:latin typeface="Cambria"/>
                <a:cs typeface="Cambria"/>
              </a:rPr>
              <a:t> </a:t>
            </a:r>
            <a:r>
              <a:rPr sz="3700" b="1" spc="-60" dirty="0">
                <a:solidFill>
                  <a:srgbClr val="015285"/>
                </a:solidFill>
                <a:latin typeface="Cambria"/>
                <a:cs typeface="Cambria"/>
              </a:rPr>
              <a:t>(Covering)</a:t>
            </a:r>
            <a:endParaRPr sz="3700" dirty="0">
              <a:latin typeface="Cambria"/>
              <a:cs typeface="Cambria"/>
            </a:endParaRPr>
          </a:p>
          <a:p>
            <a:pPr marL="17780" marR="5080" indent="4445">
              <a:lnSpc>
                <a:spcPct val="107100"/>
              </a:lnSpc>
              <a:spcBef>
                <a:spcPts val="1685"/>
              </a:spcBef>
            </a:pPr>
            <a:r>
              <a:rPr sz="2550" dirty="0">
                <a:solidFill>
                  <a:srgbClr val="2D2D2D"/>
                </a:solidFill>
                <a:latin typeface="Calibri"/>
                <a:cs typeface="Calibri"/>
              </a:rPr>
              <a:t>Indeks</a:t>
            </a:r>
            <a:r>
              <a:rPr sz="2550" spc="-55" dirty="0">
                <a:solidFill>
                  <a:srgbClr val="2D2D2D"/>
                </a:solidFill>
                <a:latin typeface="Calibri"/>
                <a:cs typeface="Calibri"/>
              </a:rPr>
              <a:t> </a:t>
            </a:r>
            <a:r>
              <a:rPr sz="2550" dirty="0">
                <a:solidFill>
                  <a:srgbClr val="2D2D2D"/>
                </a:solidFill>
                <a:latin typeface="Calibri"/>
                <a:cs typeface="Calibri"/>
              </a:rPr>
              <a:t>koji</a:t>
            </a:r>
            <a:r>
              <a:rPr sz="2550" spc="-95" dirty="0">
                <a:solidFill>
                  <a:srgbClr val="2D2D2D"/>
                </a:solidFill>
                <a:latin typeface="Calibri"/>
                <a:cs typeface="Calibri"/>
              </a:rPr>
              <a:t> </a:t>
            </a:r>
            <a:r>
              <a:rPr sz="2550" dirty="0">
                <a:solidFill>
                  <a:srgbClr val="343434"/>
                </a:solidFill>
                <a:latin typeface="Calibri"/>
                <a:cs typeface="Calibri"/>
              </a:rPr>
              <a:t>sadrži</a:t>
            </a:r>
            <a:r>
              <a:rPr sz="2550" spc="-30" dirty="0">
                <a:solidFill>
                  <a:srgbClr val="343434"/>
                </a:solidFill>
                <a:latin typeface="Calibri"/>
                <a:cs typeface="Calibri"/>
              </a:rPr>
              <a:t> </a:t>
            </a:r>
            <a:r>
              <a:rPr sz="2550" dirty="0">
                <a:solidFill>
                  <a:srgbClr val="3B3B3B"/>
                </a:solidFill>
                <a:latin typeface="Calibri"/>
                <a:cs typeface="Calibri"/>
              </a:rPr>
              <a:t>sve</a:t>
            </a:r>
            <a:r>
              <a:rPr sz="2550" spc="-90" dirty="0">
                <a:solidFill>
                  <a:srgbClr val="3B3B3B"/>
                </a:solidFill>
                <a:latin typeface="Calibri"/>
                <a:cs typeface="Calibri"/>
              </a:rPr>
              <a:t> </a:t>
            </a:r>
            <a:r>
              <a:rPr sz="2550" spc="-10" dirty="0">
                <a:solidFill>
                  <a:srgbClr val="2D2D2D"/>
                </a:solidFill>
                <a:latin typeface="Calibri"/>
                <a:cs typeface="Calibri"/>
              </a:rPr>
              <a:t>kolone</a:t>
            </a:r>
            <a:r>
              <a:rPr sz="2550" spc="30" dirty="0">
                <a:solidFill>
                  <a:srgbClr val="2D2D2D"/>
                </a:solidFill>
                <a:latin typeface="Calibri"/>
                <a:cs typeface="Calibri"/>
              </a:rPr>
              <a:t> </a:t>
            </a:r>
            <a:r>
              <a:rPr sz="2550" spc="-45" dirty="0">
                <a:solidFill>
                  <a:srgbClr val="383838"/>
                </a:solidFill>
                <a:latin typeface="Calibri"/>
                <a:cs typeface="Calibri"/>
              </a:rPr>
              <a:t>koje</a:t>
            </a:r>
            <a:r>
              <a:rPr sz="2550" spc="-90" dirty="0">
                <a:solidFill>
                  <a:srgbClr val="383838"/>
                </a:solidFill>
                <a:latin typeface="Calibri"/>
                <a:cs typeface="Calibri"/>
              </a:rPr>
              <a:t> </a:t>
            </a:r>
            <a:r>
              <a:rPr sz="2550" dirty="0">
                <a:solidFill>
                  <a:srgbClr val="343434"/>
                </a:solidFill>
                <a:latin typeface="Calibri"/>
                <a:cs typeface="Calibri"/>
              </a:rPr>
              <a:t>upit</a:t>
            </a:r>
            <a:r>
              <a:rPr sz="2550" spc="40" dirty="0">
                <a:solidFill>
                  <a:srgbClr val="343434"/>
                </a:solidFill>
                <a:latin typeface="Calibri"/>
                <a:cs typeface="Calibri"/>
              </a:rPr>
              <a:t> </a:t>
            </a:r>
            <a:r>
              <a:rPr sz="2550" dirty="0" err="1">
                <a:solidFill>
                  <a:srgbClr val="343434"/>
                </a:solidFill>
                <a:latin typeface="Calibri"/>
                <a:cs typeface="Calibri"/>
              </a:rPr>
              <a:t>traži</a:t>
            </a:r>
            <a:r>
              <a:rPr sz="2550" dirty="0">
                <a:solidFill>
                  <a:srgbClr val="343434"/>
                </a:solidFill>
                <a:latin typeface="Calibri"/>
                <a:cs typeface="Calibri"/>
              </a:rPr>
              <a:t>.</a:t>
            </a:r>
            <a:endParaRPr sz="2550" dirty="0">
              <a:latin typeface="Calibri"/>
              <a:cs typeface="Calibri"/>
            </a:endParaRPr>
          </a:p>
        </p:txBody>
      </p:sp>
      <p:sp>
        <p:nvSpPr>
          <p:cNvPr id="5" name="object 5"/>
          <p:cNvSpPr txBox="1"/>
          <p:nvPr/>
        </p:nvSpPr>
        <p:spPr>
          <a:xfrm>
            <a:off x="10739601" y="6824133"/>
            <a:ext cx="6703849" cy="3171766"/>
          </a:xfrm>
          <a:prstGeom prst="rect">
            <a:avLst/>
          </a:prstGeom>
        </p:spPr>
        <p:txBody>
          <a:bodyPr vert="horz" wrap="square" lIns="0" tIns="17145" rIns="0" bIns="0" rtlCol="0">
            <a:spAutoFit/>
          </a:bodyPr>
          <a:lstStyle/>
          <a:p>
            <a:pPr marL="12700">
              <a:lnSpc>
                <a:spcPct val="100000"/>
              </a:lnSpc>
              <a:spcBef>
                <a:spcPts val="135"/>
              </a:spcBef>
            </a:pPr>
            <a:r>
              <a:rPr sz="3700" b="1" spc="-195" dirty="0">
                <a:solidFill>
                  <a:srgbClr val="004F80"/>
                </a:solidFill>
                <a:latin typeface="Cambria"/>
                <a:cs typeface="Cambria"/>
              </a:rPr>
              <a:t>Primer</a:t>
            </a:r>
            <a:r>
              <a:rPr sz="3700" b="1" spc="-10" dirty="0">
                <a:solidFill>
                  <a:srgbClr val="004F80"/>
                </a:solidFill>
                <a:latin typeface="Cambria"/>
                <a:cs typeface="Cambria"/>
              </a:rPr>
              <a:t> </a:t>
            </a:r>
            <a:r>
              <a:rPr sz="3700" b="1" spc="-10" dirty="0">
                <a:solidFill>
                  <a:srgbClr val="014F8C"/>
                </a:solidFill>
                <a:latin typeface="Cambria"/>
                <a:cs typeface="Cambria"/>
              </a:rPr>
              <a:t>upita</a:t>
            </a:r>
            <a:endParaRPr sz="3700" dirty="0">
              <a:latin typeface="Cambria"/>
              <a:cs typeface="Cambria"/>
            </a:endParaRPr>
          </a:p>
          <a:p>
            <a:pPr marL="179070" marR="5080" indent="-8890">
              <a:lnSpc>
                <a:spcPct val="114500"/>
              </a:lnSpc>
              <a:spcBef>
                <a:spcPts val="2710"/>
              </a:spcBef>
              <a:tabLst>
                <a:tab pos="947419" algn="l"/>
                <a:tab pos="1387475" algn="l"/>
                <a:tab pos="1619250" algn="l"/>
                <a:tab pos="1943735" algn="l"/>
                <a:tab pos="3039745" algn="l"/>
                <a:tab pos="3693795" algn="l"/>
                <a:tab pos="4824730" algn="l"/>
                <a:tab pos="5566410" algn="l"/>
              </a:tabLst>
            </a:pPr>
            <a:r>
              <a:rPr lang="it-IT" sz="1800" spc="-10" dirty="0">
                <a:solidFill>
                  <a:srgbClr val="313131"/>
                </a:solidFill>
                <a:latin typeface="Cambria"/>
                <a:cs typeface="Cambria"/>
              </a:rPr>
              <a:t>CREATE INDEX idx_prezime_ime ON korisnici(prezime, ime)</a:t>
            </a:r>
            <a:r>
              <a:rPr sz="1800" spc="-65" dirty="0">
                <a:solidFill>
                  <a:srgbClr val="3B3B3B"/>
                </a:solidFill>
                <a:latin typeface="Cambria"/>
                <a:cs typeface="Cambria"/>
              </a:rPr>
              <a:t>; </a:t>
            </a:r>
            <a:r>
              <a:rPr lang="sr-Latn-RS" sz="1800" spc="-10" dirty="0">
                <a:solidFill>
                  <a:srgbClr val="343434"/>
                </a:solidFill>
                <a:latin typeface="Cambria"/>
                <a:cs typeface="Cambria"/>
              </a:rPr>
              <a:t>SELECT ime, prezime FROM korisnici WHERE prezime = 'Petrovic’;</a:t>
            </a:r>
          </a:p>
          <a:p>
            <a:pPr marL="179070" marR="5080" indent="-8890">
              <a:lnSpc>
                <a:spcPct val="114500"/>
              </a:lnSpc>
              <a:spcBef>
                <a:spcPts val="2710"/>
              </a:spcBef>
              <a:tabLst>
                <a:tab pos="947419" algn="l"/>
                <a:tab pos="1387475" algn="l"/>
                <a:tab pos="1619250" algn="l"/>
                <a:tab pos="1943735" algn="l"/>
                <a:tab pos="3039745" algn="l"/>
                <a:tab pos="3693795" algn="l"/>
                <a:tab pos="4824730" algn="l"/>
                <a:tab pos="5566410" algn="l"/>
              </a:tabLst>
            </a:pPr>
            <a:r>
              <a:rPr lang="sr-Latn-RS" sz="1800" dirty="0">
                <a:solidFill>
                  <a:schemeClr val="tx1">
                    <a:lumMod val="75000"/>
                    <a:lumOff val="25000"/>
                  </a:schemeClr>
                </a:solidFill>
                <a:latin typeface="+mj-lt"/>
                <a:cs typeface="Cambria"/>
              </a:rPr>
              <a:t>Kolona prezime se koristi za filtriranje (u B-Tree ključu), a kolona ime je prisutna u indeksnom unosu kao sekundarni ključ. Optimizator može sve potrebne podatke (ime i prezime) pročitati direktno iz indeksa, bez ijednog odlaska u tabelu.</a:t>
            </a:r>
            <a:endParaRPr sz="1800" dirty="0">
              <a:solidFill>
                <a:schemeClr val="tx1">
                  <a:lumMod val="75000"/>
                  <a:lumOff val="25000"/>
                </a:schemeClr>
              </a:solidFill>
              <a:latin typeface="+mj-lt"/>
              <a:cs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24244" y="1037636"/>
            <a:ext cx="7406005" cy="987425"/>
          </a:xfrm>
          <a:prstGeom prst="rect">
            <a:avLst/>
          </a:prstGeom>
        </p:spPr>
        <p:txBody>
          <a:bodyPr vert="horz" wrap="square" lIns="0" tIns="13970" rIns="0" bIns="0" rtlCol="0">
            <a:spAutoFit/>
          </a:bodyPr>
          <a:lstStyle/>
          <a:p>
            <a:pPr marL="12700">
              <a:lnSpc>
                <a:spcPct val="100000"/>
              </a:lnSpc>
              <a:spcBef>
                <a:spcPts val="110"/>
              </a:spcBef>
            </a:pPr>
            <a:r>
              <a:rPr b="1" spc="-210" dirty="0">
                <a:solidFill>
                  <a:srgbClr val="004F87"/>
                </a:solidFill>
                <a:latin typeface="Cambria"/>
                <a:cs typeface="Cambria"/>
              </a:rPr>
              <a:t>Visibility</a:t>
            </a:r>
            <a:r>
              <a:rPr b="1" spc="-140" dirty="0">
                <a:solidFill>
                  <a:srgbClr val="004F87"/>
                </a:solidFill>
                <a:latin typeface="Cambria"/>
                <a:cs typeface="Cambria"/>
              </a:rPr>
              <a:t> </a:t>
            </a:r>
            <a:r>
              <a:rPr b="1" spc="-35" dirty="0">
                <a:solidFill>
                  <a:srgbClr val="004D89"/>
                </a:solidFill>
                <a:latin typeface="Cambria"/>
                <a:cs typeface="Cambria"/>
              </a:rPr>
              <a:t>Map</a:t>
            </a:r>
            <a:r>
              <a:rPr b="1" spc="-240" dirty="0">
                <a:solidFill>
                  <a:srgbClr val="004D89"/>
                </a:solidFill>
                <a:latin typeface="Cambria"/>
                <a:cs typeface="Cambria"/>
              </a:rPr>
              <a:t> </a:t>
            </a:r>
            <a:r>
              <a:rPr b="1" spc="-45" dirty="0">
                <a:solidFill>
                  <a:srgbClr val="054D80"/>
                </a:solidFill>
                <a:latin typeface="Cambria"/>
                <a:cs typeface="Cambria"/>
              </a:rPr>
              <a:t>i</a:t>
            </a:r>
            <a:r>
              <a:rPr b="1" spc="-490" dirty="0">
                <a:solidFill>
                  <a:srgbClr val="054D80"/>
                </a:solidFill>
                <a:latin typeface="Cambria"/>
                <a:cs typeface="Cambria"/>
              </a:rPr>
              <a:t> </a:t>
            </a:r>
            <a:r>
              <a:rPr b="1" spc="-20" dirty="0">
                <a:solidFill>
                  <a:srgbClr val="014B7C"/>
                </a:solidFill>
                <a:latin typeface="Cambria"/>
                <a:cs typeface="Cambria"/>
              </a:rPr>
              <a:t>MVCC</a:t>
            </a:r>
          </a:p>
        </p:txBody>
      </p:sp>
      <p:sp>
        <p:nvSpPr>
          <p:cNvPr id="3" name="object 3"/>
          <p:cNvSpPr txBox="1"/>
          <p:nvPr/>
        </p:nvSpPr>
        <p:spPr>
          <a:xfrm>
            <a:off x="924244" y="3063875"/>
            <a:ext cx="18424206" cy="7248779"/>
          </a:xfrm>
          <a:prstGeom prst="rect">
            <a:avLst/>
          </a:prstGeom>
        </p:spPr>
        <p:txBody>
          <a:bodyPr vert="horz" wrap="square" lIns="0" tIns="19685" rIns="0" bIns="0" rtlCol="0">
            <a:spAutoFit/>
          </a:bodyPr>
          <a:lstStyle/>
          <a:p>
            <a:pPr marL="469900" marR="230504" indent="-457200">
              <a:lnSpc>
                <a:spcPct val="107100"/>
              </a:lnSpc>
              <a:spcBef>
                <a:spcPts val="155"/>
              </a:spcBef>
              <a:buFont typeface="Arial" panose="020B0604020202020204" pitchFamily="34" charset="0"/>
              <a:buChar char="•"/>
            </a:pPr>
            <a:r>
              <a:rPr lang="sr-Latn-RS" sz="2550" dirty="0">
                <a:solidFill>
                  <a:srgbClr val="363636"/>
                </a:solidFill>
                <a:latin typeface="Calibri"/>
                <a:cs typeface="Calibri"/>
              </a:rPr>
              <a:t>I pored pokrivajućeg indeksa, PostgreSQL ponekad ipak mora da proveri heap. Razlog leži u MVCC (Multi-Version Concurrency Control) mehanizmu koji PostgreSQL koristi za </a:t>
            </a:r>
            <a:r>
              <a:rPr lang="sr-Latn-RS" sz="2550" dirty="0">
                <a:solidFill>
                  <a:schemeClr val="tx1">
                    <a:lumMod val="75000"/>
                    <a:lumOff val="25000"/>
                  </a:schemeClr>
                </a:solidFill>
                <a:latin typeface="Calibri"/>
                <a:cs typeface="Calibri"/>
              </a:rPr>
              <a:t>upravljanje</a:t>
            </a:r>
            <a:r>
              <a:rPr lang="sr-Latn-RS" sz="2550" dirty="0">
                <a:solidFill>
                  <a:srgbClr val="363636"/>
                </a:solidFill>
                <a:latin typeface="Calibri"/>
                <a:cs typeface="Calibri"/>
              </a:rPr>
              <a:t> istovremenošću transakcija.</a:t>
            </a:r>
            <a:endParaRPr lang="en-US" sz="2550" dirty="0">
              <a:solidFill>
                <a:srgbClr val="363636"/>
              </a:solidFill>
              <a:latin typeface="Calibri"/>
              <a:cs typeface="Calibri"/>
            </a:endParaRPr>
          </a:p>
          <a:p>
            <a:pPr marL="12700" marR="230504" indent="5080">
              <a:lnSpc>
                <a:spcPct val="107100"/>
              </a:lnSpc>
              <a:spcBef>
                <a:spcPts val="155"/>
              </a:spcBef>
            </a:pPr>
            <a:endParaRPr lang="en-US" sz="2550" spc="95" dirty="0">
              <a:solidFill>
                <a:srgbClr val="363636"/>
              </a:solidFill>
              <a:latin typeface="Calibri"/>
              <a:cs typeface="Calibri"/>
            </a:endParaRPr>
          </a:p>
          <a:p>
            <a:pPr marL="469900" marR="230504" indent="-457200">
              <a:lnSpc>
                <a:spcPct val="107100"/>
              </a:lnSpc>
              <a:spcBef>
                <a:spcPts val="155"/>
              </a:spcBef>
              <a:buFont typeface="Arial" panose="020B0604020202020204" pitchFamily="34" charset="0"/>
              <a:buChar char="•"/>
            </a:pPr>
            <a:r>
              <a:rPr lang="sr-Latn-RS" sz="2550" dirty="0">
                <a:solidFill>
                  <a:schemeClr val="tx1">
                    <a:lumMod val="75000"/>
                    <a:lumOff val="25000"/>
                  </a:schemeClr>
                </a:solidFill>
                <a:latin typeface="Calibri"/>
                <a:cs typeface="Calibri"/>
              </a:rPr>
              <a:t>MVCC princip funkcioniše tako što baza ne briše stare verzije redova odmah pri ažuriranju ili brisanju, već ih označava kao nevidljive za buduće transakcije i čuva dok vacuum proces ne oslobodi prostor. Svaki red u heap-u sadrži xmin i xmax vrednosti, tj. identifikatore transakcija koje su red kreirale i obrisale (ili ažurirale). Kada transakcija čita red, mora da proveri ove vrednosti i odluči da li je red vidljiv u kontekstu njenog snapshot-a.</a:t>
            </a:r>
            <a:endParaRPr lang="en-US" sz="2550" dirty="0">
              <a:solidFill>
                <a:schemeClr val="tx1">
                  <a:lumMod val="75000"/>
                  <a:lumOff val="25000"/>
                </a:schemeClr>
              </a:solidFill>
              <a:latin typeface="Calibri"/>
              <a:cs typeface="Calibri"/>
            </a:endParaRPr>
          </a:p>
          <a:p>
            <a:pPr marL="469900" marR="230504" indent="-457200">
              <a:lnSpc>
                <a:spcPct val="107100"/>
              </a:lnSpc>
              <a:spcBef>
                <a:spcPts val="155"/>
              </a:spcBef>
              <a:buFont typeface="Arial" panose="020B0604020202020204" pitchFamily="34" charset="0"/>
              <a:buChar char="•"/>
            </a:pPr>
            <a:endParaRPr lang="en-US" sz="2550" dirty="0">
              <a:latin typeface="Calibri"/>
              <a:cs typeface="Calibri"/>
            </a:endParaRPr>
          </a:p>
          <a:p>
            <a:pPr marL="469900" marR="230504" indent="-457200">
              <a:lnSpc>
                <a:spcPct val="107100"/>
              </a:lnSpc>
              <a:spcBef>
                <a:spcPts val="155"/>
              </a:spcBef>
              <a:buFont typeface="Arial" panose="020B0604020202020204" pitchFamily="34" charset="0"/>
              <a:buChar char="•"/>
            </a:pPr>
            <a:r>
              <a:rPr lang="en-US" sz="2550" dirty="0">
                <a:solidFill>
                  <a:schemeClr val="tx1">
                    <a:lumMod val="75000"/>
                    <a:lumOff val="25000"/>
                  </a:schemeClr>
                </a:solidFill>
                <a:latin typeface="Calibri"/>
                <a:cs typeface="Calibri"/>
              </a:rPr>
              <a:t>Problem za Index-Only Scan je </a:t>
            </a:r>
            <a:r>
              <a:rPr lang="en-US" sz="2550" dirty="0" err="1">
                <a:solidFill>
                  <a:schemeClr val="tx1">
                    <a:lumMod val="75000"/>
                    <a:lumOff val="25000"/>
                  </a:schemeClr>
                </a:solidFill>
                <a:latin typeface="Calibri"/>
                <a:cs typeface="Calibri"/>
              </a:rPr>
              <a:t>sledeći</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indeksni</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unos</a:t>
            </a:r>
            <a:r>
              <a:rPr lang="en-US" sz="2550" dirty="0">
                <a:solidFill>
                  <a:schemeClr val="tx1">
                    <a:lumMod val="75000"/>
                    <a:lumOff val="25000"/>
                  </a:schemeClr>
                </a:solidFill>
                <a:latin typeface="Calibri"/>
                <a:cs typeface="Calibri"/>
              </a:rPr>
              <a:t> ne </a:t>
            </a:r>
            <a:r>
              <a:rPr lang="en-US" sz="2550" dirty="0" err="1">
                <a:solidFill>
                  <a:schemeClr val="tx1">
                    <a:lumMod val="75000"/>
                    <a:lumOff val="25000"/>
                  </a:schemeClr>
                </a:solidFill>
                <a:latin typeface="Calibri"/>
                <a:cs typeface="Calibri"/>
              </a:rPr>
              <a:t>sadrži</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xmin</a:t>
            </a:r>
            <a:r>
              <a:rPr lang="en-US" sz="2550" dirty="0">
                <a:solidFill>
                  <a:schemeClr val="tx1">
                    <a:lumMod val="75000"/>
                    <a:lumOff val="25000"/>
                  </a:schemeClr>
                </a:solidFill>
                <a:latin typeface="Calibri"/>
                <a:cs typeface="Calibri"/>
              </a:rPr>
              <a:t>/</a:t>
            </a:r>
            <a:r>
              <a:rPr lang="en-US" sz="2550" dirty="0" err="1">
                <a:solidFill>
                  <a:schemeClr val="tx1">
                    <a:lumMod val="75000"/>
                    <a:lumOff val="25000"/>
                  </a:schemeClr>
                </a:solidFill>
                <a:latin typeface="Calibri"/>
                <a:cs typeface="Calibri"/>
              </a:rPr>
              <a:t>xmax</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informacije</a:t>
            </a:r>
            <a:r>
              <a:rPr lang="en-US" sz="2550" dirty="0">
                <a:solidFill>
                  <a:schemeClr val="tx1">
                    <a:lumMod val="75000"/>
                    <a:lumOff val="25000"/>
                  </a:schemeClr>
                </a:solidFill>
                <a:latin typeface="Calibri"/>
                <a:cs typeface="Calibri"/>
              </a:rPr>
              <a:t>, on </a:t>
            </a:r>
            <a:r>
              <a:rPr lang="en-US" sz="2550" dirty="0" err="1">
                <a:solidFill>
                  <a:schemeClr val="tx1">
                    <a:lumMod val="75000"/>
                    <a:lumOff val="25000"/>
                  </a:schemeClr>
                </a:solidFill>
                <a:latin typeface="Calibri"/>
                <a:cs typeface="Calibri"/>
              </a:rPr>
              <a:t>samo</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pokazuje</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na</a:t>
            </a:r>
            <a:r>
              <a:rPr lang="en-US" sz="2550" dirty="0">
                <a:solidFill>
                  <a:schemeClr val="tx1">
                    <a:lumMod val="75000"/>
                    <a:lumOff val="25000"/>
                  </a:schemeClr>
                </a:solidFill>
                <a:latin typeface="Calibri"/>
                <a:cs typeface="Calibri"/>
              </a:rPr>
              <a:t> TID u heap-u. </a:t>
            </a:r>
            <a:r>
              <a:rPr lang="en-US" sz="2550" dirty="0" err="1">
                <a:solidFill>
                  <a:schemeClr val="tx1">
                    <a:lumMod val="75000"/>
                    <a:lumOff val="25000"/>
                  </a:schemeClr>
                </a:solidFill>
                <a:latin typeface="Calibri"/>
                <a:cs typeface="Calibri"/>
              </a:rPr>
              <a:t>Dakle</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čak</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i</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ako</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su</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svi</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podaci</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prisutni</a:t>
            </a:r>
            <a:r>
              <a:rPr lang="en-US" sz="2550" dirty="0">
                <a:solidFill>
                  <a:schemeClr val="tx1">
                    <a:lumMod val="75000"/>
                    <a:lumOff val="25000"/>
                  </a:schemeClr>
                </a:solidFill>
                <a:latin typeface="Calibri"/>
                <a:cs typeface="Calibri"/>
              </a:rPr>
              <a:t> u </a:t>
            </a:r>
            <a:r>
              <a:rPr lang="en-US" sz="2550" dirty="0" err="1">
                <a:solidFill>
                  <a:schemeClr val="tx1">
                    <a:lumMod val="75000"/>
                    <a:lumOff val="25000"/>
                  </a:schemeClr>
                </a:solidFill>
                <a:latin typeface="Calibri"/>
                <a:cs typeface="Calibri"/>
              </a:rPr>
              <a:t>indeksu</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baza</a:t>
            </a:r>
            <a:r>
              <a:rPr lang="en-US" sz="2550" dirty="0">
                <a:solidFill>
                  <a:schemeClr val="tx1">
                    <a:lumMod val="75000"/>
                    <a:lumOff val="25000"/>
                  </a:schemeClr>
                </a:solidFill>
                <a:latin typeface="Calibri"/>
                <a:cs typeface="Calibri"/>
              </a:rPr>
              <a:t> ne </a:t>
            </a:r>
            <a:r>
              <a:rPr lang="en-US" sz="2550" dirty="0" err="1">
                <a:solidFill>
                  <a:schemeClr val="tx1">
                    <a:lumMod val="75000"/>
                    <a:lumOff val="25000"/>
                  </a:schemeClr>
                </a:solidFill>
                <a:latin typeface="Calibri"/>
                <a:cs typeface="Calibri"/>
              </a:rPr>
              <a:t>zna</a:t>
            </a:r>
            <a:r>
              <a:rPr lang="en-US" sz="2550" dirty="0">
                <a:solidFill>
                  <a:schemeClr val="tx1">
                    <a:lumMod val="75000"/>
                    <a:lumOff val="25000"/>
                  </a:schemeClr>
                </a:solidFill>
                <a:latin typeface="Calibri"/>
                <a:cs typeface="Calibri"/>
              </a:rPr>
              <a:t> da li je taj red u </a:t>
            </a:r>
            <a:r>
              <a:rPr lang="en-US" sz="2550" dirty="0" err="1">
                <a:solidFill>
                  <a:schemeClr val="tx1">
                    <a:lumMod val="75000"/>
                    <a:lumOff val="25000"/>
                  </a:schemeClr>
                </a:solidFill>
                <a:latin typeface="Calibri"/>
                <a:cs typeface="Calibri"/>
              </a:rPr>
              <a:t>trenutnoj</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transakciji</a:t>
            </a:r>
            <a:r>
              <a:rPr lang="en-US" sz="2550" dirty="0">
                <a:solidFill>
                  <a:schemeClr val="tx1">
                    <a:lumMod val="75000"/>
                    <a:lumOff val="25000"/>
                  </a:schemeClr>
                </a:solidFill>
                <a:latin typeface="Calibri"/>
                <a:cs typeface="Calibri"/>
              </a:rPr>
              <a:t> </a:t>
            </a:r>
            <a:r>
              <a:rPr lang="en-US" sz="2550" dirty="0" err="1">
                <a:solidFill>
                  <a:schemeClr val="tx1">
                    <a:lumMod val="75000"/>
                    <a:lumOff val="25000"/>
                  </a:schemeClr>
                </a:solidFill>
                <a:latin typeface="Calibri"/>
                <a:cs typeface="Calibri"/>
              </a:rPr>
              <a:t>vidljiv</a:t>
            </a:r>
            <a:r>
              <a:rPr lang="en-US" sz="2550" dirty="0">
                <a:solidFill>
                  <a:schemeClr val="tx1">
                    <a:lumMod val="75000"/>
                    <a:lumOff val="25000"/>
                  </a:schemeClr>
                </a:solidFill>
                <a:latin typeface="Calibri"/>
                <a:cs typeface="Calibri"/>
              </a:rPr>
              <a:t>, bez </a:t>
            </a:r>
            <a:r>
              <a:rPr lang="en-US" sz="2550" dirty="0" err="1">
                <a:solidFill>
                  <a:schemeClr val="tx1">
                    <a:lumMod val="75000"/>
                    <a:lumOff val="25000"/>
                  </a:schemeClr>
                </a:solidFill>
                <a:latin typeface="Calibri"/>
                <a:cs typeface="Calibri"/>
              </a:rPr>
              <a:t>provere</a:t>
            </a:r>
            <a:r>
              <a:rPr lang="en-US" sz="2550" dirty="0">
                <a:solidFill>
                  <a:schemeClr val="tx1">
                    <a:lumMod val="75000"/>
                    <a:lumOff val="25000"/>
                  </a:schemeClr>
                </a:solidFill>
                <a:latin typeface="Calibri"/>
                <a:cs typeface="Calibri"/>
              </a:rPr>
              <a:t> heap-a.</a:t>
            </a:r>
          </a:p>
          <a:p>
            <a:pPr>
              <a:lnSpc>
                <a:spcPct val="100000"/>
              </a:lnSpc>
            </a:pPr>
            <a:endParaRPr lang="en-US" sz="3700" dirty="0">
              <a:latin typeface="Cambria"/>
              <a:cs typeface="Calibri"/>
            </a:endParaRPr>
          </a:p>
          <a:p>
            <a:pPr marL="457200" indent="-457200">
              <a:buFont typeface="Arial" panose="020B0604020202020204" pitchFamily="34" charset="0"/>
              <a:buChar char="•"/>
            </a:pPr>
            <a:r>
              <a:rPr lang="sr-Latn-RS" sz="2550" spc="70" dirty="0">
                <a:solidFill>
                  <a:srgbClr val="363636"/>
                </a:solidFill>
                <a:latin typeface="Calibri"/>
                <a:cs typeface="Calibri"/>
              </a:rPr>
              <a:t>Visibility Map je posebna pomoćna struktura koja se čuva uz svaku tabelu. VM</a:t>
            </a:r>
            <a:r>
              <a:rPr lang="sr-Latn-RS" sz="2550" spc="-114" dirty="0">
                <a:solidFill>
                  <a:srgbClr val="363636"/>
                </a:solidFill>
                <a:latin typeface="Calibri"/>
                <a:cs typeface="Calibri"/>
              </a:rPr>
              <a:t> </a:t>
            </a:r>
            <a:r>
              <a:rPr lang="sr-Latn-RS" sz="2550" dirty="0">
                <a:solidFill>
                  <a:srgbClr val="343434"/>
                </a:solidFill>
                <a:latin typeface="Calibri"/>
                <a:cs typeface="Calibri"/>
              </a:rPr>
              <a:t>čuva</a:t>
            </a:r>
            <a:r>
              <a:rPr lang="sr-Latn-RS" sz="2550" spc="-30" dirty="0">
                <a:solidFill>
                  <a:srgbClr val="343434"/>
                </a:solidFill>
                <a:latin typeface="Calibri"/>
                <a:cs typeface="Calibri"/>
              </a:rPr>
              <a:t> </a:t>
            </a:r>
            <a:r>
              <a:rPr lang="sr-Latn-RS" sz="2550" dirty="0">
                <a:solidFill>
                  <a:srgbClr val="383838"/>
                </a:solidFill>
                <a:latin typeface="Calibri"/>
                <a:cs typeface="Calibri"/>
              </a:rPr>
              <a:t>bitove</a:t>
            </a:r>
            <a:r>
              <a:rPr lang="sr-Latn-RS" sz="2550" spc="-65" dirty="0">
                <a:solidFill>
                  <a:srgbClr val="383838"/>
                </a:solidFill>
                <a:latin typeface="Calibri"/>
                <a:cs typeface="Calibri"/>
              </a:rPr>
              <a:t> </a:t>
            </a:r>
            <a:r>
              <a:rPr lang="sr-Latn-RS" sz="2550" spc="65" dirty="0">
                <a:solidFill>
                  <a:srgbClr val="343434"/>
                </a:solidFill>
                <a:latin typeface="Calibri"/>
                <a:cs typeface="Calibri"/>
              </a:rPr>
              <a:t>za</a:t>
            </a:r>
            <a:r>
              <a:rPr lang="sr-Latn-RS" sz="2550" spc="-65" dirty="0">
                <a:solidFill>
                  <a:srgbClr val="343434"/>
                </a:solidFill>
                <a:latin typeface="Calibri"/>
                <a:cs typeface="Calibri"/>
              </a:rPr>
              <a:t> </a:t>
            </a:r>
            <a:r>
              <a:rPr lang="sr-Latn-RS" sz="2550" dirty="0">
                <a:solidFill>
                  <a:srgbClr val="2F2F2F"/>
                </a:solidFill>
                <a:latin typeface="Calibri"/>
                <a:cs typeface="Calibri"/>
              </a:rPr>
              <a:t>svaku stranicu</a:t>
            </a:r>
            <a:r>
              <a:rPr lang="sr-Latn-RS" sz="2550" spc="95" dirty="0">
                <a:solidFill>
                  <a:srgbClr val="2F2F2F"/>
                </a:solidFill>
                <a:latin typeface="Calibri"/>
                <a:cs typeface="Calibri"/>
              </a:rPr>
              <a:t> </a:t>
            </a:r>
            <a:r>
              <a:rPr lang="sr-Latn-RS" sz="2550" spc="-25" dirty="0">
                <a:solidFill>
                  <a:srgbClr val="2F2F2F"/>
                </a:solidFill>
                <a:latin typeface="Calibri"/>
                <a:cs typeface="Calibri"/>
              </a:rPr>
              <a:t>heap-</a:t>
            </a:r>
            <a:r>
              <a:rPr lang="sr-Latn-RS" sz="2550" spc="-10" dirty="0">
                <a:solidFill>
                  <a:srgbClr val="2F2F2F"/>
                </a:solidFill>
                <a:latin typeface="Calibri"/>
                <a:cs typeface="Calibri"/>
              </a:rPr>
              <a:t>a.</a:t>
            </a:r>
            <a:r>
              <a:rPr lang="sr-Latn-RS" sz="2550" spc="-85" dirty="0">
                <a:solidFill>
                  <a:srgbClr val="2F2F2F"/>
                </a:solidFill>
                <a:latin typeface="Calibri"/>
                <a:cs typeface="Calibri"/>
              </a:rPr>
              <a:t> </a:t>
            </a:r>
            <a:r>
              <a:rPr lang="sr-Latn-RS" sz="2550" dirty="0">
                <a:solidFill>
                  <a:srgbClr val="333333"/>
                </a:solidFill>
                <a:latin typeface="Calibri"/>
                <a:cs typeface="Calibri"/>
              </a:rPr>
              <a:t>Ako </a:t>
            </a:r>
            <a:r>
              <a:rPr lang="sr-Latn-RS" sz="2550" spc="-20" dirty="0">
                <a:solidFill>
                  <a:srgbClr val="343434"/>
                </a:solidFill>
                <a:latin typeface="Calibri"/>
                <a:cs typeface="Calibri"/>
              </a:rPr>
              <a:t>je</a:t>
            </a:r>
            <a:r>
              <a:rPr lang="sr-Latn-RS" sz="2550" spc="-130" dirty="0">
                <a:solidFill>
                  <a:srgbClr val="343434"/>
                </a:solidFill>
                <a:latin typeface="Calibri"/>
                <a:cs typeface="Calibri"/>
              </a:rPr>
              <a:t> </a:t>
            </a:r>
            <a:r>
              <a:rPr lang="sr-Latn-RS" sz="2550" dirty="0">
                <a:solidFill>
                  <a:srgbClr val="3D3D3D"/>
                </a:solidFill>
                <a:latin typeface="Calibri"/>
                <a:cs typeface="Calibri"/>
              </a:rPr>
              <a:t>bit</a:t>
            </a:r>
            <a:r>
              <a:rPr lang="sr-Latn-RS" sz="2550" spc="-65" dirty="0">
                <a:solidFill>
                  <a:srgbClr val="3D3D3D"/>
                </a:solidFill>
                <a:latin typeface="Calibri"/>
                <a:cs typeface="Calibri"/>
              </a:rPr>
              <a:t> </a:t>
            </a:r>
            <a:r>
              <a:rPr lang="sr-Latn-RS" sz="2550" spc="-20" dirty="0">
                <a:solidFill>
                  <a:srgbClr val="313131"/>
                </a:solidFill>
                <a:latin typeface="Calibri"/>
                <a:cs typeface="Calibri"/>
              </a:rPr>
              <a:t>all-</a:t>
            </a:r>
            <a:r>
              <a:rPr lang="sr-Latn-RS" sz="2550" spc="-20" dirty="0">
                <a:solidFill>
                  <a:srgbClr val="343434"/>
                </a:solidFill>
                <a:latin typeface="Calibri"/>
                <a:cs typeface="Calibri"/>
              </a:rPr>
              <a:t>visible</a:t>
            </a:r>
            <a:r>
              <a:rPr lang="sr-Latn-RS" sz="2550" b="1" spc="-30" dirty="0">
                <a:solidFill>
                  <a:srgbClr val="343434"/>
                </a:solidFill>
                <a:latin typeface="Calibri"/>
                <a:cs typeface="Calibri"/>
              </a:rPr>
              <a:t> </a:t>
            </a:r>
            <a:r>
              <a:rPr lang="sr-Latn-RS" sz="2550" spc="-20" dirty="0">
                <a:solidFill>
                  <a:srgbClr val="313131"/>
                </a:solidFill>
                <a:latin typeface="Calibri"/>
                <a:cs typeface="Calibri"/>
              </a:rPr>
              <a:t>postavljen,</a:t>
            </a:r>
            <a:r>
              <a:rPr lang="sr-Latn-RS" sz="2550" spc="20" dirty="0">
                <a:solidFill>
                  <a:srgbClr val="313131"/>
                </a:solidFill>
                <a:latin typeface="Calibri"/>
                <a:cs typeface="Calibri"/>
              </a:rPr>
              <a:t> </a:t>
            </a:r>
            <a:r>
              <a:rPr lang="sr-Latn-RS" sz="2550" dirty="0">
                <a:solidFill>
                  <a:srgbClr val="313131"/>
                </a:solidFill>
                <a:latin typeface="Calibri"/>
                <a:cs typeface="Calibri"/>
              </a:rPr>
              <a:t>Executor</a:t>
            </a:r>
            <a:r>
              <a:rPr lang="sr-Latn-RS" sz="2550" spc="130" dirty="0">
                <a:solidFill>
                  <a:srgbClr val="313131"/>
                </a:solidFill>
                <a:latin typeface="Calibri"/>
                <a:cs typeface="Calibri"/>
              </a:rPr>
              <a:t> </a:t>
            </a:r>
            <a:r>
              <a:rPr lang="sr-Latn-RS" sz="2550" spc="55" dirty="0">
                <a:solidFill>
                  <a:srgbClr val="333333"/>
                </a:solidFill>
                <a:latin typeface="Calibri"/>
                <a:cs typeface="Calibri"/>
              </a:rPr>
              <a:t>zna</a:t>
            </a:r>
            <a:r>
              <a:rPr lang="sr-Latn-RS" sz="2550" spc="-150" dirty="0">
                <a:solidFill>
                  <a:srgbClr val="333333"/>
                </a:solidFill>
                <a:latin typeface="Calibri"/>
                <a:cs typeface="Calibri"/>
              </a:rPr>
              <a:t> </a:t>
            </a:r>
            <a:r>
              <a:rPr lang="sr-Latn-RS" sz="2550" dirty="0">
                <a:solidFill>
                  <a:srgbClr val="3B3B3B"/>
                </a:solidFill>
                <a:latin typeface="Calibri"/>
                <a:cs typeface="Calibri"/>
              </a:rPr>
              <a:t>da</a:t>
            </a:r>
            <a:r>
              <a:rPr lang="sr-Latn-RS" sz="2550" spc="-50" dirty="0">
                <a:solidFill>
                  <a:srgbClr val="3B3B3B"/>
                </a:solidFill>
                <a:latin typeface="Calibri"/>
                <a:cs typeface="Calibri"/>
              </a:rPr>
              <a:t> </a:t>
            </a:r>
            <a:r>
              <a:rPr lang="sr-Latn-RS" sz="2550" dirty="0">
                <a:solidFill>
                  <a:srgbClr val="2F2F2F"/>
                </a:solidFill>
                <a:latin typeface="Calibri"/>
                <a:cs typeface="Calibri"/>
              </a:rPr>
              <a:t>su</a:t>
            </a:r>
            <a:r>
              <a:rPr lang="sr-Latn-RS" sz="2550" spc="-65" dirty="0">
                <a:solidFill>
                  <a:srgbClr val="2F2F2F"/>
                </a:solidFill>
                <a:latin typeface="Calibri"/>
                <a:cs typeface="Calibri"/>
              </a:rPr>
              <a:t> </a:t>
            </a:r>
            <a:r>
              <a:rPr lang="sr-Latn-RS" sz="2550" dirty="0">
                <a:solidFill>
                  <a:srgbClr val="3A3A3A"/>
                </a:solidFill>
                <a:latin typeface="Calibri"/>
                <a:cs typeface="Calibri"/>
              </a:rPr>
              <a:t>svi</a:t>
            </a:r>
            <a:r>
              <a:rPr lang="sr-Latn-RS" sz="2550" spc="-140" dirty="0">
                <a:solidFill>
                  <a:srgbClr val="3A3A3A"/>
                </a:solidFill>
                <a:latin typeface="Calibri"/>
                <a:cs typeface="Calibri"/>
              </a:rPr>
              <a:t> </a:t>
            </a:r>
            <a:r>
              <a:rPr lang="sr-Latn-RS" sz="2550" dirty="0">
                <a:solidFill>
                  <a:srgbClr val="3A3A3A"/>
                </a:solidFill>
                <a:latin typeface="Calibri"/>
                <a:cs typeface="Calibri"/>
              </a:rPr>
              <a:t>redovi</a:t>
            </a:r>
            <a:r>
              <a:rPr lang="sr-Latn-RS" sz="2550" spc="-25" dirty="0">
                <a:solidFill>
                  <a:srgbClr val="3A3A3A"/>
                </a:solidFill>
                <a:latin typeface="Calibri"/>
                <a:cs typeface="Calibri"/>
              </a:rPr>
              <a:t> </a:t>
            </a:r>
            <a:r>
              <a:rPr lang="sr-Latn-RS" sz="2550" spc="75" dirty="0">
                <a:solidFill>
                  <a:srgbClr val="343434"/>
                </a:solidFill>
                <a:latin typeface="Calibri"/>
                <a:cs typeface="Calibri"/>
              </a:rPr>
              <a:t>na</a:t>
            </a:r>
            <a:r>
              <a:rPr lang="sr-Latn-RS" sz="2550" spc="-90" dirty="0">
                <a:solidFill>
                  <a:srgbClr val="343434"/>
                </a:solidFill>
                <a:latin typeface="Calibri"/>
                <a:cs typeface="Calibri"/>
              </a:rPr>
              <a:t> </a:t>
            </a:r>
            <a:r>
              <a:rPr lang="sr-Latn-RS" sz="2550" spc="-25" dirty="0">
                <a:solidFill>
                  <a:srgbClr val="363636"/>
                </a:solidFill>
                <a:latin typeface="Calibri"/>
                <a:cs typeface="Calibri"/>
              </a:rPr>
              <a:t>toj </a:t>
            </a:r>
            <a:r>
              <a:rPr lang="sr-Latn-RS" sz="2550" dirty="0">
                <a:solidFill>
                  <a:srgbClr val="2A2A2A"/>
                </a:solidFill>
                <a:latin typeface="Calibri"/>
                <a:cs typeface="Calibri"/>
              </a:rPr>
              <a:t>stranici</a:t>
            </a:r>
            <a:r>
              <a:rPr lang="sr-Latn-RS" sz="2550" spc="114" dirty="0">
                <a:solidFill>
                  <a:srgbClr val="2A2A2A"/>
                </a:solidFill>
                <a:latin typeface="Calibri"/>
                <a:cs typeface="Calibri"/>
              </a:rPr>
              <a:t> </a:t>
            </a:r>
            <a:r>
              <a:rPr lang="sr-Latn-RS" sz="2550" dirty="0">
                <a:solidFill>
                  <a:srgbClr val="2F2F2F"/>
                </a:solidFill>
                <a:latin typeface="Calibri"/>
                <a:cs typeface="Calibri"/>
              </a:rPr>
              <a:t>vidljivi</a:t>
            </a:r>
            <a:r>
              <a:rPr lang="sr-Latn-RS" sz="2550" spc="-20" dirty="0">
                <a:solidFill>
                  <a:srgbClr val="2F2F2F"/>
                </a:solidFill>
                <a:latin typeface="Calibri"/>
                <a:cs typeface="Calibri"/>
              </a:rPr>
              <a:t> </a:t>
            </a:r>
            <a:r>
              <a:rPr lang="sr-Latn-RS" sz="2550" dirty="0">
                <a:solidFill>
                  <a:srgbClr val="2F2F2F"/>
                </a:solidFill>
                <a:latin typeface="Calibri"/>
                <a:cs typeface="Calibri"/>
              </a:rPr>
              <a:t>bez</a:t>
            </a:r>
            <a:r>
              <a:rPr lang="sr-Latn-RS" sz="2550" spc="-50" dirty="0">
                <a:solidFill>
                  <a:srgbClr val="2F2F2F"/>
                </a:solidFill>
                <a:latin typeface="Calibri"/>
                <a:cs typeface="Calibri"/>
              </a:rPr>
              <a:t> </a:t>
            </a:r>
            <a:r>
              <a:rPr lang="sr-Latn-RS" sz="2550" dirty="0">
                <a:solidFill>
                  <a:srgbClr val="333333"/>
                </a:solidFill>
                <a:latin typeface="Calibri"/>
                <a:cs typeface="Calibri"/>
              </a:rPr>
              <a:t>provere</a:t>
            </a:r>
            <a:r>
              <a:rPr lang="sr-Latn-RS" sz="2550" spc="195" dirty="0">
                <a:solidFill>
                  <a:srgbClr val="333333"/>
                </a:solidFill>
                <a:latin typeface="Calibri"/>
                <a:cs typeface="Calibri"/>
              </a:rPr>
              <a:t> </a:t>
            </a:r>
            <a:r>
              <a:rPr lang="sr-Latn-RS" sz="2550" spc="-10" dirty="0">
                <a:solidFill>
                  <a:srgbClr val="343434"/>
                </a:solidFill>
                <a:latin typeface="Calibri"/>
                <a:cs typeface="Calibri"/>
              </a:rPr>
              <a:t>tabele.</a:t>
            </a:r>
            <a:r>
              <a:rPr lang="en-US" sz="2550" spc="-10" dirty="0">
                <a:solidFill>
                  <a:srgbClr val="343434"/>
                </a:solidFill>
                <a:latin typeface="Calibri"/>
                <a:cs typeface="Calibri"/>
              </a:rPr>
              <a:t> </a:t>
            </a:r>
            <a:r>
              <a:rPr lang="en-US" sz="2550" spc="-10" dirty="0" err="1">
                <a:solidFill>
                  <a:srgbClr val="343434"/>
                </a:solidFill>
                <a:latin typeface="Calibri"/>
                <a:cs typeface="Calibri"/>
              </a:rPr>
              <a:t>Stranica</a:t>
            </a:r>
            <a:r>
              <a:rPr lang="en-US" sz="2550" spc="-10" dirty="0">
                <a:solidFill>
                  <a:srgbClr val="343434"/>
                </a:solidFill>
                <a:latin typeface="Calibri"/>
                <a:cs typeface="Calibri"/>
              </a:rPr>
              <a:t> se </a:t>
            </a:r>
            <a:r>
              <a:rPr lang="en-US" sz="2550" spc="-10" dirty="0" err="1">
                <a:solidFill>
                  <a:srgbClr val="343434"/>
                </a:solidFill>
                <a:latin typeface="Calibri"/>
                <a:cs typeface="Calibri"/>
              </a:rPr>
              <a:t>postavlja</a:t>
            </a:r>
            <a:r>
              <a:rPr lang="en-US" sz="2550" spc="-10" dirty="0">
                <a:solidFill>
                  <a:srgbClr val="343434"/>
                </a:solidFill>
                <a:latin typeface="Calibri"/>
                <a:cs typeface="Calibri"/>
              </a:rPr>
              <a:t> </a:t>
            </a:r>
            <a:r>
              <a:rPr lang="en-US" sz="2550" spc="-10" dirty="0" err="1">
                <a:solidFill>
                  <a:srgbClr val="343434"/>
                </a:solidFill>
                <a:latin typeface="Calibri"/>
                <a:cs typeface="Calibri"/>
              </a:rPr>
              <a:t>na</a:t>
            </a:r>
            <a:r>
              <a:rPr lang="en-US" sz="2550" spc="-10" dirty="0">
                <a:solidFill>
                  <a:srgbClr val="343434"/>
                </a:solidFill>
                <a:latin typeface="Calibri"/>
                <a:cs typeface="Calibri"/>
              </a:rPr>
              <a:t> all-visible </a:t>
            </a:r>
            <a:r>
              <a:rPr lang="en-US" sz="2550" spc="-10" dirty="0" err="1">
                <a:solidFill>
                  <a:srgbClr val="343434"/>
                </a:solidFill>
                <a:latin typeface="Calibri"/>
                <a:cs typeface="Calibri"/>
              </a:rPr>
              <a:t>nakon</a:t>
            </a:r>
            <a:r>
              <a:rPr lang="en-US" sz="2550" spc="-10" dirty="0">
                <a:solidFill>
                  <a:srgbClr val="343434"/>
                </a:solidFill>
                <a:latin typeface="Calibri"/>
                <a:cs typeface="Calibri"/>
              </a:rPr>
              <a:t> VACUUM </a:t>
            </a:r>
            <a:r>
              <a:rPr lang="en-US" sz="2550" spc="-10" dirty="0" err="1">
                <a:solidFill>
                  <a:srgbClr val="343434"/>
                </a:solidFill>
                <a:latin typeface="Calibri"/>
                <a:cs typeface="Calibri"/>
              </a:rPr>
              <a:t>operacije</a:t>
            </a:r>
            <a:r>
              <a:rPr lang="sr-Latn-RS" sz="2550" spc="-10" dirty="0">
                <a:solidFill>
                  <a:srgbClr val="343434"/>
                </a:solidFill>
                <a:latin typeface="Calibri"/>
                <a:cs typeface="Calibri"/>
              </a:rPr>
              <a:t>.</a:t>
            </a:r>
            <a:endParaRPr lang="sr-Latn-RS" sz="2550" dirty="0">
              <a:latin typeface="Calibri"/>
              <a:cs typeface="Calibri"/>
            </a:endParaRPr>
          </a:p>
          <a:p>
            <a:pPr marL="457200" indent="-457200">
              <a:lnSpc>
                <a:spcPct val="100000"/>
              </a:lnSpc>
              <a:buFont typeface="Arial" panose="020B0604020202020204" pitchFamily="34" charset="0"/>
              <a:buChar char="•"/>
            </a:pPr>
            <a:endParaRPr sz="2550" dirty="0">
              <a:latin typeface="Calibri"/>
              <a:cs typeface="Calibri"/>
            </a:endParaRPr>
          </a:p>
          <a:p>
            <a:pPr>
              <a:lnSpc>
                <a:spcPct val="100000"/>
              </a:lnSpc>
              <a:spcBef>
                <a:spcPts val="80"/>
              </a:spcBef>
            </a:pPr>
            <a:endParaRPr sz="2550" dirty="0">
              <a:latin typeface="Calibri"/>
              <a:cs typeface="Calibri"/>
            </a:endParaRPr>
          </a:p>
          <a:p>
            <a:pPr marL="27940" marR="5080" indent="6985">
              <a:lnSpc>
                <a:spcPct val="105100"/>
              </a:lnSpc>
            </a:pPr>
            <a:r>
              <a:rPr sz="2550" i="1" spc="-100" dirty="0" err="1">
                <a:solidFill>
                  <a:srgbClr val="313131"/>
                </a:solidFill>
                <a:latin typeface="Cambria"/>
                <a:cs typeface="Cambria"/>
              </a:rPr>
              <a:t>E</a:t>
            </a:r>
            <a:r>
              <a:rPr lang="en-US" sz="2550" i="1" spc="-100" dirty="0" err="1">
                <a:solidFill>
                  <a:srgbClr val="313131"/>
                </a:solidFill>
                <a:latin typeface="Cambria"/>
                <a:cs typeface="Cambria"/>
              </a:rPr>
              <a:t>fi</a:t>
            </a:r>
            <a:r>
              <a:rPr sz="2550" i="1" spc="-100" dirty="0" err="1">
                <a:solidFill>
                  <a:srgbClr val="313131"/>
                </a:solidFill>
                <a:latin typeface="Cambria"/>
                <a:cs typeface="Cambria"/>
              </a:rPr>
              <a:t>kasnost</a:t>
            </a:r>
            <a:r>
              <a:rPr sz="2550" i="1" spc="155" dirty="0">
                <a:solidFill>
                  <a:srgbClr val="313131"/>
                </a:solidFill>
                <a:latin typeface="Cambria"/>
                <a:cs typeface="Cambria"/>
              </a:rPr>
              <a:t> </a:t>
            </a:r>
            <a:r>
              <a:rPr sz="2550" i="1" spc="-10" dirty="0">
                <a:solidFill>
                  <a:srgbClr val="313131"/>
                </a:solidFill>
                <a:latin typeface="Cambria"/>
                <a:cs typeface="Cambria"/>
              </a:rPr>
              <a:t>Index-</a:t>
            </a:r>
            <a:r>
              <a:rPr sz="2550" i="1" dirty="0">
                <a:solidFill>
                  <a:srgbClr val="313131"/>
                </a:solidFill>
                <a:latin typeface="Cambria"/>
                <a:cs typeface="Cambria"/>
              </a:rPr>
              <a:t>Only</a:t>
            </a:r>
            <a:r>
              <a:rPr sz="2550" i="1" spc="95" dirty="0">
                <a:solidFill>
                  <a:srgbClr val="313131"/>
                </a:solidFill>
                <a:latin typeface="Cambria"/>
                <a:cs typeface="Cambria"/>
              </a:rPr>
              <a:t> </a:t>
            </a:r>
            <a:r>
              <a:rPr sz="2550" i="1" spc="-50" dirty="0">
                <a:solidFill>
                  <a:srgbClr val="333333"/>
                </a:solidFill>
                <a:latin typeface="Cambria"/>
                <a:cs typeface="Cambria"/>
              </a:rPr>
              <a:t>Scan-</a:t>
            </a:r>
            <a:r>
              <a:rPr sz="2550" i="1" dirty="0">
                <a:solidFill>
                  <a:srgbClr val="333333"/>
                </a:solidFill>
                <a:latin typeface="Cambria"/>
                <a:cs typeface="Cambria"/>
              </a:rPr>
              <a:t>a</a:t>
            </a:r>
            <a:r>
              <a:rPr sz="2550" i="1" spc="-90" dirty="0">
                <a:solidFill>
                  <a:srgbClr val="333333"/>
                </a:solidFill>
                <a:latin typeface="Cambria"/>
                <a:cs typeface="Cambria"/>
              </a:rPr>
              <a:t> </a:t>
            </a:r>
            <a:r>
              <a:rPr sz="2550" i="1" dirty="0">
                <a:solidFill>
                  <a:srgbClr val="343434"/>
                </a:solidFill>
                <a:latin typeface="Cambria"/>
                <a:cs typeface="Cambria"/>
              </a:rPr>
              <a:t>direktno</a:t>
            </a:r>
            <a:r>
              <a:rPr sz="2550" i="1" spc="-50" dirty="0">
                <a:solidFill>
                  <a:srgbClr val="343434"/>
                </a:solidFill>
                <a:latin typeface="Cambria"/>
                <a:cs typeface="Cambria"/>
              </a:rPr>
              <a:t> </a:t>
            </a:r>
            <a:r>
              <a:rPr sz="2550" i="1" spc="-30" dirty="0">
                <a:solidFill>
                  <a:srgbClr val="313131"/>
                </a:solidFill>
                <a:latin typeface="Cambria"/>
                <a:cs typeface="Cambria"/>
              </a:rPr>
              <a:t>zavisi</a:t>
            </a:r>
            <a:r>
              <a:rPr sz="2550" i="1" spc="-130" dirty="0">
                <a:solidFill>
                  <a:srgbClr val="313131"/>
                </a:solidFill>
                <a:latin typeface="Cambria"/>
                <a:cs typeface="Cambria"/>
              </a:rPr>
              <a:t> </a:t>
            </a:r>
            <a:r>
              <a:rPr sz="2550" i="1" spc="60" dirty="0">
                <a:solidFill>
                  <a:srgbClr val="333333"/>
                </a:solidFill>
                <a:latin typeface="Cambria"/>
                <a:cs typeface="Cambria"/>
              </a:rPr>
              <a:t>od </a:t>
            </a:r>
            <a:r>
              <a:rPr sz="2550" i="1" spc="-10" dirty="0">
                <a:solidFill>
                  <a:srgbClr val="2B2B2B"/>
                </a:solidFill>
                <a:latin typeface="Cambria"/>
                <a:cs typeface="Cambria"/>
              </a:rPr>
              <a:t>ažurnosti</a:t>
            </a:r>
            <a:r>
              <a:rPr sz="2550" i="1" spc="35" dirty="0">
                <a:solidFill>
                  <a:srgbClr val="2B2B2B"/>
                </a:solidFill>
                <a:latin typeface="Cambria"/>
                <a:cs typeface="Cambria"/>
              </a:rPr>
              <a:t> </a:t>
            </a:r>
            <a:r>
              <a:rPr sz="2550" i="1" dirty="0">
                <a:solidFill>
                  <a:srgbClr val="343434"/>
                </a:solidFill>
                <a:latin typeface="Cambria"/>
                <a:cs typeface="Cambria"/>
              </a:rPr>
              <a:t>VM,</a:t>
            </a:r>
            <a:r>
              <a:rPr sz="2550" i="1" spc="-35" dirty="0">
                <a:solidFill>
                  <a:srgbClr val="343434"/>
                </a:solidFill>
                <a:latin typeface="Cambria"/>
                <a:cs typeface="Cambria"/>
              </a:rPr>
              <a:t> </a:t>
            </a:r>
            <a:r>
              <a:rPr sz="2550" i="1" dirty="0">
                <a:solidFill>
                  <a:srgbClr val="343434"/>
                </a:solidFill>
                <a:latin typeface="Cambria"/>
                <a:cs typeface="Cambria"/>
              </a:rPr>
              <a:t>što</a:t>
            </a:r>
            <a:r>
              <a:rPr sz="2550" i="1" spc="-135" dirty="0">
                <a:solidFill>
                  <a:srgbClr val="343434"/>
                </a:solidFill>
                <a:latin typeface="Cambria"/>
                <a:cs typeface="Cambria"/>
              </a:rPr>
              <a:t> </a:t>
            </a:r>
            <a:r>
              <a:rPr sz="2550" i="1" spc="-10" dirty="0">
                <a:solidFill>
                  <a:srgbClr val="2A2A2A"/>
                </a:solidFill>
                <a:latin typeface="Cambria"/>
                <a:cs typeface="Cambria"/>
              </a:rPr>
              <a:t>zahteva</a:t>
            </a:r>
            <a:r>
              <a:rPr sz="2550" i="1" spc="-20" dirty="0">
                <a:solidFill>
                  <a:srgbClr val="2A2A2A"/>
                </a:solidFill>
                <a:latin typeface="Cambria"/>
                <a:cs typeface="Cambria"/>
              </a:rPr>
              <a:t> </a:t>
            </a:r>
            <a:r>
              <a:rPr sz="2550" i="1" dirty="0">
                <a:solidFill>
                  <a:srgbClr val="2D2D2D"/>
                </a:solidFill>
                <a:latin typeface="Cambria"/>
                <a:cs typeface="Cambria"/>
              </a:rPr>
              <a:t>redovnu</a:t>
            </a:r>
            <a:r>
              <a:rPr sz="2550" i="1" spc="95" dirty="0">
                <a:solidFill>
                  <a:srgbClr val="2D2D2D"/>
                </a:solidFill>
                <a:latin typeface="Cambria"/>
                <a:cs typeface="Cambria"/>
              </a:rPr>
              <a:t> </a:t>
            </a:r>
            <a:r>
              <a:rPr sz="2550" b="1" i="1" dirty="0">
                <a:solidFill>
                  <a:srgbClr val="313131"/>
                </a:solidFill>
                <a:latin typeface="Cambria"/>
                <a:cs typeface="Cambria"/>
              </a:rPr>
              <a:t>VACUUM</a:t>
            </a:r>
            <a:r>
              <a:rPr sz="2550" b="1" i="1" spc="135" dirty="0">
                <a:solidFill>
                  <a:srgbClr val="313131"/>
                </a:solidFill>
                <a:latin typeface="Cambria"/>
                <a:cs typeface="Cambria"/>
              </a:rPr>
              <a:t> </a:t>
            </a:r>
            <a:r>
              <a:rPr sz="2550" i="1" spc="-65" dirty="0" err="1">
                <a:solidFill>
                  <a:srgbClr val="282828"/>
                </a:solidFill>
                <a:latin typeface="Cambria"/>
                <a:cs typeface="Cambria"/>
              </a:rPr>
              <a:t>opera</a:t>
            </a:r>
            <a:r>
              <a:rPr lang="en-US" sz="2550" i="1" spc="-65" dirty="0" err="1">
                <a:solidFill>
                  <a:srgbClr val="282828"/>
                </a:solidFill>
                <a:latin typeface="Cambria"/>
                <a:cs typeface="Cambria"/>
              </a:rPr>
              <a:t>ciju</a:t>
            </a:r>
            <a:r>
              <a:rPr sz="2550" i="1" spc="-65" dirty="0">
                <a:solidFill>
                  <a:srgbClr val="282828"/>
                </a:solidFill>
                <a:latin typeface="Cambria"/>
                <a:cs typeface="Cambria"/>
              </a:rPr>
              <a:t>.</a:t>
            </a:r>
            <a:endParaRPr sz="2550" dirty="0">
              <a:latin typeface="Cambria"/>
              <a:cs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79097" y="4036526"/>
            <a:ext cx="801022" cy="659665"/>
          </a:xfrm>
          <a:prstGeom prst="rect">
            <a:avLst/>
          </a:prstGeom>
        </p:spPr>
      </p:pic>
      <p:pic>
        <p:nvPicPr>
          <p:cNvPr id="3" name="object 3"/>
          <p:cNvPicPr/>
          <p:nvPr/>
        </p:nvPicPr>
        <p:blipFill>
          <a:blip r:embed="rId3" cstate="print"/>
          <a:stretch>
            <a:fillRect/>
          </a:stretch>
        </p:blipFill>
        <p:spPr>
          <a:xfrm>
            <a:off x="9565154" y="4012966"/>
            <a:ext cx="973792" cy="769610"/>
          </a:xfrm>
          <a:prstGeom prst="rect">
            <a:avLst/>
          </a:prstGeom>
        </p:spPr>
      </p:pic>
      <p:sp>
        <p:nvSpPr>
          <p:cNvPr id="4" name="object 4" descr="$PPTXTitle"/>
          <p:cNvSpPr txBox="1">
            <a:spLocks noGrp="1"/>
          </p:cNvSpPr>
          <p:nvPr>
            <p:ph type="title"/>
          </p:nvPr>
        </p:nvSpPr>
        <p:spPr>
          <a:prstGeom prst="rect">
            <a:avLst/>
          </a:prstGeom>
        </p:spPr>
        <p:txBody>
          <a:bodyPr vert="horz" wrap="square" lIns="0" tIns="87266" rIns="0" bIns="0" rtlCol="0">
            <a:spAutoFit/>
          </a:bodyPr>
          <a:lstStyle/>
          <a:p>
            <a:pPr marL="13335">
              <a:lnSpc>
                <a:spcPct val="100000"/>
              </a:lnSpc>
              <a:spcBef>
                <a:spcPts val="110"/>
              </a:spcBef>
            </a:pPr>
            <a:r>
              <a:rPr b="1" spc="-65" dirty="0">
                <a:solidFill>
                  <a:srgbClr val="004D80"/>
                </a:solidFill>
                <a:latin typeface="Cambria" panose="02040503050406030204" pitchFamily="18" charset="0"/>
                <a:ea typeface="Cambria" panose="02040503050406030204" pitchFamily="18" charset="0"/>
                <a:cs typeface="Times New Roman"/>
              </a:rPr>
              <a:t>Bitmap</a:t>
            </a:r>
            <a:r>
              <a:rPr b="1" spc="-330" dirty="0">
                <a:solidFill>
                  <a:srgbClr val="004D80"/>
                </a:solidFill>
                <a:latin typeface="Cambria" panose="02040503050406030204" pitchFamily="18" charset="0"/>
                <a:ea typeface="Cambria" panose="02040503050406030204" pitchFamily="18" charset="0"/>
                <a:cs typeface="Times New Roman"/>
              </a:rPr>
              <a:t> </a:t>
            </a:r>
            <a:r>
              <a:rPr b="1" dirty="0">
                <a:solidFill>
                  <a:srgbClr val="005290"/>
                </a:solidFill>
                <a:latin typeface="Cambria" panose="02040503050406030204" pitchFamily="18" charset="0"/>
                <a:ea typeface="Cambria" panose="02040503050406030204" pitchFamily="18" charset="0"/>
                <a:cs typeface="Times New Roman"/>
              </a:rPr>
              <a:t>Index</a:t>
            </a:r>
            <a:r>
              <a:rPr b="1" spc="-345" dirty="0">
                <a:solidFill>
                  <a:srgbClr val="005290"/>
                </a:solidFill>
                <a:latin typeface="Cambria" panose="02040503050406030204" pitchFamily="18" charset="0"/>
                <a:ea typeface="Cambria" panose="02040503050406030204" pitchFamily="18" charset="0"/>
                <a:cs typeface="Times New Roman"/>
              </a:rPr>
              <a:t> </a:t>
            </a:r>
            <a:r>
              <a:rPr b="1" dirty="0">
                <a:solidFill>
                  <a:srgbClr val="005285"/>
                </a:solidFill>
                <a:latin typeface="Cambria" panose="02040503050406030204" pitchFamily="18" charset="0"/>
                <a:ea typeface="Cambria" panose="02040503050406030204" pitchFamily="18" charset="0"/>
                <a:cs typeface="Times New Roman"/>
              </a:rPr>
              <a:t>Scan</a:t>
            </a:r>
            <a:r>
              <a:rPr b="1" spc="-395" dirty="0">
                <a:solidFill>
                  <a:srgbClr val="005285"/>
                </a:solidFill>
                <a:latin typeface="Cambria" panose="02040503050406030204" pitchFamily="18" charset="0"/>
                <a:ea typeface="Cambria" panose="02040503050406030204" pitchFamily="18" charset="0"/>
                <a:cs typeface="Times New Roman"/>
              </a:rPr>
              <a:t> </a:t>
            </a:r>
            <a:r>
              <a:rPr b="1" spc="50" dirty="0">
                <a:solidFill>
                  <a:srgbClr val="074B8C"/>
                </a:solidFill>
                <a:latin typeface="Cambria" panose="02040503050406030204" pitchFamily="18" charset="0"/>
                <a:ea typeface="Cambria" panose="02040503050406030204" pitchFamily="18" charset="0"/>
                <a:cs typeface="Times New Roman"/>
              </a:rPr>
              <a:t>mehanizam</a:t>
            </a:r>
          </a:p>
        </p:txBody>
      </p:sp>
      <p:sp>
        <p:nvSpPr>
          <p:cNvPr id="5" name="object 5"/>
          <p:cNvSpPr txBox="1"/>
          <p:nvPr/>
        </p:nvSpPr>
        <p:spPr>
          <a:xfrm>
            <a:off x="1509239" y="4992383"/>
            <a:ext cx="4631055" cy="2491740"/>
          </a:xfrm>
          <a:prstGeom prst="rect">
            <a:avLst/>
          </a:prstGeom>
        </p:spPr>
        <p:txBody>
          <a:bodyPr vert="horz" wrap="square" lIns="0" tIns="15875" rIns="0" bIns="0" rtlCol="0">
            <a:spAutoFit/>
          </a:bodyPr>
          <a:lstStyle/>
          <a:p>
            <a:pPr marL="849630">
              <a:lnSpc>
                <a:spcPct val="100000"/>
              </a:lnSpc>
              <a:spcBef>
                <a:spcPts val="125"/>
              </a:spcBef>
            </a:pPr>
            <a:r>
              <a:rPr sz="2550" spc="-90" dirty="0">
                <a:solidFill>
                  <a:srgbClr val="034672"/>
                </a:solidFill>
                <a:latin typeface="+mj-lt"/>
                <a:cs typeface="Cambria"/>
              </a:rPr>
              <a:t>1.</a:t>
            </a:r>
            <a:r>
              <a:rPr sz="2550" spc="-75" dirty="0">
                <a:solidFill>
                  <a:srgbClr val="034672"/>
                </a:solidFill>
                <a:latin typeface="+mj-lt"/>
                <a:cs typeface="Cambria"/>
              </a:rPr>
              <a:t> </a:t>
            </a:r>
            <a:r>
              <a:rPr sz="2550" b="1" spc="-75" dirty="0" err="1">
                <a:solidFill>
                  <a:srgbClr val="00497B"/>
                </a:solidFill>
                <a:latin typeface="+mj-lt"/>
                <a:cs typeface="Cambria"/>
              </a:rPr>
              <a:t>Kreiranje</a:t>
            </a:r>
            <a:r>
              <a:rPr sz="2550" b="1" spc="-55" dirty="0">
                <a:solidFill>
                  <a:srgbClr val="00497B"/>
                </a:solidFill>
                <a:latin typeface="+mj-lt"/>
                <a:cs typeface="Cambria"/>
              </a:rPr>
              <a:t> </a:t>
            </a:r>
            <a:r>
              <a:rPr sz="2550" b="1" spc="-10" dirty="0" err="1">
                <a:solidFill>
                  <a:srgbClr val="004D90"/>
                </a:solidFill>
                <a:latin typeface="+mj-lt"/>
                <a:cs typeface="Cambria"/>
              </a:rPr>
              <a:t>bitmapa</a:t>
            </a:r>
            <a:endParaRPr lang="en-US" sz="2550" b="1" dirty="0">
              <a:latin typeface="+mj-lt"/>
              <a:cs typeface="Cambria"/>
            </a:endParaRPr>
          </a:p>
          <a:p>
            <a:pPr algn="ctr">
              <a:lnSpc>
                <a:spcPct val="100000"/>
              </a:lnSpc>
              <a:spcBef>
                <a:spcPts val="30"/>
              </a:spcBef>
            </a:pPr>
            <a:r>
              <a:rPr sz="2550" dirty="0">
                <a:solidFill>
                  <a:srgbClr val="333333"/>
                </a:solidFill>
                <a:latin typeface="Calibri"/>
                <a:cs typeface="Calibri"/>
              </a:rPr>
              <a:t>Za</a:t>
            </a:r>
            <a:r>
              <a:rPr sz="2550" spc="135" dirty="0">
                <a:solidFill>
                  <a:srgbClr val="333333"/>
                </a:solidFill>
                <a:latin typeface="Calibri"/>
                <a:cs typeface="Calibri"/>
              </a:rPr>
              <a:t> </a:t>
            </a:r>
            <a:r>
              <a:rPr sz="2550" dirty="0">
                <a:solidFill>
                  <a:srgbClr val="3A3A3A"/>
                </a:solidFill>
                <a:latin typeface="Calibri"/>
                <a:cs typeface="Calibri"/>
              </a:rPr>
              <a:t>svaki</a:t>
            </a:r>
            <a:r>
              <a:rPr sz="2550" spc="15" dirty="0">
                <a:solidFill>
                  <a:srgbClr val="3A3A3A"/>
                </a:solidFill>
                <a:latin typeface="Calibri"/>
                <a:cs typeface="Calibri"/>
              </a:rPr>
              <a:t> </a:t>
            </a:r>
            <a:r>
              <a:rPr sz="2550" dirty="0">
                <a:solidFill>
                  <a:srgbClr val="343434"/>
                </a:solidFill>
                <a:latin typeface="Calibri"/>
                <a:cs typeface="Calibri"/>
              </a:rPr>
              <a:t>indeks</a:t>
            </a:r>
            <a:r>
              <a:rPr sz="2550" spc="-5" dirty="0">
                <a:solidFill>
                  <a:srgbClr val="343434"/>
                </a:solidFill>
                <a:latin typeface="Calibri"/>
                <a:cs typeface="Calibri"/>
              </a:rPr>
              <a:t> </a:t>
            </a:r>
            <a:r>
              <a:rPr sz="2550" dirty="0">
                <a:solidFill>
                  <a:srgbClr val="2D2D2D"/>
                </a:solidFill>
                <a:latin typeface="Calibri"/>
                <a:cs typeface="Calibri"/>
              </a:rPr>
              <a:t>kreira</a:t>
            </a:r>
            <a:r>
              <a:rPr sz="2550" spc="65" dirty="0">
                <a:solidFill>
                  <a:srgbClr val="2D2D2D"/>
                </a:solidFill>
                <a:latin typeface="Calibri"/>
                <a:cs typeface="Calibri"/>
              </a:rPr>
              <a:t> </a:t>
            </a:r>
            <a:r>
              <a:rPr sz="2550" spc="-35" dirty="0">
                <a:solidFill>
                  <a:srgbClr val="2D2D2D"/>
                </a:solidFill>
                <a:latin typeface="Calibri"/>
                <a:cs typeface="Calibri"/>
              </a:rPr>
              <a:t>se</a:t>
            </a:r>
            <a:r>
              <a:rPr sz="2550" spc="-105" dirty="0">
                <a:solidFill>
                  <a:srgbClr val="2D2D2D"/>
                </a:solidFill>
                <a:latin typeface="Calibri"/>
                <a:cs typeface="Calibri"/>
              </a:rPr>
              <a:t> </a:t>
            </a:r>
            <a:r>
              <a:rPr sz="2550" spc="-30" dirty="0">
                <a:solidFill>
                  <a:srgbClr val="343434"/>
                </a:solidFill>
                <a:latin typeface="Calibri"/>
                <a:cs typeface="Calibri"/>
              </a:rPr>
              <a:t>bitmapa</a:t>
            </a:r>
            <a:r>
              <a:rPr sz="2550" spc="65" dirty="0">
                <a:solidFill>
                  <a:srgbClr val="343434"/>
                </a:solidFill>
                <a:latin typeface="Calibri"/>
                <a:cs typeface="Calibri"/>
              </a:rPr>
              <a:t> </a:t>
            </a:r>
            <a:r>
              <a:rPr sz="2550" spc="40" dirty="0">
                <a:solidFill>
                  <a:srgbClr val="343434"/>
                </a:solidFill>
                <a:latin typeface="Calibri"/>
                <a:cs typeface="Calibri"/>
              </a:rPr>
              <a:t>u</a:t>
            </a:r>
            <a:endParaRPr sz="2550" dirty="0">
              <a:latin typeface="Calibri"/>
              <a:cs typeface="Calibri"/>
            </a:endParaRPr>
          </a:p>
          <a:p>
            <a:pPr marL="233045" marR="236854" indent="-24130" algn="ctr">
              <a:lnSpc>
                <a:spcPct val="109100"/>
              </a:lnSpc>
            </a:pPr>
            <a:r>
              <a:rPr sz="2550" spc="-10" dirty="0">
                <a:solidFill>
                  <a:srgbClr val="333333"/>
                </a:solidFill>
                <a:latin typeface="Calibri"/>
                <a:cs typeface="Calibri"/>
              </a:rPr>
              <a:t>memoriji</a:t>
            </a:r>
            <a:r>
              <a:rPr sz="2550" spc="55" dirty="0">
                <a:solidFill>
                  <a:srgbClr val="333333"/>
                </a:solidFill>
                <a:latin typeface="Calibri"/>
                <a:cs typeface="Calibri"/>
              </a:rPr>
              <a:t> </a:t>
            </a:r>
            <a:r>
              <a:rPr sz="2550" dirty="0">
                <a:solidFill>
                  <a:srgbClr val="343434"/>
                </a:solidFill>
                <a:latin typeface="Calibri"/>
                <a:cs typeface="Calibri"/>
              </a:rPr>
              <a:t>gde</a:t>
            </a:r>
            <a:r>
              <a:rPr sz="2550" spc="-135" dirty="0">
                <a:solidFill>
                  <a:srgbClr val="343434"/>
                </a:solidFill>
                <a:latin typeface="Calibri"/>
                <a:cs typeface="Calibri"/>
              </a:rPr>
              <a:t> </a:t>
            </a:r>
            <a:r>
              <a:rPr sz="2550" dirty="0">
                <a:solidFill>
                  <a:srgbClr val="383838"/>
                </a:solidFill>
                <a:latin typeface="Calibri"/>
                <a:cs typeface="Calibri"/>
              </a:rPr>
              <a:t>bitovi</a:t>
            </a:r>
            <a:r>
              <a:rPr sz="2550" spc="-65" dirty="0">
                <a:solidFill>
                  <a:srgbClr val="383838"/>
                </a:solidFill>
                <a:latin typeface="Calibri"/>
                <a:cs typeface="Calibri"/>
              </a:rPr>
              <a:t> </a:t>
            </a:r>
            <a:r>
              <a:rPr sz="2550" spc="-10" dirty="0">
                <a:solidFill>
                  <a:srgbClr val="313131"/>
                </a:solidFill>
                <a:latin typeface="Calibri"/>
                <a:cs typeface="Calibri"/>
              </a:rPr>
              <a:t>odgovaraju </a:t>
            </a:r>
            <a:r>
              <a:rPr sz="2550" dirty="0">
                <a:solidFill>
                  <a:srgbClr val="2D2D2D"/>
                </a:solidFill>
                <a:latin typeface="Calibri"/>
                <a:cs typeface="Calibri"/>
              </a:rPr>
              <a:t>stranicama</a:t>
            </a:r>
            <a:r>
              <a:rPr sz="2550" spc="40" dirty="0">
                <a:solidFill>
                  <a:srgbClr val="2D2D2D"/>
                </a:solidFill>
                <a:latin typeface="Calibri"/>
                <a:cs typeface="Calibri"/>
              </a:rPr>
              <a:t> </a:t>
            </a:r>
            <a:r>
              <a:rPr sz="2550" spc="-20" dirty="0">
                <a:solidFill>
                  <a:srgbClr val="343434"/>
                </a:solidFill>
                <a:latin typeface="Calibri"/>
                <a:cs typeface="Calibri"/>
              </a:rPr>
              <a:t>tabele</a:t>
            </a:r>
            <a:r>
              <a:rPr sz="2550" spc="-125" dirty="0">
                <a:solidFill>
                  <a:srgbClr val="343434"/>
                </a:solidFill>
                <a:latin typeface="Calibri"/>
                <a:cs typeface="Calibri"/>
              </a:rPr>
              <a:t> </a:t>
            </a:r>
            <a:r>
              <a:rPr sz="2550" spc="-35" dirty="0">
                <a:solidFill>
                  <a:srgbClr val="262626"/>
                </a:solidFill>
                <a:latin typeface="Calibri"/>
                <a:cs typeface="Calibri"/>
              </a:rPr>
              <a:t>(heap</a:t>
            </a:r>
            <a:r>
              <a:rPr sz="2550" spc="-180" dirty="0">
                <a:solidFill>
                  <a:srgbClr val="262626"/>
                </a:solidFill>
                <a:latin typeface="Calibri"/>
                <a:cs typeface="Calibri"/>
              </a:rPr>
              <a:t> </a:t>
            </a:r>
            <a:r>
              <a:rPr sz="2550" spc="-10" dirty="0">
                <a:solidFill>
                  <a:srgbClr val="282828"/>
                </a:solidFill>
                <a:latin typeface="Calibri"/>
                <a:cs typeface="Calibri"/>
              </a:rPr>
              <a:t>pages).</a:t>
            </a:r>
            <a:endParaRPr sz="2550" dirty="0">
              <a:latin typeface="Calibri"/>
              <a:cs typeface="Calibri"/>
            </a:endParaRPr>
          </a:p>
          <a:p>
            <a:pPr marL="535940" marR="546735" algn="ctr">
              <a:lnSpc>
                <a:spcPts val="3340"/>
              </a:lnSpc>
            </a:pPr>
            <a:r>
              <a:rPr sz="2550" dirty="0">
                <a:solidFill>
                  <a:srgbClr val="2B2B2B"/>
                </a:solidFill>
                <a:latin typeface="Calibri"/>
                <a:cs typeface="Calibri"/>
              </a:rPr>
              <a:t>Bit=1</a:t>
            </a:r>
            <a:r>
              <a:rPr sz="2550" spc="70" dirty="0">
                <a:solidFill>
                  <a:srgbClr val="2B2B2B"/>
                </a:solidFill>
                <a:latin typeface="Calibri"/>
                <a:cs typeface="Calibri"/>
              </a:rPr>
              <a:t> </a:t>
            </a:r>
            <a:r>
              <a:rPr sz="2550" dirty="0">
                <a:solidFill>
                  <a:srgbClr val="313131"/>
                </a:solidFill>
                <a:latin typeface="Calibri"/>
                <a:cs typeface="Calibri"/>
              </a:rPr>
              <a:t>označava</a:t>
            </a:r>
            <a:r>
              <a:rPr sz="2550" spc="165" dirty="0">
                <a:solidFill>
                  <a:srgbClr val="313131"/>
                </a:solidFill>
                <a:latin typeface="Calibri"/>
                <a:cs typeface="Calibri"/>
              </a:rPr>
              <a:t> </a:t>
            </a:r>
            <a:r>
              <a:rPr sz="2550" dirty="0">
                <a:solidFill>
                  <a:srgbClr val="333333"/>
                </a:solidFill>
                <a:latin typeface="Calibri"/>
                <a:cs typeface="Calibri"/>
              </a:rPr>
              <a:t>stranicu</a:t>
            </a:r>
            <a:r>
              <a:rPr sz="2550" spc="320" dirty="0">
                <a:solidFill>
                  <a:srgbClr val="333333"/>
                </a:solidFill>
                <a:latin typeface="Calibri"/>
                <a:cs typeface="Calibri"/>
              </a:rPr>
              <a:t> </a:t>
            </a:r>
            <a:r>
              <a:rPr sz="2550" spc="-25" dirty="0">
                <a:solidFill>
                  <a:srgbClr val="363636"/>
                </a:solidFill>
                <a:latin typeface="Calibri"/>
                <a:cs typeface="Calibri"/>
              </a:rPr>
              <a:t>sa </a:t>
            </a:r>
            <a:r>
              <a:rPr sz="2550" spc="-25" dirty="0">
                <a:solidFill>
                  <a:srgbClr val="313131"/>
                </a:solidFill>
                <a:latin typeface="Calibri"/>
                <a:cs typeface="Calibri"/>
              </a:rPr>
              <a:t>potencijalnim</a:t>
            </a:r>
            <a:r>
              <a:rPr sz="2550" spc="85" dirty="0">
                <a:solidFill>
                  <a:srgbClr val="313131"/>
                </a:solidFill>
                <a:latin typeface="Calibri"/>
                <a:cs typeface="Calibri"/>
              </a:rPr>
              <a:t> </a:t>
            </a:r>
            <a:r>
              <a:rPr sz="2550" spc="-10" dirty="0">
                <a:solidFill>
                  <a:srgbClr val="363636"/>
                </a:solidFill>
                <a:latin typeface="Calibri"/>
                <a:cs typeface="Calibri"/>
              </a:rPr>
              <a:t>rezultatom.</a:t>
            </a:r>
            <a:endParaRPr sz="2550" dirty="0">
              <a:latin typeface="Calibri"/>
              <a:cs typeface="Calibri"/>
            </a:endParaRPr>
          </a:p>
        </p:txBody>
      </p:sp>
      <p:sp>
        <p:nvSpPr>
          <p:cNvPr id="6" name="object 6"/>
          <p:cNvSpPr txBox="1"/>
          <p:nvPr/>
        </p:nvSpPr>
        <p:spPr>
          <a:xfrm>
            <a:off x="7197425" y="3545703"/>
            <a:ext cx="5654675" cy="3608295"/>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0" tIns="0" rIns="0" bIns="0" rtlCol="0">
            <a:spAutoFit/>
          </a:bodyPr>
          <a:lstStyle/>
          <a:p>
            <a:pPr>
              <a:lnSpc>
                <a:spcPct val="100000"/>
              </a:lnSpc>
            </a:pPr>
            <a:endParaRPr sz="2550" dirty="0">
              <a:latin typeface="Times New Roman"/>
              <a:cs typeface="Times New Roman"/>
            </a:endParaRPr>
          </a:p>
          <a:p>
            <a:pPr>
              <a:lnSpc>
                <a:spcPct val="100000"/>
              </a:lnSpc>
            </a:pPr>
            <a:endParaRPr sz="2550" dirty="0">
              <a:latin typeface="Times New Roman"/>
              <a:cs typeface="Times New Roman"/>
            </a:endParaRPr>
          </a:p>
          <a:p>
            <a:pPr>
              <a:lnSpc>
                <a:spcPct val="100000"/>
              </a:lnSpc>
            </a:pPr>
            <a:endParaRPr sz="2550" dirty="0">
              <a:latin typeface="Times New Roman"/>
              <a:cs typeface="Times New Roman"/>
            </a:endParaRPr>
          </a:p>
          <a:p>
            <a:pPr>
              <a:lnSpc>
                <a:spcPct val="100000"/>
              </a:lnSpc>
              <a:spcBef>
                <a:spcPts val="35"/>
              </a:spcBef>
            </a:pPr>
            <a:endParaRPr sz="2550" dirty="0">
              <a:latin typeface="Times New Roman"/>
              <a:cs typeface="Times New Roman"/>
            </a:endParaRPr>
          </a:p>
          <a:p>
            <a:pPr marL="1245870">
              <a:lnSpc>
                <a:spcPct val="100000"/>
              </a:lnSpc>
            </a:pPr>
            <a:r>
              <a:rPr sz="2550" b="1" dirty="0">
                <a:solidFill>
                  <a:srgbClr val="004F8A"/>
                </a:solidFill>
                <a:latin typeface="Calibri"/>
                <a:cs typeface="Calibri"/>
              </a:rPr>
              <a:t>2.</a:t>
            </a:r>
            <a:r>
              <a:rPr sz="2550" b="1" spc="-190" dirty="0">
                <a:solidFill>
                  <a:srgbClr val="004F8A"/>
                </a:solidFill>
                <a:latin typeface="Calibri"/>
                <a:cs typeface="Calibri"/>
              </a:rPr>
              <a:t> </a:t>
            </a:r>
            <a:r>
              <a:rPr sz="2550" b="1" spc="95" dirty="0">
                <a:solidFill>
                  <a:srgbClr val="03528A"/>
                </a:solidFill>
                <a:latin typeface="Calibri"/>
                <a:cs typeface="Calibri"/>
              </a:rPr>
              <a:t>Ukrštanje</a:t>
            </a:r>
            <a:r>
              <a:rPr sz="2550" b="1" spc="150" dirty="0">
                <a:solidFill>
                  <a:srgbClr val="03528A"/>
                </a:solidFill>
                <a:latin typeface="Calibri"/>
                <a:cs typeface="Calibri"/>
              </a:rPr>
              <a:t> </a:t>
            </a:r>
            <a:r>
              <a:rPr sz="2550" b="1" spc="-10" dirty="0">
                <a:solidFill>
                  <a:srgbClr val="085285"/>
                </a:solidFill>
                <a:latin typeface="Calibri"/>
                <a:cs typeface="Calibri"/>
              </a:rPr>
              <a:t>(AND/OR)</a:t>
            </a:r>
            <a:endParaRPr sz="2550" dirty="0">
              <a:latin typeface="Calibri"/>
              <a:cs typeface="Calibri"/>
            </a:endParaRPr>
          </a:p>
          <a:p>
            <a:pPr marL="17780" algn="ctr">
              <a:lnSpc>
                <a:spcPct val="100000"/>
              </a:lnSpc>
              <a:spcBef>
                <a:spcPts val="30"/>
              </a:spcBef>
            </a:pPr>
            <a:r>
              <a:rPr sz="2550" spc="-10" dirty="0">
                <a:solidFill>
                  <a:srgbClr val="343434"/>
                </a:solidFill>
                <a:latin typeface="Calibri"/>
                <a:cs typeface="Calibri"/>
              </a:rPr>
              <a:t>Bitmape</a:t>
            </a:r>
            <a:r>
              <a:rPr sz="2550" spc="-145" dirty="0">
                <a:solidFill>
                  <a:srgbClr val="343434"/>
                </a:solidFill>
                <a:latin typeface="Calibri"/>
                <a:cs typeface="Calibri"/>
              </a:rPr>
              <a:t> </a:t>
            </a:r>
            <a:r>
              <a:rPr sz="2550" spc="-35" dirty="0">
                <a:solidFill>
                  <a:srgbClr val="313131"/>
                </a:solidFill>
                <a:latin typeface="Calibri"/>
                <a:cs typeface="Calibri"/>
              </a:rPr>
              <a:t>se</a:t>
            </a:r>
            <a:r>
              <a:rPr sz="2550" spc="-110" dirty="0">
                <a:solidFill>
                  <a:srgbClr val="313131"/>
                </a:solidFill>
                <a:latin typeface="Calibri"/>
                <a:cs typeface="Calibri"/>
              </a:rPr>
              <a:t> </a:t>
            </a:r>
            <a:r>
              <a:rPr sz="2550" spc="-20" dirty="0">
                <a:solidFill>
                  <a:srgbClr val="2F2F2F"/>
                </a:solidFill>
                <a:latin typeface="Calibri"/>
                <a:cs typeface="Calibri"/>
              </a:rPr>
              <a:t>kombinuju</a:t>
            </a:r>
            <a:r>
              <a:rPr sz="2550" spc="15" dirty="0">
                <a:solidFill>
                  <a:srgbClr val="2F2F2F"/>
                </a:solidFill>
                <a:latin typeface="Calibri"/>
                <a:cs typeface="Calibri"/>
              </a:rPr>
              <a:t> </a:t>
            </a:r>
            <a:r>
              <a:rPr sz="2550" spc="-10" dirty="0">
                <a:solidFill>
                  <a:srgbClr val="363636"/>
                </a:solidFill>
                <a:latin typeface="Calibri"/>
                <a:cs typeface="Calibri"/>
              </a:rPr>
              <a:t>logičkim</a:t>
            </a:r>
            <a:endParaRPr sz="2550" dirty="0">
              <a:latin typeface="Calibri"/>
              <a:cs typeface="Calibri"/>
            </a:endParaRPr>
          </a:p>
          <a:p>
            <a:pPr marL="521334" marR="454025" indent="-32384" algn="ctr">
              <a:lnSpc>
                <a:spcPct val="107100"/>
              </a:lnSpc>
              <a:spcBef>
                <a:spcPts val="65"/>
              </a:spcBef>
            </a:pPr>
            <a:r>
              <a:rPr sz="2550" spc="-10" dirty="0">
                <a:solidFill>
                  <a:srgbClr val="2F2F2F"/>
                </a:solidFill>
                <a:latin typeface="Calibri"/>
                <a:cs typeface="Calibri"/>
              </a:rPr>
              <a:t>operacijama</a:t>
            </a:r>
            <a:r>
              <a:rPr sz="2550" spc="-85" dirty="0">
                <a:solidFill>
                  <a:srgbClr val="2F2F2F"/>
                </a:solidFill>
                <a:latin typeface="Calibri"/>
                <a:cs typeface="Calibri"/>
              </a:rPr>
              <a:t> </a:t>
            </a:r>
            <a:r>
              <a:rPr sz="2550" dirty="0">
                <a:solidFill>
                  <a:srgbClr val="313131"/>
                </a:solidFill>
                <a:latin typeface="Calibri"/>
                <a:cs typeface="Calibri"/>
              </a:rPr>
              <a:t>(BitmapAnd).</a:t>
            </a:r>
            <a:r>
              <a:rPr sz="2550" spc="-80" dirty="0">
                <a:solidFill>
                  <a:srgbClr val="313131"/>
                </a:solidFill>
                <a:latin typeface="Calibri"/>
                <a:cs typeface="Calibri"/>
              </a:rPr>
              <a:t> </a:t>
            </a:r>
            <a:r>
              <a:rPr sz="2550" spc="-10" dirty="0">
                <a:solidFill>
                  <a:srgbClr val="313131"/>
                </a:solidFill>
                <a:latin typeface="Calibri"/>
                <a:cs typeface="Calibri"/>
              </a:rPr>
              <a:t>Rezultat </a:t>
            </a:r>
            <a:r>
              <a:rPr sz="2550" dirty="0">
                <a:solidFill>
                  <a:srgbClr val="2F2F2F"/>
                </a:solidFill>
                <a:latin typeface="Calibri"/>
                <a:cs typeface="Calibri"/>
              </a:rPr>
              <a:t>je</a:t>
            </a:r>
            <a:r>
              <a:rPr sz="2550" spc="-135" dirty="0">
                <a:solidFill>
                  <a:srgbClr val="2F2F2F"/>
                </a:solidFill>
                <a:latin typeface="Calibri"/>
                <a:cs typeface="Calibri"/>
              </a:rPr>
              <a:t> </a:t>
            </a:r>
            <a:r>
              <a:rPr sz="2550" spc="-25" dirty="0">
                <a:solidFill>
                  <a:srgbClr val="313131"/>
                </a:solidFill>
                <a:latin typeface="Calibri"/>
                <a:cs typeface="Calibri"/>
              </a:rPr>
              <a:t>bitmapa</a:t>
            </a:r>
            <a:r>
              <a:rPr sz="2550" spc="35" dirty="0">
                <a:solidFill>
                  <a:srgbClr val="313131"/>
                </a:solidFill>
                <a:latin typeface="Calibri"/>
                <a:cs typeface="Calibri"/>
              </a:rPr>
              <a:t> </a:t>
            </a:r>
            <a:r>
              <a:rPr sz="2550" dirty="0">
                <a:solidFill>
                  <a:srgbClr val="313131"/>
                </a:solidFill>
                <a:latin typeface="Calibri"/>
                <a:cs typeface="Calibri"/>
              </a:rPr>
              <a:t>stranica</a:t>
            </a:r>
            <a:r>
              <a:rPr sz="2550" spc="45" dirty="0">
                <a:solidFill>
                  <a:srgbClr val="313131"/>
                </a:solidFill>
                <a:latin typeface="Calibri"/>
                <a:cs typeface="Calibri"/>
              </a:rPr>
              <a:t> </a:t>
            </a:r>
            <a:r>
              <a:rPr sz="2550" spc="-30" dirty="0">
                <a:solidFill>
                  <a:srgbClr val="2F2F2F"/>
                </a:solidFill>
                <a:latin typeface="Calibri"/>
                <a:cs typeface="Calibri"/>
              </a:rPr>
              <a:t>koje</a:t>
            </a:r>
            <a:r>
              <a:rPr sz="2550" spc="-110" dirty="0">
                <a:solidFill>
                  <a:srgbClr val="2F2F2F"/>
                </a:solidFill>
                <a:latin typeface="Calibri"/>
                <a:cs typeface="Calibri"/>
              </a:rPr>
              <a:t> </a:t>
            </a:r>
            <a:r>
              <a:rPr sz="2550" spc="-10" dirty="0">
                <a:solidFill>
                  <a:srgbClr val="363636"/>
                </a:solidFill>
                <a:latin typeface="Calibri"/>
                <a:cs typeface="Calibri"/>
              </a:rPr>
              <a:t>sadrže </a:t>
            </a:r>
            <a:r>
              <a:rPr sz="2550" dirty="0">
                <a:solidFill>
                  <a:srgbClr val="282828"/>
                </a:solidFill>
                <a:latin typeface="Calibri"/>
                <a:cs typeface="Calibri"/>
              </a:rPr>
              <a:t>redove </a:t>
            </a:r>
            <a:r>
              <a:rPr sz="2550" spc="-10" dirty="0">
                <a:solidFill>
                  <a:srgbClr val="363636"/>
                </a:solidFill>
                <a:latin typeface="Calibri"/>
                <a:cs typeface="Calibri"/>
              </a:rPr>
              <a:t>koji</a:t>
            </a:r>
            <a:r>
              <a:rPr sz="2550" spc="-45" dirty="0">
                <a:solidFill>
                  <a:srgbClr val="363636"/>
                </a:solidFill>
                <a:latin typeface="Calibri"/>
                <a:cs typeface="Calibri"/>
              </a:rPr>
              <a:t> </a:t>
            </a:r>
            <a:r>
              <a:rPr sz="2550" dirty="0">
                <a:solidFill>
                  <a:srgbClr val="2A2A2A"/>
                </a:solidFill>
                <a:latin typeface="Calibri"/>
                <a:cs typeface="Calibri"/>
              </a:rPr>
              <a:t>zadovoljavaju</a:t>
            </a:r>
            <a:r>
              <a:rPr sz="2550" spc="155" dirty="0">
                <a:solidFill>
                  <a:srgbClr val="2A2A2A"/>
                </a:solidFill>
                <a:latin typeface="Calibri"/>
                <a:cs typeface="Calibri"/>
              </a:rPr>
              <a:t> </a:t>
            </a:r>
            <a:r>
              <a:rPr sz="2550" spc="-10" dirty="0" err="1">
                <a:solidFill>
                  <a:srgbClr val="363636"/>
                </a:solidFill>
                <a:latin typeface="Calibri"/>
                <a:cs typeface="Calibri"/>
              </a:rPr>
              <a:t>sve</a:t>
            </a:r>
            <a:r>
              <a:rPr sz="2550" spc="-140" dirty="0">
                <a:solidFill>
                  <a:srgbClr val="363636"/>
                </a:solidFill>
                <a:latin typeface="Calibri"/>
                <a:cs typeface="Calibri"/>
              </a:rPr>
              <a:t> </a:t>
            </a:r>
            <a:r>
              <a:rPr sz="2550" spc="-10" dirty="0">
                <a:solidFill>
                  <a:srgbClr val="2D2D2D"/>
                </a:solidFill>
                <a:latin typeface="Calibri"/>
                <a:cs typeface="Calibri"/>
              </a:rPr>
              <a:t>fil</a:t>
            </a:r>
            <a:r>
              <a:rPr lang="sr-Latn-RS" sz="2550" spc="-10" dirty="0">
                <a:solidFill>
                  <a:srgbClr val="2D2D2D"/>
                </a:solidFill>
                <a:latin typeface="Calibri"/>
                <a:cs typeface="Calibri"/>
              </a:rPr>
              <a:t>e</a:t>
            </a:r>
            <a:r>
              <a:rPr sz="2550" spc="-10" dirty="0">
                <a:solidFill>
                  <a:srgbClr val="2D2D2D"/>
                </a:solidFill>
                <a:latin typeface="Calibri"/>
                <a:cs typeface="Calibri"/>
              </a:rPr>
              <a:t>re.</a:t>
            </a:r>
            <a:endParaRPr sz="2550" dirty="0">
              <a:latin typeface="Calibri"/>
              <a:cs typeface="Calibri"/>
            </a:endParaRPr>
          </a:p>
        </p:txBody>
      </p:sp>
      <p:sp>
        <p:nvSpPr>
          <p:cNvPr id="7" name="object 7"/>
          <p:cNvSpPr txBox="1"/>
          <p:nvPr/>
        </p:nvSpPr>
        <p:spPr>
          <a:xfrm>
            <a:off x="14082842" y="4967515"/>
            <a:ext cx="4370070" cy="2516505"/>
          </a:xfrm>
          <a:prstGeom prst="rect">
            <a:avLst/>
          </a:prstGeom>
        </p:spPr>
        <p:txBody>
          <a:bodyPr vert="horz" wrap="square" lIns="0" tIns="17145" rIns="0" bIns="0" rtlCol="0">
            <a:spAutoFit/>
          </a:bodyPr>
          <a:lstStyle/>
          <a:p>
            <a:pPr marL="5080" algn="ctr">
              <a:lnSpc>
                <a:spcPts val="3320"/>
              </a:lnSpc>
              <a:spcBef>
                <a:spcPts val="135"/>
              </a:spcBef>
            </a:pPr>
            <a:r>
              <a:rPr sz="2800" b="1" spc="-60" dirty="0">
                <a:solidFill>
                  <a:srgbClr val="01497C"/>
                </a:solidFill>
                <a:latin typeface="+mj-lt"/>
                <a:cs typeface="Times New Roman"/>
              </a:rPr>
              <a:t>3.</a:t>
            </a:r>
            <a:r>
              <a:rPr sz="2800" b="1" spc="-210" dirty="0">
                <a:solidFill>
                  <a:srgbClr val="01497C"/>
                </a:solidFill>
                <a:latin typeface="+mj-lt"/>
                <a:cs typeface="Times New Roman"/>
              </a:rPr>
              <a:t> </a:t>
            </a:r>
            <a:r>
              <a:rPr sz="2800" b="1" dirty="0">
                <a:solidFill>
                  <a:srgbClr val="005693"/>
                </a:solidFill>
                <a:latin typeface="+mj-lt"/>
                <a:cs typeface="Times New Roman"/>
              </a:rPr>
              <a:t>Bitmap</a:t>
            </a:r>
            <a:r>
              <a:rPr sz="2800" b="1" spc="-45" dirty="0">
                <a:solidFill>
                  <a:srgbClr val="005693"/>
                </a:solidFill>
                <a:latin typeface="+mj-lt"/>
                <a:cs typeface="Times New Roman"/>
              </a:rPr>
              <a:t> </a:t>
            </a:r>
            <a:r>
              <a:rPr sz="2800" b="1" spc="-50" dirty="0">
                <a:solidFill>
                  <a:srgbClr val="004F93"/>
                </a:solidFill>
                <a:latin typeface="+mj-lt"/>
                <a:cs typeface="Times New Roman"/>
              </a:rPr>
              <a:t>Heap</a:t>
            </a:r>
            <a:r>
              <a:rPr sz="2800" b="1" spc="-195" dirty="0">
                <a:solidFill>
                  <a:srgbClr val="004F93"/>
                </a:solidFill>
                <a:latin typeface="+mj-lt"/>
                <a:cs typeface="Times New Roman"/>
              </a:rPr>
              <a:t> </a:t>
            </a:r>
            <a:r>
              <a:rPr sz="2800" b="1" spc="-20" dirty="0">
                <a:solidFill>
                  <a:srgbClr val="004D85"/>
                </a:solidFill>
                <a:latin typeface="+mj-lt"/>
                <a:cs typeface="Times New Roman"/>
              </a:rPr>
              <a:t>Scan</a:t>
            </a:r>
            <a:endParaRPr sz="2800" b="1" dirty="0">
              <a:latin typeface="+mj-lt"/>
              <a:cs typeface="Times New Roman"/>
            </a:endParaRPr>
          </a:p>
          <a:p>
            <a:pPr marL="20955" algn="ctr">
              <a:lnSpc>
                <a:spcPts val="3020"/>
              </a:lnSpc>
            </a:pPr>
            <a:r>
              <a:rPr sz="2550" spc="55" dirty="0">
                <a:solidFill>
                  <a:srgbClr val="313131"/>
                </a:solidFill>
                <a:latin typeface="Calibri"/>
                <a:cs typeface="Calibri"/>
              </a:rPr>
              <a:t>Čitaju</a:t>
            </a:r>
            <a:r>
              <a:rPr sz="2550" dirty="0">
                <a:solidFill>
                  <a:srgbClr val="313131"/>
                </a:solidFill>
                <a:latin typeface="Calibri"/>
                <a:cs typeface="Calibri"/>
              </a:rPr>
              <a:t> </a:t>
            </a:r>
            <a:r>
              <a:rPr sz="2550" spc="-10" dirty="0">
                <a:solidFill>
                  <a:srgbClr val="3A3A3A"/>
                </a:solidFill>
                <a:latin typeface="Calibri"/>
                <a:cs typeface="Calibri"/>
              </a:rPr>
              <a:t>se</a:t>
            </a:r>
            <a:r>
              <a:rPr sz="2550" spc="-114" dirty="0">
                <a:solidFill>
                  <a:srgbClr val="3A3A3A"/>
                </a:solidFill>
                <a:latin typeface="Calibri"/>
                <a:cs typeface="Calibri"/>
              </a:rPr>
              <a:t> </a:t>
            </a:r>
            <a:r>
              <a:rPr sz="2550" spc="-45" dirty="0">
                <a:solidFill>
                  <a:srgbClr val="2B2B2B"/>
                </a:solidFill>
                <a:latin typeface="Calibri"/>
                <a:cs typeface="Calibri"/>
              </a:rPr>
              <a:t>samo </a:t>
            </a:r>
            <a:r>
              <a:rPr sz="2550" dirty="0">
                <a:solidFill>
                  <a:srgbClr val="343434"/>
                </a:solidFill>
                <a:latin typeface="Calibri"/>
                <a:cs typeface="Calibri"/>
              </a:rPr>
              <a:t>stranice</a:t>
            </a:r>
            <a:r>
              <a:rPr sz="2550" spc="-25" dirty="0">
                <a:solidFill>
                  <a:srgbClr val="343434"/>
                </a:solidFill>
                <a:latin typeface="Calibri"/>
                <a:cs typeface="Calibri"/>
              </a:rPr>
              <a:t> </a:t>
            </a:r>
            <a:r>
              <a:rPr sz="2550" spc="40" dirty="0">
                <a:solidFill>
                  <a:srgbClr val="343434"/>
                </a:solidFill>
                <a:latin typeface="Calibri"/>
                <a:cs typeface="Calibri"/>
              </a:rPr>
              <a:t>iz</a:t>
            </a:r>
            <a:endParaRPr sz="2550" dirty="0">
              <a:latin typeface="Calibri"/>
              <a:cs typeface="Calibri"/>
            </a:endParaRPr>
          </a:p>
          <a:p>
            <a:pPr marL="12700" marR="5080" indent="17780" algn="ctr">
              <a:lnSpc>
                <a:spcPct val="107800"/>
              </a:lnSpc>
              <a:spcBef>
                <a:spcPts val="40"/>
              </a:spcBef>
            </a:pPr>
            <a:r>
              <a:rPr sz="2550" dirty="0" err="1">
                <a:solidFill>
                  <a:srgbClr val="262626"/>
                </a:solidFill>
                <a:latin typeface="Calibri"/>
                <a:cs typeface="Calibri"/>
              </a:rPr>
              <a:t>rezultuju</a:t>
            </a:r>
            <a:r>
              <a:rPr lang="sr-Latn-RS" sz="2550" dirty="0">
                <a:solidFill>
                  <a:srgbClr val="262626"/>
                </a:solidFill>
                <a:latin typeface="Calibri"/>
                <a:cs typeface="Calibri"/>
              </a:rPr>
              <a:t>ć</a:t>
            </a:r>
            <a:r>
              <a:rPr sz="2550" dirty="0">
                <a:solidFill>
                  <a:srgbClr val="262626"/>
                </a:solidFill>
                <a:latin typeface="Calibri"/>
                <a:cs typeface="Calibri"/>
              </a:rPr>
              <a:t>e</a:t>
            </a:r>
            <a:r>
              <a:rPr sz="2550" spc="-20" dirty="0">
                <a:solidFill>
                  <a:srgbClr val="262626"/>
                </a:solidFill>
                <a:latin typeface="Calibri"/>
                <a:cs typeface="Calibri"/>
              </a:rPr>
              <a:t> </a:t>
            </a:r>
            <a:r>
              <a:rPr sz="2550" spc="-25" dirty="0">
                <a:solidFill>
                  <a:srgbClr val="333333"/>
                </a:solidFill>
                <a:latin typeface="Calibri"/>
                <a:cs typeface="Calibri"/>
              </a:rPr>
              <a:t>bitmape</a:t>
            </a:r>
            <a:r>
              <a:rPr sz="2550" spc="35" dirty="0">
                <a:solidFill>
                  <a:srgbClr val="333333"/>
                </a:solidFill>
                <a:latin typeface="Calibri"/>
                <a:cs typeface="Calibri"/>
              </a:rPr>
              <a:t> </a:t>
            </a:r>
            <a:r>
              <a:rPr sz="2550" dirty="0">
                <a:solidFill>
                  <a:srgbClr val="424242"/>
                </a:solidFill>
                <a:latin typeface="Calibri"/>
                <a:cs typeface="Calibri"/>
              </a:rPr>
              <a:t>-</a:t>
            </a:r>
            <a:r>
              <a:rPr sz="2550" spc="-35" dirty="0">
                <a:solidFill>
                  <a:srgbClr val="424242"/>
                </a:solidFill>
                <a:latin typeface="Calibri"/>
                <a:cs typeface="Calibri"/>
              </a:rPr>
              <a:t> </a:t>
            </a:r>
            <a:r>
              <a:rPr sz="2550" spc="-45" dirty="0">
                <a:solidFill>
                  <a:srgbClr val="282828"/>
                </a:solidFill>
                <a:latin typeface="Calibri"/>
                <a:cs typeface="Calibri"/>
              </a:rPr>
              <a:t>redom,</a:t>
            </a:r>
            <a:r>
              <a:rPr sz="2550" spc="-100" dirty="0">
                <a:solidFill>
                  <a:srgbClr val="282828"/>
                </a:solidFill>
                <a:latin typeface="Calibri"/>
                <a:cs typeface="Calibri"/>
              </a:rPr>
              <a:t> </a:t>
            </a:r>
            <a:r>
              <a:rPr sz="2550" spc="-25" dirty="0">
                <a:solidFill>
                  <a:srgbClr val="333333"/>
                </a:solidFill>
                <a:latin typeface="Calibri"/>
                <a:cs typeface="Calibri"/>
              </a:rPr>
              <a:t>od </a:t>
            </a:r>
            <a:r>
              <a:rPr sz="2550" dirty="0">
                <a:solidFill>
                  <a:srgbClr val="343434"/>
                </a:solidFill>
                <a:latin typeface="Calibri"/>
                <a:cs typeface="Calibri"/>
              </a:rPr>
              <a:t>prve</a:t>
            </a:r>
            <a:r>
              <a:rPr sz="2550" spc="-114" dirty="0">
                <a:solidFill>
                  <a:srgbClr val="343434"/>
                </a:solidFill>
                <a:latin typeface="Calibri"/>
                <a:cs typeface="Calibri"/>
              </a:rPr>
              <a:t> </a:t>
            </a:r>
            <a:r>
              <a:rPr sz="2550" dirty="0">
                <a:solidFill>
                  <a:srgbClr val="2D2D2D"/>
                </a:solidFill>
                <a:latin typeface="Calibri"/>
                <a:cs typeface="Calibri"/>
              </a:rPr>
              <a:t>do</a:t>
            </a:r>
            <a:r>
              <a:rPr sz="2550" spc="-80" dirty="0">
                <a:solidFill>
                  <a:srgbClr val="2D2D2D"/>
                </a:solidFill>
                <a:latin typeface="Calibri"/>
                <a:cs typeface="Calibri"/>
              </a:rPr>
              <a:t> </a:t>
            </a:r>
            <a:r>
              <a:rPr sz="2550" spc="-30" dirty="0">
                <a:solidFill>
                  <a:srgbClr val="363636"/>
                </a:solidFill>
                <a:latin typeface="Calibri"/>
                <a:cs typeface="Calibri"/>
              </a:rPr>
              <a:t>poslednje.</a:t>
            </a:r>
            <a:r>
              <a:rPr sz="2550" spc="-20" dirty="0">
                <a:solidFill>
                  <a:srgbClr val="363636"/>
                </a:solidFill>
                <a:latin typeface="Calibri"/>
                <a:cs typeface="Calibri"/>
              </a:rPr>
              <a:t> </a:t>
            </a:r>
            <a:r>
              <a:rPr sz="2550" spc="50" dirty="0">
                <a:solidFill>
                  <a:srgbClr val="363636"/>
                </a:solidFill>
                <a:latin typeface="Calibri"/>
                <a:cs typeface="Calibri"/>
              </a:rPr>
              <a:t>Ovo</a:t>
            </a:r>
            <a:r>
              <a:rPr sz="2550" spc="-40" dirty="0">
                <a:solidFill>
                  <a:srgbClr val="363636"/>
                </a:solidFill>
                <a:latin typeface="Calibri"/>
                <a:cs typeface="Calibri"/>
              </a:rPr>
              <a:t> </a:t>
            </a:r>
            <a:r>
              <a:rPr sz="2550" spc="-10" dirty="0">
                <a:solidFill>
                  <a:srgbClr val="2B2B2B"/>
                </a:solidFill>
                <a:latin typeface="Calibri"/>
                <a:cs typeface="Calibri"/>
              </a:rPr>
              <a:t>drastično </a:t>
            </a:r>
            <a:r>
              <a:rPr sz="2550" spc="-10" dirty="0">
                <a:solidFill>
                  <a:srgbClr val="2F2F2F"/>
                </a:solidFill>
                <a:latin typeface="Calibri"/>
                <a:cs typeface="Calibri"/>
              </a:rPr>
              <a:t>smanjuje</a:t>
            </a:r>
            <a:r>
              <a:rPr sz="2550" spc="-65" dirty="0">
                <a:solidFill>
                  <a:srgbClr val="2F2F2F"/>
                </a:solidFill>
                <a:latin typeface="Calibri"/>
                <a:cs typeface="Calibri"/>
              </a:rPr>
              <a:t> </a:t>
            </a:r>
            <a:r>
              <a:rPr sz="2550" dirty="0">
                <a:solidFill>
                  <a:srgbClr val="2F2F2F"/>
                </a:solidFill>
                <a:latin typeface="Calibri"/>
                <a:cs typeface="Calibri"/>
              </a:rPr>
              <a:t>random</a:t>
            </a:r>
            <a:r>
              <a:rPr sz="2550" spc="25" dirty="0">
                <a:solidFill>
                  <a:srgbClr val="2F2F2F"/>
                </a:solidFill>
                <a:latin typeface="Calibri"/>
                <a:cs typeface="Calibri"/>
              </a:rPr>
              <a:t> </a:t>
            </a:r>
            <a:r>
              <a:rPr sz="2550" dirty="0">
                <a:solidFill>
                  <a:srgbClr val="2B2B2B"/>
                </a:solidFill>
                <a:latin typeface="Calibri"/>
                <a:cs typeface="Calibri"/>
              </a:rPr>
              <a:t>I/O</a:t>
            </a:r>
            <a:r>
              <a:rPr sz="2550" spc="-150" dirty="0">
                <a:solidFill>
                  <a:srgbClr val="2B2B2B"/>
                </a:solidFill>
                <a:latin typeface="Calibri"/>
                <a:cs typeface="Calibri"/>
              </a:rPr>
              <a:t> </a:t>
            </a:r>
            <a:r>
              <a:rPr sz="2550" spc="-20" dirty="0">
                <a:solidFill>
                  <a:srgbClr val="383838"/>
                </a:solidFill>
                <a:latin typeface="Calibri"/>
                <a:cs typeface="Calibri"/>
              </a:rPr>
              <a:t>skokove</a:t>
            </a:r>
            <a:r>
              <a:rPr sz="2550" spc="-85" dirty="0">
                <a:solidFill>
                  <a:srgbClr val="383838"/>
                </a:solidFill>
                <a:latin typeface="Calibri"/>
                <a:cs typeface="Calibri"/>
              </a:rPr>
              <a:t> </a:t>
            </a:r>
            <a:r>
              <a:rPr sz="2550" spc="-25" dirty="0">
                <a:solidFill>
                  <a:srgbClr val="3B3B3B"/>
                </a:solidFill>
                <a:latin typeface="Calibri"/>
                <a:cs typeface="Calibri"/>
              </a:rPr>
              <a:t>po </a:t>
            </a:r>
            <a:r>
              <a:rPr sz="2550" spc="-10" dirty="0">
                <a:solidFill>
                  <a:srgbClr val="313131"/>
                </a:solidFill>
                <a:latin typeface="Calibri"/>
                <a:cs typeface="Calibri"/>
              </a:rPr>
              <a:t>disku.</a:t>
            </a:r>
            <a:endParaRPr sz="2550" dirty="0">
              <a:latin typeface="Calibri"/>
              <a:cs typeface="Calibri"/>
            </a:endParaRPr>
          </a:p>
        </p:txBody>
      </p:sp>
      <p:sp>
        <p:nvSpPr>
          <p:cNvPr id="8" name="object 8"/>
          <p:cNvSpPr txBox="1"/>
          <p:nvPr/>
        </p:nvSpPr>
        <p:spPr>
          <a:xfrm>
            <a:off x="1080055" y="8526306"/>
            <a:ext cx="17933035" cy="2242793"/>
          </a:xfrm>
          <a:prstGeom prst="rect">
            <a:avLst/>
          </a:prstGeom>
        </p:spPr>
        <p:txBody>
          <a:bodyPr vert="horz" wrap="square" lIns="0" tIns="11430" rIns="0" bIns="0" rtlCol="0">
            <a:spAutoFit/>
          </a:bodyPr>
          <a:lstStyle/>
          <a:p>
            <a:pPr marL="8500110" marR="5080" indent="-8488045" algn="l">
              <a:lnSpc>
                <a:spcPct val="113199"/>
              </a:lnSpc>
              <a:spcBef>
                <a:spcPts val="90"/>
              </a:spcBef>
            </a:pPr>
            <a:r>
              <a:rPr lang="sr-Latn-RS" sz="2550" dirty="0">
                <a:solidFill>
                  <a:srgbClr val="313131"/>
                </a:solidFill>
                <a:latin typeface="Calibri"/>
                <a:cs typeface="Calibri"/>
              </a:rPr>
              <a:t>Bitmappe mogu biti eksaktne (exact) ili gubitne (lossy). </a:t>
            </a:r>
            <a:endParaRPr lang="en-US" sz="2550" dirty="0">
              <a:solidFill>
                <a:srgbClr val="313131"/>
              </a:solidFill>
              <a:latin typeface="Calibri"/>
              <a:cs typeface="Calibri"/>
            </a:endParaRPr>
          </a:p>
          <a:p>
            <a:pPr marL="8500110" marR="5080" indent="-8488045" algn="l">
              <a:lnSpc>
                <a:spcPct val="113199"/>
              </a:lnSpc>
              <a:spcBef>
                <a:spcPts val="90"/>
              </a:spcBef>
            </a:pPr>
            <a:r>
              <a:rPr lang="sr-Latn-RS" sz="2550" dirty="0">
                <a:solidFill>
                  <a:srgbClr val="313131"/>
                </a:solidFill>
                <a:latin typeface="Calibri"/>
                <a:cs typeface="Calibri"/>
              </a:rPr>
              <a:t>Eksaktna bitmapa pamti tačne TID pokazivače unutar stranice, dok gubitna</a:t>
            </a:r>
            <a:r>
              <a:rPr lang="en-US" sz="2550" dirty="0">
                <a:solidFill>
                  <a:srgbClr val="313131"/>
                </a:solidFill>
                <a:latin typeface="Calibri"/>
                <a:cs typeface="Calibri"/>
              </a:rPr>
              <a:t> </a:t>
            </a:r>
            <a:r>
              <a:rPr lang="sr-Latn-RS" sz="2550" dirty="0">
                <a:solidFill>
                  <a:srgbClr val="313131"/>
                </a:solidFill>
                <a:latin typeface="Calibri"/>
                <a:cs typeface="Calibri"/>
              </a:rPr>
              <a:t>pamti samo broj stranice. </a:t>
            </a:r>
            <a:endParaRPr lang="en-US" sz="2550" dirty="0">
              <a:solidFill>
                <a:srgbClr val="313131"/>
              </a:solidFill>
              <a:latin typeface="Calibri"/>
              <a:cs typeface="Calibri"/>
            </a:endParaRPr>
          </a:p>
          <a:p>
            <a:pPr marL="8500110" marR="5080" indent="-8488045" algn="l">
              <a:lnSpc>
                <a:spcPct val="113199"/>
              </a:lnSpc>
              <a:spcBef>
                <a:spcPts val="90"/>
              </a:spcBef>
            </a:pPr>
            <a:r>
              <a:rPr lang="sr-Latn-RS" sz="2550" dirty="0">
                <a:solidFill>
                  <a:srgbClr val="313131"/>
                </a:solidFill>
                <a:latin typeface="Calibri"/>
                <a:cs typeface="Calibri"/>
              </a:rPr>
              <a:t>Gubitna bitmapa nastaje kada je rezultat skupa velik i ne staje u radnu memoriju dodeljenu za ovu operaciju (work_mem parametar).</a:t>
            </a:r>
            <a:endParaRPr lang="en-US" sz="2550" dirty="0">
              <a:solidFill>
                <a:srgbClr val="313131"/>
              </a:solidFill>
              <a:latin typeface="Calibri"/>
              <a:cs typeface="Calibri"/>
            </a:endParaRPr>
          </a:p>
          <a:p>
            <a:pPr marL="8500110" marR="5080" indent="-8488045" algn="l">
              <a:lnSpc>
                <a:spcPct val="113199"/>
              </a:lnSpc>
              <a:spcBef>
                <a:spcPts val="90"/>
              </a:spcBef>
            </a:pPr>
            <a:r>
              <a:rPr lang="sr-Latn-RS" sz="2550" dirty="0">
                <a:solidFill>
                  <a:srgbClr val="313131"/>
                </a:solidFill>
                <a:latin typeface="Calibri"/>
                <a:cs typeface="Calibri"/>
              </a:rPr>
              <a:t>U slučaju gubitne bitmappe, Bitmap Heap Scan mora ponovo da proveri uslov (recheck) za svaki red na stranici, jer ne zna tačno koji</a:t>
            </a:r>
            <a:r>
              <a:rPr lang="en-US" sz="2550" dirty="0">
                <a:solidFill>
                  <a:srgbClr val="313131"/>
                </a:solidFill>
                <a:latin typeface="Calibri"/>
                <a:cs typeface="Calibri"/>
              </a:rPr>
              <a:t> </a:t>
            </a:r>
            <a:r>
              <a:rPr lang="sr-Latn-RS" sz="2550" dirty="0">
                <a:solidFill>
                  <a:srgbClr val="313131"/>
                </a:solidFill>
                <a:latin typeface="Calibri"/>
                <a:cs typeface="Calibri"/>
              </a:rPr>
              <a:t>redovi na njoj zadovoljavaju filter.</a:t>
            </a:r>
            <a:endParaRPr sz="2550" dirty="0">
              <a:latin typeface="Calibri"/>
              <a:cs typeface="Calibri"/>
            </a:endParaRPr>
          </a:p>
        </p:txBody>
      </p:sp>
      <p:pic>
        <p:nvPicPr>
          <p:cNvPr id="10" name="object 2">
            <a:extLst>
              <a:ext uri="{FF2B5EF4-FFF2-40B4-BE49-F238E27FC236}">
                <a16:creationId xmlns:a16="http://schemas.microsoft.com/office/drawing/2014/main" id="{08A5FA8B-8589-9E20-B48B-C8DC7B4C1D2B}"/>
              </a:ext>
            </a:extLst>
          </p:cNvPr>
          <p:cNvPicPr/>
          <p:nvPr/>
        </p:nvPicPr>
        <p:blipFill>
          <a:blip r:embed="rId4" cstate="print"/>
          <a:stretch>
            <a:fillRect/>
          </a:stretch>
        </p:blipFill>
        <p:spPr>
          <a:xfrm>
            <a:off x="3369406" y="4036526"/>
            <a:ext cx="801022" cy="7853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7622499" y="10927677"/>
            <a:ext cx="1570990" cy="0"/>
          </a:xfrm>
          <a:custGeom>
            <a:avLst/>
            <a:gdLst/>
            <a:ahLst/>
            <a:cxnLst/>
            <a:rect l="l" t="t" r="r" b="b"/>
            <a:pathLst>
              <a:path w="1570990">
                <a:moveTo>
                  <a:pt x="0" y="0"/>
                </a:moveTo>
                <a:lnTo>
                  <a:pt x="1570632" y="0"/>
                </a:lnTo>
              </a:path>
            </a:pathLst>
          </a:custGeom>
          <a:ln w="54972">
            <a:solidFill>
              <a:srgbClr val="004B80"/>
            </a:solidFill>
          </a:ln>
        </p:spPr>
        <p:txBody>
          <a:bodyPr wrap="square" lIns="0" tIns="0" rIns="0" bIns="0" rtlCol="0"/>
          <a:lstStyle/>
          <a:p>
            <a:endParaRPr/>
          </a:p>
        </p:txBody>
      </p:sp>
      <p:sp>
        <p:nvSpPr>
          <p:cNvPr id="4" name="object 4" descr="$PPTXTitle"/>
          <p:cNvSpPr txBox="1">
            <a:spLocks noGrp="1"/>
          </p:cNvSpPr>
          <p:nvPr>
            <p:ph type="title"/>
          </p:nvPr>
        </p:nvSpPr>
        <p:spPr>
          <a:prstGeom prst="rect">
            <a:avLst/>
          </a:prstGeom>
        </p:spPr>
        <p:txBody>
          <a:bodyPr vert="horz" wrap="square" lIns="0" tIns="12065" rIns="0" bIns="0" rtlCol="0">
            <a:spAutoFit/>
          </a:bodyPr>
          <a:lstStyle/>
          <a:p>
            <a:pPr>
              <a:lnSpc>
                <a:spcPct val="100000"/>
              </a:lnSpc>
              <a:spcBef>
                <a:spcPts val="95"/>
              </a:spcBef>
            </a:pPr>
            <a:r>
              <a:rPr sz="6700" b="1" spc="-180" dirty="0">
                <a:solidFill>
                  <a:srgbClr val="034F82"/>
                </a:solidFill>
                <a:latin typeface="Cambria" panose="02040503050406030204" pitchFamily="18" charset="0"/>
                <a:ea typeface="Cambria" panose="02040503050406030204" pitchFamily="18" charset="0"/>
                <a:cs typeface="Times New Roman"/>
              </a:rPr>
              <a:t>Cost-</a:t>
            </a:r>
            <a:r>
              <a:rPr sz="6700" b="1" spc="-80" dirty="0">
                <a:solidFill>
                  <a:srgbClr val="034F82"/>
                </a:solidFill>
                <a:latin typeface="Cambria" panose="02040503050406030204" pitchFamily="18" charset="0"/>
                <a:ea typeface="Cambria" panose="02040503050406030204" pitchFamily="18" charset="0"/>
                <a:cs typeface="Times New Roman"/>
              </a:rPr>
              <a:t>Based</a:t>
            </a:r>
            <a:r>
              <a:rPr sz="6700" b="1" spc="-305" dirty="0">
                <a:solidFill>
                  <a:srgbClr val="034F82"/>
                </a:solidFill>
                <a:latin typeface="Cambria" panose="02040503050406030204" pitchFamily="18" charset="0"/>
                <a:ea typeface="Cambria" panose="02040503050406030204" pitchFamily="18" charset="0"/>
                <a:cs typeface="Times New Roman"/>
              </a:rPr>
              <a:t> </a:t>
            </a:r>
            <a:r>
              <a:rPr sz="6700" b="1" spc="-30" dirty="0">
                <a:solidFill>
                  <a:srgbClr val="054D80"/>
                </a:solidFill>
                <a:latin typeface="Cambria" panose="02040503050406030204" pitchFamily="18" charset="0"/>
                <a:ea typeface="Cambria" panose="02040503050406030204" pitchFamily="18" charset="0"/>
                <a:cs typeface="Times New Roman"/>
              </a:rPr>
              <a:t>Optimizer</a:t>
            </a:r>
            <a:r>
              <a:rPr sz="6700" b="1" spc="-325" dirty="0">
                <a:solidFill>
                  <a:srgbClr val="054D80"/>
                </a:solidFill>
                <a:latin typeface="Cambria" panose="02040503050406030204" pitchFamily="18" charset="0"/>
                <a:ea typeface="Cambria" panose="02040503050406030204" pitchFamily="18" charset="0"/>
                <a:cs typeface="Times New Roman"/>
              </a:rPr>
              <a:t> </a:t>
            </a:r>
            <a:r>
              <a:rPr sz="6700" b="1" spc="-775" dirty="0">
                <a:solidFill>
                  <a:srgbClr val="004D85"/>
                </a:solidFill>
                <a:latin typeface="Cambria" panose="02040503050406030204" pitchFamily="18" charset="0"/>
                <a:ea typeface="Cambria" panose="02040503050406030204" pitchFamily="18" charset="0"/>
                <a:cs typeface="Times New Roman"/>
              </a:rPr>
              <a:t>(CBO)</a:t>
            </a:r>
            <a:endParaRPr sz="6700" b="1" dirty="0">
              <a:latin typeface="Cambria" panose="02040503050406030204" pitchFamily="18" charset="0"/>
              <a:ea typeface="Cambria" panose="02040503050406030204" pitchFamily="18" charset="0"/>
              <a:cs typeface="Times New Roman"/>
            </a:endParaRPr>
          </a:p>
        </p:txBody>
      </p:sp>
      <p:sp>
        <p:nvSpPr>
          <p:cNvPr id="8" name="object 7">
            <a:extLst>
              <a:ext uri="{FF2B5EF4-FFF2-40B4-BE49-F238E27FC236}">
                <a16:creationId xmlns:a16="http://schemas.microsoft.com/office/drawing/2014/main" id="{F14EBD92-4EC3-56E4-BA7E-5D5E9E67BE6D}"/>
              </a:ext>
            </a:extLst>
          </p:cNvPr>
          <p:cNvSpPr txBox="1"/>
          <p:nvPr/>
        </p:nvSpPr>
        <p:spPr>
          <a:xfrm>
            <a:off x="1895693" y="4284322"/>
            <a:ext cx="16233557" cy="2459006"/>
          </a:xfrm>
          <a:prstGeom prst="rect">
            <a:avLst/>
          </a:prstGeom>
        </p:spPr>
        <p:txBody>
          <a:bodyPr vert="horz" wrap="square" lIns="0" tIns="349885" rIns="0" bIns="0" rtlCol="0">
            <a:spAutoFit/>
          </a:bodyPr>
          <a:lstStyle/>
          <a:p>
            <a:pPr marL="12700">
              <a:spcBef>
                <a:spcPts val="2755"/>
              </a:spcBef>
            </a:pPr>
            <a:r>
              <a:rPr lang="sr-Latn-RS" sz="3700" b="1" dirty="0">
                <a:solidFill>
                  <a:srgbClr val="004F85"/>
                </a:solidFill>
                <a:latin typeface="Cambria"/>
                <a:cs typeface="Cambria"/>
              </a:rPr>
              <a:t>Šta je Cost-Based Optimizer?</a:t>
            </a:r>
            <a:endParaRPr lang="en-US" sz="3700" b="1" dirty="0">
              <a:solidFill>
                <a:srgbClr val="004F85"/>
              </a:solidFill>
              <a:latin typeface="Cambria"/>
              <a:cs typeface="Cambria"/>
            </a:endParaRPr>
          </a:p>
          <a:p>
            <a:pPr marL="12700">
              <a:spcBef>
                <a:spcPts val="2755"/>
              </a:spcBef>
            </a:pPr>
            <a:r>
              <a:rPr lang="sr-Latn-RS" sz="2550" dirty="0">
                <a:solidFill>
                  <a:schemeClr val="tx1">
                    <a:lumMod val="75000"/>
                    <a:lumOff val="25000"/>
                  </a:schemeClr>
                </a:solidFill>
                <a:latin typeface="+mj-lt"/>
                <a:cs typeface="Arial MT"/>
              </a:rPr>
              <a:t>PostgreSQL koristi Cost-Based Optimizer (CBO) koji je odgovoran za odabir optimalnog plana izvršavanja za svaki upit. CBO ne bira plan na osnovu heuristike ili fiksnih pravila, već procenjuje numerički trošak (cost) svakog mogućeg plana i bira onaj sa najnižom procenjenom cenom.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4D632-EC52-0C85-6C80-7390E50DC89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356983F-CE64-F9BD-7E7D-62F8492F0C85}"/>
              </a:ext>
            </a:extLst>
          </p:cNvPr>
          <p:cNvSpPr/>
          <p:nvPr/>
        </p:nvSpPr>
        <p:spPr>
          <a:xfrm>
            <a:off x="17622499" y="10927677"/>
            <a:ext cx="1570990" cy="0"/>
          </a:xfrm>
          <a:custGeom>
            <a:avLst/>
            <a:gdLst/>
            <a:ahLst/>
            <a:cxnLst/>
            <a:rect l="l" t="t" r="r" b="b"/>
            <a:pathLst>
              <a:path w="1570990">
                <a:moveTo>
                  <a:pt x="0" y="0"/>
                </a:moveTo>
                <a:lnTo>
                  <a:pt x="1570632" y="0"/>
                </a:lnTo>
              </a:path>
            </a:pathLst>
          </a:custGeom>
          <a:ln w="54972">
            <a:solidFill>
              <a:srgbClr val="004B80"/>
            </a:solidFill>
          </a:ln>
        </p:spPr>
        <p:txBody>
          <a:bodyPr wrap="square" lIns="0" tIns="0" rIns="0" bIns="0" rtlCol="0"/>
          <a:lstStyle/>
          <a:p>
            <a:endParaRPr/>
          </a:p>
        </p:txBody>
      </p:sp>
      <p:sp>
        <p:nvSpPr>
          <p:cNvPr id="4" name="object 4" descr="$PPTXTitle">
            <a:extLst>
              <a:ext uri="{FF2B5EF4-FFF2-40B4-BE49-F238E27FC236}">
                <a16:creationId xmlns:a16="http://schemas.microsoft.com/office/drawing/2014/main" id="{4A2B349D-62EA-AC2E-0EDB-E965A9F4F06A}"/>
              </a:ext>
            </a:extLst>
          </p:cNvPr>
          <p:cNvSpPr txBox="1">
            <a:spLocks noGrp="1"/>
          </p:cNvSpPr>
          <p:nvPr>
            <p:ph type="title"/>
          </p:nvPr>
        </p:nvSpPr>
        <p:spPr>
          <a:prstGeom prst="rect">
            <a:avLst/>
          </a:prstGeom>
        </p:spPr>
        <p:txBody>
          <a:bodyPr vert="horz" wrap="square" lIns="0" tIns="12065" rIns="0" bIns="0" rtlCol="0">
            <a:spAutoFit/>
          </a:bodyPr>
          <a:lstStyle/>
          <a:p>
            <a:pPr>
              <a:lnSpc>
                <a:spcPct val="100000"/>
              </a:lnSpc>
              <a:spcBef>
                <a:spcPts val="95"/>
              </a:spcBef>
            </a:pPr>
            <a:r>
              <a:rPr lang="en-US" sz="6700" b="1" spc="-180" dirty="0" err="1">
                <a:solidFill>
                  <a:srgbClr val="034F82"/>
                </a:solidFill>
                <a:latin typeface="Cambria" panose="02040503050406030204" pitchFamily="18" charset="0"/>
                <a:ea typeface="Cambria" panose="02040503050406030204" pitchFamily="18" charset="0"/>
                <a:cs typeface="Times New Roman"/>
              </a:rPr>
              <a:t>Priprema</a:t>
            </a:r>
            <a:r>
              <a:rPr lang="en-US" sz="6700" b="1" spc="-180" dirty="0">
                <a:solidFill>
                  <a:srgbClr val="034F82"/>
                </a:solidFill>
                <a:latin typeface="Cambria" panose="02040503050406030204" pitchFamily="18" charset="0"/>
                <a:ea typeface="Cambria" panose="02040503050406030204" pitchFamily="18" charset="0"/>
                <a:cs typeface="Times New Roman"/>
              </a:rPr>
              <a:t> </a:t>
            </a:r>
            <a:r>
              <a:rPr lang="en-US" sz="6700" b="1" spc="-180" dirty="0" err="1">
                <a:solidFill>
                  <a:srgbClr val="034F82"/>
                </a:solidFill>
                <a:latin typeface="Cambria" panose="02040503050406030204" pitchFamily="18" charset="0"/>
                <a:ea typeface="Cambria" panose="02040503050406030204" pitchFamily="18" charset="0"/>
                <a:cs typeface="Times New Roman"/>
              </a:rPr>
              <a:t>okru</a:t>
            </a:r>
            <a:r>
              <a:rPr lang="sr-Latn-RS" sz="6700" b="1" spc="-180" dirty="0">
                <a:solidFill>
                  <a:srgbClr val="034F82"/>
                </a:solidFill>
                <a:latin typeface="Cambria" panose="02040503050406030204" pitchFamily="18" charset="0"/>
                <a:ea typeface="Cambria" panose="02040503050406030204" pitchFamily="18" charset="0"/>
                <a:cs typeface="Times New Roman"/>
              </a:rPr>
              <a:t>ženja</a:t>
            </a:r>
            <a:endParaRPr sz="6700" b="1" dirty="0">
              <a:latin typeface="Cambria" panose="02040503050406030204" pitchFamily="18" charset="0"/>
              <a:ea typeface="Cambria" panose="02040503050406030204" pitchFamily="18" charset="0"/>
              <a:cs typeface="Times New Roman"/>
            </a:endParaRPr>
          </a:p>
        </p:txBody>
      </p:sp>
      <p:sp>
        <p:nvSpPr>
          <p:cNvPr id="5" name="TextBox 4">
            <a:extLst>
              <a:ext uri="{FF2B5EF4-FFF2-40B4-BE49-F238E27FC236}">
                <a16:creationId xmlns:a16="http://schemas.microsoft.com/office/drawing/2014/main" id="{C264128B-38DB-C739-E447-7F5CA45CFE73}"/>
              </a:ext>
            </a:extLst>
          </p:cNvPr>
          <p:cNvSpPr txBox="1"/>
          <p:nvPr/>
        </p:nvSpPr>
        <p:spPr>
          <a:xfrm>
            <a:off x="1670050" y="3292475"/>
            <a:ext cx="15723848" cy="877163"/>
          </a:xfrm>
          <a:prstGeom prst="rect">
            <a:avLst/>
          </a:prstGeom>
          <a:noFill/>
        </p:spPr>
        <p:txBody>
          <a:bodyPr wrap="square" rtlCol="0">
            <a:spAutoFit/>
          </a:bodyPr>
          <a:lstStyle/>
          <a:p>
            <a:r>
              <a:rPr lang="sr-Latn-RS" sz="2550" dirty="0">
                <a:solidFill>
                  <a:schemeClr val="tx1">
                    <a:lumMod val="75000"/>
                    <a:lumOff val="25000"/>
                  </a:schemeClr>
                </a:solidFill>
                <a:latin typeface="+mj-lt"/>
              </a:rPr>
              <a:t>Eksperimenti su izvršeni na lokalnoj PostgreSQL 18 instanci na Windows operativnom sistemu. Kreirana je baza podataka „seminarski“ i test tabela „korisnici“ sa sledećom strukturom</a:t>
            </a:r>
            <a:r>
              <a:rPr lang="en-US" sz="2550" dirty="0">
                <a:solidFill>
                  <a:schemeClr val="tx1">
                    <a:lumMod val="75000"/>
                    <a:lumOff val="25000"/>
                  </a:schemeClr>
                </a:solidFill>
                <a:latin typeface="+mj-lt"/>
              </a:rPr>
              <a:t>. </a:t>
            </a:r>
            <a:r>
              <a:rPr lang="en-US" sz="2550" dirty="0" err="1">
                <a:solidFill>
                  <a:schemeClr val="tx1">
                    <a:lumMod val="75000"/>
                    <a:lumOff val="25000"/>
                  </a:schemeClr>
                </a:solidFill>
                <a:latin typeface="+mj-lt"/>
              </a:rPr>
              <a:t>Tabela</a:t>
            </a:r>
            <a:r>
              <a:rPr lang="en-US" sz="2550" dirty="0">
                <a:solidFill>
                  <a:schemeClr val="tx1">
                    <a:lumMod val="75000"/>
                    <a:lumOff val="25000"/>
                  </a:schemeClr>
                </a:solidFill>
                <a:latin typeface="+mj-lt"/>
              </a:rPr>
              <a:t> </a:t>
            </a:r>
            <a:r>
              <a:rPr lang="en-US" sz="2550" dirty="0" err="1">
                <a:solidFill>
                  <a:schemeClr val="tx1">
                    <a:lumMod val="75000"/>
                    <a:lumOff val="25000"/>
                  </a:schemeClr>
                </a:solidFill>
                <a:latin typeface="+mj-lt"/>
              </a:rPr>
              <a:t>ima</a:t>
            </a:r>
            <a:r>
              <a:rPr lang="en-US" sz="2550" dirty="0">
                <a:solidFill>
                  <a:schemeClr val="tx1">
                    <a:lumMod val="75000"/>
                    <a:lumOff val="25000"/>
                  </a:schemeClr>
                </a:solidFill>
                <a:latin typeface="+mj-lt"/>
              </a:rPr>
              <a:t> 2M </a:t>
            </a:r>
            <a:r>
              <a:rPr lang="en-US" sz="2550" dirty="0" err="1">
                <a:solidFill>
                  <a:schemeClr val="tx1">
                    <a:lumMod val="75000"/>
                    <a:lumOff val="25000"/>
                  </a:schemeClr>
                </a:solidFill>
                <a:latin typeface="+mj-lt"/>
              </a:rPr>
              <a:t>redova</a:t>
            </a:r>
            <a:r>
              <a:rPr lang="en-US" sz="2550" dirty="0">
                <a:solidFill>
                  <a:schemeClr val="tx1">
                    <a:lumMod val="75000"/>
                    <a:lumOff val="25000"/>
                  </a:schemeClr>
                </a:solidFill>
                <a:latin typeface="+mj-lt"/>
              </a:rPr>
              <a:t>.</a:t>
            </a:r>
            <a:endParaRPr lang="sr-Latn-RS" sz="2550" dirty="0">
              <a:solidFill>
                <a:schemeClr val="tx1">
                  <a:lumMod val="75000"/>
                  <a:lumOff val="25000"/>
                </a:schemeClr>
              </a:solidFill>
              <a:latin typeface="+mj-lt"/>
            </a:endParaRPr>
          </a:p>
        </p:txBody>
      </p:sp>
      <p:graphicFrame>
        <p:nvGraphicFramePr>
          <p:cNvPr id="10" name="Table 9">
            <a:extLst>
              <a:ext uri="{FF2B5EF4-FFF2-40B4-BE49-F238E27FC236}">
                <a16:creationId xmlns:a16="http://schemas.microsoft.com/office/drawing/2014/main" id="{BECD9C8B-8CFF-7B45-2D86-E0484B473691}"/>
              </a:ext>
            </a:extLst>
          </p:cNvPr>
          <p:cNvGraphicFramePr>
            <a:graphicFrameLocks noGrp="1"/>
          </p:cNvGraphicFramePr>
          <p:nvPr>
            <p:extLst>
              <p:ext uri="{D42A27DB-BD31-4B8C-83A1-F6EECF244321}">
                <p14:modId xmlns:p14="http://schemas.microsoft.com/office/powerpoint/2010/main" val="1825164381"/>
              </p:ext>
            </p:extLst>
          </p:nvPr>
        </p:nvGraphicFramePr>
        <p:xfrm>
          <a:off x="2705100" y="4769916"/>
          <a:ext cx="14657048" cy="3027680"/>
        </p:xfrm>
        <a:graphic>
          <a:graphicData uri="http://schemas.openxmlformats.org/drawingml/2006/table">
            <a:tbl>
              <a:tblPr firstRow="1" firstCol="1" bandRow="1">
                <a:tableStyleId>{2D5ABB26-0587-4C30-8999-92F81FD0307C}</a:tableStyleId>
              </a:tblPr>
              <a:tblGrid>
                <a:gridCol w="14657048">
                  <a:extLst>
                    <a:ext uri="{9D8B030D-6E8A-4147-A177-3AD203B41FA5}">
                      <a16:colId xmlns:a16="http://schemas.microsoft.com/office/drawing/2014/main" val="2404414140"/>
                    </a:ext>
                  </a:extLst>
                </a:gridCol>
              </a:tblGrid>
              <a:tr h="2971800">
                <a:tc>
                  <a:txBody>
                    <a:bodyPr/>
                    <a:lstStyle/>
                    <a:p>
                      <a:pPr>
                        <a:buNone/>
                      </a:pPr>
                      <a:r>
                        <a:rPr lang="sr-Latn-RS" sz="2400" i="1" dirty="0">
                          <a:effectLst/>
                        </a:rPr>
                        <a:t>CREATE TABLE korisnici (</a:t>
                      </a:r>
                    </a:p>
                    <a:p>
                      <a:pPr>
                        <a:buNone/>
                      </a:pPr>
                      <a:r>
                        <a:rPr lang="sr-Latn-RS" sz="2400" i="1" dirty="0">
                          <a:effectLst/>
                        </a:rPr>
                        <a:t>    id              </a:t>
                      </a:r>
                      <a:r>
                        <a:rPr lang="en-US" sz="2400" i="1" dirty="0">
                          <a:effectLst/>
                        </a:rPr>
                        <a:t>               </a:t>
                      </a:r>
                      <a:r>
                        <a:rPr lang="sr-Latn-RS" sz="2400" i="1" dirty="0">
                          <a:effectLst/>
                        </a:rPr>
                        <a:t>SERIAL PRIMARY KEY,</a:t>
                      </a:r>
                    </a:p>
                    <a:p>
                      <a:pPr>
                        <a:buNone/>
                      </a:pPr>
                      <a:r>
                        <a:rPr lang="sr-Latn-RS" sz="2400" i="1" dirty="0">
                          <a:effectLst/>
                        </a:rPr>
                        <a:t>    ime             </a:t>
                      </a:r>
                      <a:r>
                        <a:rPr lang="en-US" sz="2400" i="1" dirty="0">
                          <a:effectLst/>
                        </a:rPr>
                        <a:t>             </a:t>
                      </a:r>
                      <a:r>
                        <a:rPr lang="sr-Latn-RS" sz="2400" i="1" dirty="0">
                          <a:effectLst/>
                        </a:rPr>
                        <a:t>VARCHAR(50),</a:t>
                      </a:r>
                    </a:p>
                    <a:p>
                      <a:pPr>
                        <a:buNone/>
                      </a:pPr>
                      <a:r>
                        <a:rPr lang="sr-Latn-RS" sz="2400" i="1" dirty="0">
                          <a:effectLst/>
                        </a:rPr>
                        <a:t>    prezime         </a:t>
                      </a:r>
                      <a:r>
                        <a:rPr lang="en-US" sz="2400" i="1" dirty="0">
                          <a:effectLst/>
                        </a:rPr>
                        <a:t>         </a:t>
                      </a:r>
                      <a:r>
                        <a:rPr lang="sr-Latn-RS" sz="2400" i="1" dirty="0">
                          <a:effectLst/>
                        </a:rPr>
                        <a:t>VARCHAR(50),</a:t>
                      </a:r>
                    </a:p>
                    <a:p>
                      <a:pPr>
                        <a:buNone/>
                      </a:pPr>
                      <a:r>
                        <a:rPr lang="sr-Latn-RS" sz="2400" i="1" dirty="0">
                          <a:effectLst/>
                        </a:rPr>
                        <a:t>    grad            </a:t>
                      </a:r>
                      <a:r>
                        <a:rPr lang="en-US" sz="2400" i="1" dirty="0">
                          <a:effectLst/>
                        </a:rPr>
                        <a:t>            </a:t>
                      </a:r>
                      <a:r>
                        <a:rPr lang="sr-Latn-RS" sz="2400" i="1" dirty="0">
                          <a:effectLst/>
                        </a:rPr>
                        <a:t>VARCHAR(50),</a:t>
                      </a:r>
                    </a:p>
                    <a:p>
                      <a:pPr>
                        <a:buNone/>
                      </a:pPr>
                      <a:r>
                        <a:rPr lang="sr-Latn-RS" sz="2400" i="1" dirty="0">
                          <a:effectLst/>
                        </a:rPr>
                        <a:t>    datum_rodjenja  </a:t>
                      </a:r>
                      <a:r>
                        <a:rPr lang="en-US" sz="2400" i="1" dirty="0">
                          <a:effectLst/>
                        </a:rPr>
                        <a:t> </a:t>
                      </a:r>
                      <a:r>
                        <a:rPr lang="sr-Latn-RS" sz="2400" i="1" dirty="0">
                          <a:effectLst/>
                        </a:rPr>
                        <a:t>DATE,</a:t>
                      </a:r>
                    </a:p>
                    <a:p>
                      <a:pPr>
                        <a:buNone/>
                      </a:pPr>
                      <a:r>
                        <a:rPr lang="sr-Latn-RS" sz="2400" i="1" dirty="0">
                          <a:effectLst/>
                        </a:rPr>
                        <a:t>    bio             </a:t>
                      </a:r>
                      <a:r>
                        <a:rPr lang="en-US" sz="2400" i="1" dirty="0">
                          <a:effectLst/>
                        </a:rPr>
                        <a:t>             </a:t>
                      </a:r>
                      <a:r>
                        <a:rPr lang="sr-Latn-RS" sz="2400" i="1" dirty="0">
                          <a:effectLst/>
                        </a:rPr>
                        <a:t>TEXT</a:t>
                      </a:r>
                    </a:p>
                    <a:p>
                      <a:pPr>
                        <a:buNone/>
                      </a:pPr>
                      <a:r>
                        <a:rPr lang="sr-Latn-RS" sz="2400" i="1" dirty="0">
                          <a:effectLst/>
                        </a:rPr>
                        <a:t>);</a:t>
                      </a:r>
                      <a:endParaRPr lang="sr-Latn-RS" sz="2400" i="1" dirty="0">
                        <a:effectLst/>
                        <a:latin typeface="Arial" panose="020B0604020202020204" pitchFamily="34" charset="0"/>
                        <a:ea typeface="Arial" panose="020B0604020202020204" pitchFamily="34" charset="0"/>
                      </a:endParaRPr>
                    </a:p>
                  </a:txBody>
                  <a:tcPr marL="101600" marR="101600" marT="50800" marB="50800"/>
                </a:tc>
                <a:extLst>
                  <a:ext uri="{0D108BD9-81ED-4DB2-BD59-A6C34878D82A}">
                    <a16:rowId xmlns:a16="http://schemas.microsoft.com/office/drawing/2014/main" val="3012408642"/>
                  </a:ext>
                </a:extLst>
              </a:tr>
            </a:tbl>
          </a:graphicData>
        </a:graphic>
      </p:graphicFrame>
      <p:sp>
        <p:nvSpPr>
          <p:cNvPr id="11" name="TextBox 10">
            <a:extLst>
              <a:ext uri="{FF2B5EF4-FFF2-40B4-BE49-F238E27FC236}">
                <a16:creationId xmlns:a16="http://schemas.microsoft.com/office/drawing/2014/main" id="{0FD742A3-9B10-71FE-50B1-F8D5377F2653}"/>
              </a:ext>
            </a:extLst>
          </p:cNvPr>
          <p:cNvSpPr txBox="1"/>
          <p:nvPr/>
        </p:nvSpPr>
        <p:spPr>
          <a:xfrm>
            <a:off x="1638300" y="8397875"/>
            <a:ext cx="15723848" cy="1269578"/>
          </a:xfrm>
          <a:prstGeom prst="rect">
            <a:avLst/>
          </a:prstGeom>
          <a:noFill/>
        </p:spPr>
        <p:txBody>
          <a:bodyPr wrap="square" rtlCol="0">
            <a:spAutoFit/>
          </a:bodyPr>
          <a:lstStyle/>
          <a:p>
            <a:r>
              <a:rPr lang="sr-Latn-RS" sz="2550" dirty="0">
                <a:solidFill>
                  <a:schemeClr val="tx1">
                    <a:lumMod val="75000"/>
                    <a:lumOff val="25000"/>
                  </a:schemeClr>
                </a:solidFill>
                <a:latin typeface="+mj-lt"/>
              </a:rPr>
              <a:t>Pre svakog skenarija, PostgreSQL servis je restartovan kako bi se ispraznio shared buffer cache i osigurali fer, ponovljivi rezultati bez uticaja prethodno keširanih stranica. Svaki scenario je pokrenut tri puta, a vremena izvršavanja izmerena su putem \timing opcije u psql terminalu.</a:t>
            </a:r>
          </a:p>
        </p:txBody>
      </p:sp>
    </p:spTree>
    <p:extLst>
      <p:ext uri="{BB962C8B-B14F-4D97-AF65-F5344CB8AC3E}">
        <p14:creationId xmlns:p14="http://schemas.microsoft.com/office/powerpoint/2010/main" val="824100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74164-1F53-3412-4DDF-6A737875D0C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B512D68-AE9A-7971-57BE-337019755A1F}"/>
              </a:ext>
            </a:extLst>
          </p:cNvPr>
          <p:cNvSpPr/>
          <p:nvPr/>
        </p:nvSpPr>
        <p:spPr>
          <a:xfrm>
            <a:off x="17622499" y="10927677"/>
            <a:ext cx="1570990" cy="0"/>
          </a:xfrm>
          <a:custGeom>
            <a:avLst/>
            <a:gdLst/>
            <a:ahLst/>
            <a:cxnLst/>
            <a:rect l="l" t="t" r="r" b="b"/>
            <a:pathLst>
              <a:path w="1570990">
                <a:moveTo>
                  <a:pt x="0" y="0"/>
                </a:moveTo>
                <a:lnTo>
                  <a:pt x="1570632" y="0"/>
                </a:lnTo>
              </a:path>
            </a:pathLst>
          </a:custGeom>
          <a:ln w="54972">
            <a:solidFill>
              <a:srgbClr val="004B80"/>
            </a:solidFill>
          </a:ln>
        </p:spPr>
        <p:txBody>
          <a:bodyPr wrap="square" lIns="0" tIns="0" rIns="0" bIns="0" rtlCol="0"/>
          <a:lstStyle/>
          <a:p>
            <a:endParaRPr/>
          </a:p>
        </p:txBody>
      </p:sp>
      <p:sp>
        <p:nvSpPr>
          <p:cNvPr id="4" name="object 4" descr="$PPTXTitle">
            <a:extLst>
              <a:ext uri="{FF2B5EF4-FFF2-40B4-BE49-F238E27FC236}">
                <a16:creationId xmlns:a16="http://schemas.microsoft.com/office/drawing/2014/main" id="{6A0F1305-6A1F-F893-3CEC-1A49E83A8FCD}"/>
              </a:ext>
            </a:extLst>
          </p:cNvPr>
          <p:cNvSpPr txBox="1">
            <a:spLocks noGrp="1"/>
          </p:cNvSpPr>
          <p:nvPr>
            <p:ph type="title"/>
          </p:nvPr>
        </p:nvSpPr>
        <p:spPr>
          <a:xfrm>
            <a:off x="935448" y="730078"/>
            <a:ext cx="16050801" cy="843180"/>
          </a:xfrm>
          <a:prstGeom prst="rect">
            <a:avLst/>
          </a:prstGeom>
        </p:spPr>
        <p:txBody>
          <a:bodyPr vert="horz" wrap="square" lIns="0" tIns="12065" rIns="0" bIns="0" rtlCol="0">
            <a:spAutoFit/>
          </a:bodyPr>
          <a:lstStyle/>
          <a:p>
            <a:pPr>
              <a:lnSpc>
                <a:spcPct val="100000"/>
              </a:lnSpc>
              <a:spcBef>
                <a:spcPts val="95"/>
              </a:spcBef>
            </a:pPr>
            <a:r>
              <a:rPr lang="it-IT" sz="5400" b="1" spc="-180" dirty="0">
                <a:solidFill>
                  <a:srgbClr val="034F82"/>
                </a:solidFill>
                <a:latin typeface="Cambria" panose="02040503050406030204" pitchFamily="18" charset="0"/>
                <a:ea typeface="Cambria" panose="02040503050406030204" pitchFamily="18" charset="0"/>
                <a:cs typeface="Times New Roman"/>
              </a:rPr>
              <a:t>Scenario 1 - Sequential Scan (bez indeksa)</a:t>
            </a:r>
            <a:endParaRPr sz="5400" b="1" dirty="0">
              <a:latin typeface="Cambria" panose="02040503050406030204" pitchFamily="18" charset="0"/>
              <a:ea typeface="Cambria" panose="02040503050406030204" pitchFamily="18" charset="0"/>
              <a:cs typeface="Times New Roman"/>
            </a:endParaRPr>
          </a:p>
        </p:txBody>
      </p:sp>
      <p:sp>
        <p:nvSpPr>
          <p:cNvPr id="2" name="Shape 5">
            <a:extLst>
              <a:ext uri="{FF2B5EF4-FFF2-40B4-BE49-F238E27FC236}">
                <a16:creationId xmlns:a16="http://schemas.microsoft.com/office/drawing/2014/main" id="{C6CAD104-53CA-C8A3-F600-20F9CF2B337B}"/>
              </a:ext>
            </a:extLst>
          </p:cNvPr>
          <p:cNvSpPr/>
          <p:nvPr/>
        </p:nvSpPr>
        <p:spPr>
          <a:xfrm>
            <a:off x="1657350" y="2576773"/>
            <a:ext cx="16929100" cy="2473140"/>
          </a:xfrm>
          <a:prstGeom prst="rect">
            <a:avLst/>
          </a:prstGeom>
          <a:solidFill>
            <a:schemeClr val="tx2">
              <a:lumMod val="50000"/>
            </a:schemeClr>
          </a:solidFill>
          <a:ln w="12700">
            <a:solidFill>
              <a:srgbClr val="304060"/>
            </a:solidFill>
            <a:prstDash val="solid"/>
          </a:ln>
        </p:spPr>
        <p:txBody>
          <a:bodyPr/>
          <a:lstStyle/>
          <a:p>
            <a:pPr marL="0" indent="0">
              <a:buNone/>
            </a:pPr>
            <a:r>
              <a:rPr lang="en-US" sz="1800" dirty="0">
                <a:solidFill>
                  <a:srgbClr val="7EC8E3"/>
                </a:solidFill>
                <a:latin typeface="Consolas" pitchFamily="34" charset="0"/>
                <a:ea typeface="Consolas" pitchFamily="34" charset="-122"/>
                <a:cs typeface="Consolas" pitchFamily="34" charset="-120"/>
              </a:rPr>
              <a:t>Seq Scan on </a:t>
            </a:r>
            <a:r>
              <a:rPr lang="en-US" sz="1800" dirty="0" err="1">
                <a:solidFill>
                  <a:srgbClr val="7EC8E3"/>
                </a:solidFill>
                <a:latin typeface="Consolas" pitchFamily="34" charset="0"/>
                <a:ea typeface="Consolas" pitchFamily="34" charset="-122"/>
                <a:cs typeface="Consolas" pitchFamily="34" charset="-120"/>
              </a:rPr>
              <a:t>korisnici</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(cost=0.00..253247.00  rows=199600)</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(actual time=10.403..29572.105  rows=200178)</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Filter: (</a:t>
            </a:r>
            <a:r>
              <a:rPr lang="en-US" sz="1800" dirty="0" err="1">
                <a:solidFill>
                  <a:srgbClr val="7EC8E3"/>
                </a:solidFill>
                <a:latin typeface="Consolas" pitchFamily="34" charset="0"/>
                <a:ea typeface="Consolas" pitchFamily="34" charset="-122"/>
                <a:cs typeface="Consolas" pitchFamily="34" charset="-120"/>
              </a:rPr>
              <a:t>prezime</a:t>
            </a:r>
            <a:r>
              <a:rPr lang="en-US" sz="1800" dirty="0">
                <a:solidFill>
                  <a:srgbClr val="7EC8E3"/>
                </a:solidFill>
                <a:latin typeface="Consolas" pitchFamily="34" charset="0"/>
                <a:ea typeface="Consolas" pitchFamily="34" charset="-122"/>
                <a:cs typeface="Consolas" pitchFamily="34" charset="-120"/>
              </a:rPr>
              <a:t> = 'Petrovic')</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Rows Removed by Filter: 1799822</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Buffers: shared read=228247</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Execution Time: 29687.841 </a:t>
            </a:r>
            <a:r>
              <a:rPr lang="en-US" sz="1800" dirty="0" err="1">
                <a:solidFill>
                  <a:srgbClr val="7EC8E3"/>
                </a:solidFill>
                <a:latin typeface="Consolas" pitchFamily="34" charset="0"/>
                <a:ea typeface="Consolas" pitchFamily="34" charset="-122"/>
                <a:cs typeface="Consolas" pitchFamily="34" charset="-120"/>
              </a:rPr>
              <a:t>ms</a:t>
            </a:r>
            <a:endParaRPr lang="en-US" sz="1800" dirty="0"/>
          </a:p>
          <a:p>
            <a:endParaRPr lang="sr-Latn-RS" dirty="0"/>
          </a:p>
        </p:txBody>
      </p:sp>
      <p:graphicFrame>
        <p:nvGraphicFramePr>
          <p:cNvPr id="6" name="Table 0">
            <a:extLst>
              <a:ext uri="{FF2B5EF4-FFF2-40B4-BE49-F238E27FC236}">
                <a16:creationId xmlns:a16="http://schemas.microsoft.com/office/drawing/2014/main" id="{C7E2F45F-B2F6-CF3E-1317-D0E6ABE85CFB}"/>
              </a:ext>
            </a:extLst>
          </p:cNvPr>
          <p:cNvGraphicFramePr>
            <a:graphicFrameLocks noGrp="1"/>
          </p:cNvGraphicFramePr>
          <p:nvPr>
            <p:extLst>
              <p:ext uri="{D42A27DB-BD31-4B8C-83A1-F6EECF244321}">
                <p14:modId xmlns:p14="http://schemas.microsoft.com/office/powerpoint/2010/main" val="3715854960"/>
              </p:ext>
            </p:extLst>
          </p:nvPr>
        </p:nvGraphicFramePr>
        <p:xfrm>
          <a:off x="1657350" y="6296277"/>
          <a:ext cx="11106150" cy="2787400"/>
        </p:xfrm>
        <a:graphic>
          <a:graphicData uri="http://schemas.openxmlformats.org/drawingml/2006/table">
            <a:tbl>
              <a:tblPr/>
              <a:tblGrid>
                <a:gridCol w="5949723">
                  <a:extLst>
                    <a:ext uri="{9D8B030D-6E8A-4147-A177-3AD203B41FA5}">
                      <a16:colId xmlns:a16="http://schemas.microsoft.com/office/drawing/2014/main" val="20000"/>
                    </a:ext>
                  </a:extLst>
                </a:gridCol>
                <a:gridCol w="5156427">
                  <a:extLst>
                    <a:ext uri="{9D8B030D-6E8A-4147-A177-3AD203B41FA5}">
                      <a16:colId xmlns:a16="http://schemas.microsoft.com/office/drawing/2014/main" val="20001"/>
                    </a:ext>
                  </a:extLst>
                </a:gridCol>
              </a:tblGrid>
              <a:tr h="557480">
                <a:tc>
                  <a:txBody>
                    <a:bodyPr/>
                    <a:lstStyle/>
                    <a:p>
                      <a:pPr marL="0" indent="0">
                        <a:buNone/>
                      </a:pPr>
                      <a:r>
                        <a:rPr lang="en-US" sz="2000" b="1" dirty="0">
                          <a:solidFill>
                            <a:srgbClr val="FFFFFF"/>
                          </a:solidFill>
                        </a:rPr>
                        <a:t>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C3E5A"/>
                    </a:solidFill>
                  </a:tcPr>
                </a:tc>
                <a:tc>
                  <a:txBody>
                    <a:bodyPr/>
                    <a:lstStyle/>
                    <a:p>
                      <a:pPr marL="0" indent="0">
                        <a:buNone/>
                      </a:pPr>
                      <a:r>
                        <a:rPr lang="en-US" sz="2000" b="1" dirty="0">
                          <a:solidFill>
                            <a:srgbClr val="FFFFFF"/>
                          </a:solidFill>
                        </a:rPr>
                        <a:t>Execution Time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C3E5A"/>
                    </a:solidFill>
                  </a:tcPr>
                </a:tc>
                <a:extLst>
                  <a:ext uri="{0D108BD9-81ED-4DB2-BD59-A6C34878D82A}">
                    <a16:rowId xmlns:a16="http://schemas.microsoft.com/office/drawing/2014/main" val="10000"/>
                  </a:ext>
                </a:extLst>
              </a:tr>
              <a:tr h="557480">
                <a:tc>
                  <a:txBody>
                    <a:bodyPr/>
                    <a:lstStyle/>
                    <a:p>
                      <a:pPr marL="0" indent="0">
                        <a:buNone/>
                      </a:pPr>
                      <a:r>
                        <a:rPr lang="en-US" sz="2000" dirty="0">
                          <a:solidFill>
                            <a:srgbClr val="B0C4DE"/>
                          </a:solidFill>
                        </a:rPr>
                        <a:t>1. 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en-US" sz="2000" dirty="0">
                          <a:solidFill>
                            <a:srgbClr val="00C9A7"/>
                          </a:solidFill>
                        </a:rPr>
                        <a:t>29.687 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1"/>
                  </a:ext>
                </a:extLst>
              </a:tr>
              <a:tr h="557480">
                <a:tc>
                  <a:txBody>
                    <a:bodyPr/>
                    <a:lstStyle/>
                    <a:p>
                      <a:pPr marL="0" indent="0">
                        <a:buNone/>
                      </a:pPr>
                      <a:r>
                        <a:rPr lang="en-US" sz="2000" dirty="0">
                          <a:solidFill>
                            <a:srgbClr val="B0C4DE"/>
                          </a:solidFill>
                        </a:rPr>
                        <a:t>2. 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en-US" sz="2000" dirty="0">
                          <a:solidFill>
                            <a:srgbClr val="00C9A7"/>
                          </a:solidFill>
                        </a:rPr>
                        <a:t>30.905 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2"/>
                  </a:ext>
                </a:extLst>
              </a:tr>
              <a:tr h="557480">
                <a:tc>
                  <a:txBody>
                    <a:bodyPr/>
                    <a:lstStyle/>
                    <a:p>
                      <a:pPr marL="0" indent="0">
                        <a:buNone/>
                      </a:pPr>
                      <a:r>
                        <a:rPr lang="en-US" sz="2000" dirty="0">
                          <a:solidFill>
                            <a:srgbClr val="B0C4DE"/>
                          </a:solidFill>
                        </a:rPr>
                        <a:t>3. 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en-US" sz="2000" dirty="0">
                          <a:solidFill>
                            <a:srgbClr val="00C9A7"/>
                          </a:solidFill>
                        </a:rPr>
                        <a:t>29.982 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3"/>
                  </a:ext>
                </a:extLst>
              </a:tr>
              <a:tr h="557480">
                <a:tc>
                  <a:txBody>
                    <a:bodyPr/>
                    <a:lstStyle/>
                    <a:p>
                      <a:pPr marL="0" indent="0">
                        <a:buNone/>
                      </a:pPr>
                      <a:r>
                        <a:rPr lang="en-US" sz="2000" b="1" dirty="0">
                          <a:solidFill>
                            <a:srgbClr val="E74C3C"/>
                          </a:solidFill>
                        </a:rPr>
                        <a:t>Prosek</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1E2D42"/>
                    </a:solidFill>
                  </a:tcPr>
                </a:tc>
                <a:tc>
                  <a:txBody>
                    <a:bodyPr/>
                    <a:lstStyle/>
                    <a:p>
                      <a:pPr marL="0" indent="0">
                        <a:buNone/>
                      </a:pPr>
                      <a:r>
                        <a:rPr lang="en-US" sz="2000" b="1" dirty="0">
                          <a:solidFill>
                            <a:srgbClr val="E74C3C"/>
                          </a:solidFill>
                        </a:rPr>
                        <a:t>~30.191 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1E2D42"/>
                    </a:solidFill>
                  </a:tcPr>
                </a:tc>
                <a:extLst>
                  <a:ext uri="{0D108BD9-81ED-4DB2-BD59-A6C34878D82A}">
                    <a16:rowId xmlns:a16="http://schemas.microsoft.com/office/drawing/2014/main" val="10004"/>
                  </a:ext>
                </a:extLst>
              </a:tr>
            </a:tbl>
          </a:graphicData>
        </a:graphic>
      </p:graphicFrame>
      <p:sp>
        <p:nvSpPr>
          <p:cNvPr id="7" name="Text 23">
            <a:extLst>
              <a:ext uri="{FF2B5EF4-FFF2-40B4-BE49-F238E27FC236}">
                <a16:creationId xmlns:a16="http://schemas.microsoft.com/office/drawing/2014/main" id="{DF8A059A-E1E7-9881-E10A-7BBAAD2BFF9C}"/>
              </a:ext>
            </a:extLst>
          </p:cNvPr>
          <p:cNvSpPr/>
          <p:nvPr/>
        </p:nvSpPr>
        <p:spPr>
          <a:xfrm>
            <a:off x="13404850" y="6259438"/>
            <a:ext cx="5407640" cy="2472207"/>
          </a:xfrm>
          <a:prstGeom prst="rect">
            <a:avLst/>
          </a:prstGeom>
          <a:noFill/>
          <a:ln/>
        </p:spPr>
        <p:txBody>
          <a:bodyPr wrap="square" rtlCol="0" anchor="ctr"/>
          <a:lstStyle/>
          <a:p>
            <a:pPr marL="0" indent="0" algn="l">
              <a:buNone/>
            </a:pPr>
            <a:r>
              <a:rPr lang="en-US" sz="3200" dirty="0">
                <a:solidFill>
                  <a:schemeClr val="tx1">
                    <a:lumMod val="75000"/>
                    <a:lumOff val="25000"/>
                  </a:schemeClr>
                </a:solidFill>
                <a:latin typeface="Calibri" pitchFamily="34" charset="0"/>
                <a:ea typeface="Calibri" pitchFamily="34" charset="-122"/>
                <a:cs typeface="Calibri" pitchFamily="34" charset="-120"/>
              </a:rPr>
              <a:t>PostgreSQL mora da pročita svaku stranicu tabele i za svaki red proveri uslov filtriranja.</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603182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E6E6C-F355-AEB8-AD3E-403B5BC5E64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B468D4A-B5C1-5057-C4BB-7D5F4987EC55}"/>
              </a:ext>
            </a:extLst>
          </p:cNvPr>
          <p:cNvSpPr/>
          <p:nvPr/>
        </p:nvSpPr>
        <p:spPr>
          <a:xfrm>
            <a:off x="17622499" y="10927677"/>
            <a:ext cx="1570990" cy="0"/>
          </a:xfrm>
          <a:custGeom>
            <a:avLst/>
            <a:gdLst/>
            <a:ahLst/>
            <a:cxnLst/>
            <a:rect l="l" t="t" r="r" b="b"/>
            <a:pathLst>
              <a:path w="1570990">
                <a:moveTo>
                  <a:pt x="0" y="0"/>
                </a:moveTo>
                <a:lnTo>
                  <a:pt x="1570632" y="0"/>
                </a:lnTo>
              </a:path>
            </a:pathLst>
          </a:custGeom>
          <a:ln w="54972">
            <a:solidFill>
              <a:srgbClr val="004B80"/>
            </a:solidFill>
          </a:ln>
        </p:spPr>
        <p:txBody>
          <a:bodyPr wrap="square" lIns="0" tIns="0" rIns="0" bIns="0" rtlCol="0"/>
          <a:lstStyle/>
          <a:p>
            <a:endParaRPr/>
          </a:p>
        </p:txBody>
      </p:sp>
      <p:sp>
        <p:nvSpPr>
          <p:cNvPr id="4" name="object 4" descr="$PPTXTitle">
            <a:extLst>
              <a:ext uri="{FF2B5EF4-FFF2-40B4-BE49-F238E27FC236}">
                <a16:creationId xmlns:a16="http://schemas.microsoft.com/office/drawing/2014/main" id="{8314E044-21ED-F8A1-4348-CDAB614E8021}"/>
              </a:ext>
            </a:extLst>
          </p:cNvPr>
          <p:cNvSpPr txBox="1">
            <a:spLocks noGrp="1"/>
          </p:cNvSpPr>
          <p:nvPr>
            <p:ph type="title"/>
          </p:nvPr>
        </p:nvSpPr>
        <p:spPr>
          <a:xfrm>
            <a:off x="935448" y="730078"/>
            <a:ext cx="16687051" cy="843180"/>
          </a:xfrm>
          <a:prstGeom prst="rect">
            <a:avLst/>
          </a:prstGeom>
        </p:spPr>
        <p:txBody>
          <a:bodyPr vert="horz" wrap="square" lIns="0" tIns="12065" rIns="0" bIns="0" rtlCol="0">
            <a:spAutoFit/>
          </a:bodyPr>
          <a:lstStyle/>
          <a:p>
            <a:pPr>
              <a:lnSpc>
                <a:spcPct val="100000"/>
              </a:lnSpc>
              <a:spcBef>
                <a:spcPts val="95"/>
              </a:spcBef>
            </a:pPr>
            <a:r>
              <a:rPr lang="it-IT" sz="5400" b="1" spc="-180" dirty="0">
                <a:solidFill>
                  <a:srgbClr val="034F82"/>
                </a:solidFill>
                <a:latin typeface="Cambria" panose="02040503050406030204" pitchFamily="18" charset="0"/>
                <a:ea typeface="Cambria" panose="02040503050406030204" pitchFamily="18" charset="0"/>
                <a:cs typeface="Times New Roman"/>
              </a:rPr>
              <a:t>Scenario 2 - Index Scan (obični indeks na prezime)</a:t>
            </a:r>
            <a:endParaRPr sz="5400" b="1" dirty="0">
              <a:latin typeface="Cambria" panose="02040503050406030204" pitchFamily="18" charset="0"/>
              <a:ea typeface="Cambria" panose="02040503050406030204" pitchFamily="18" charset="0"/>
              <a:cs typeface="Times New Roman"/>
            </a:endParaRPr>
          </a:p>
        </p:txBody>
      </p:sp>
      <p:sp>
        <p:nvSpPr>
          <p:cNvPr id="2" name="Shape 5">
            <a:extLst>
              <a:ext uri="{FF2B5EF4-FFF2-40B4-BE49-F238E27FC236}">
                <a16:creationId xmlns:a16="http://schemas.microsoft.com/office/drawing/2014/main" id="{0E59E9FE-7079-A8E2-EA3E-55E16341CE82}"/>
              </a:ext>
            </a:extLst>
          </p:cNvPr>
          <p:cNvSpPr/>
          <p:nvPr/>
        </p:nvSpPr>
        <p:spPr>
          <a:xfrm>
            <a:off x="1619249" y="3378535"/>
            <a:ext cx="16687050" cy="2473140"/>
          </a:xfrm>
          <a:prstGeom prst="rect">
            <a:avLst/>
          </a:prstGeom>
          <a:solidFill>
            <a:schemeClr val="tx2">
              <a:lumMod val="50000"/>
            </a:schemeClr>
          </a:solidFill>
          <a:ln w="12700">
            <a:solidFill>
              <a:srgbClr val="304060"/>
            </a:solidFill>
            <a:prstDash val="solid"/>
          </a:ln>
        </p:spPr>
        <p:txBody>
          <a:bodyPr/>
          <a:lstStyle/>
          <a:p>
            <a:pPr marL="0" indent="0">
              <a:buNone/>
            </a:pPr>
            <a:r>
              <a:rPr lang="en-US" sz="1800" dirty="0" err="1">
                <a:solidFill>
                  <a:srgbClr val="7EC8E3"/>
                </a:solidFill>
                <a:latin typeface="Consolas" pitchFamily="34" charset="0"/>
                <a:ea typeface="Consolas" pitchFamily="34" charset="-122"/>
                <a:cs typeface="Consolas" pitchFamily="34" charset="-120"/>
              </a:rPr>
              <a:t>itmap</a:t>
            </a:r>
            <a:r>
              <a:rPr lang="en-US" sz="1800" dirty="0">
                <a:solidFill>
                  <a:srgbClr val="7EC8E3"/>
                </a:solidFill>
                <a:latin typeface="Consolas" pitchFamily="34" charset="0"/>
                <a:ea typeface="Consolas" pitchFamily="34" charset="-122"/>
                <a:cs typeface="Consolas" pitchFamily="34" charset="-120"/>
              </a:rPr>
              <a:t> Heap Scan on </a:t>
            </a:r>
            <a:r>
              <a:rPr lang="en-US" sz="1800" dirty="0" err="1">
                <a:solidFill>
                  <a:srgbClr val="7EC8E3"/>
                </a:solidFill>
                <a:latin typeface="Consolas" pitchFamily="34" charset="0"/>
                <a:ea typeface="Consolas" pitchFamily="34" charset="-122"/>
                <a:cs typeface="Consolas" pitchFamily="34" charset="-120"/>
              </a:rPr>
              <a:t>korisnici</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Heap Blocks: exact=38421  lossy=99156</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Buffers: shared read=137751</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-&gt; Bitmap Index Scan on </a:t>
            </a:r>
            <a:r>
              <a:rPr lang="en-US" sz="1800" dirty="0" err="1">
                <a:solidFill>
                  <a:srgbClr val="7EC8E3"/>
                </a:solidFill>
                <a:latin typeface="Consolas" pitchFamily="34" charset="0"/>
                <a:ea typeface="Consolas" pitchFamily="34" charset="-122"/>
                <a:cs typeface="Consolas" pitchFamily="34" charset="-120"/>
              </a:rPr>
              <a:t>idx_prezime</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Index Cond: (</a:t>
            </a:r>
            <a:r>
              <a:rPr lang="en-US" sz="1800" dirty="0" err="1">
                <a:solidFill>
                  <a:srgbClr val="7EC8E3"/>
                </a:solidFill>
                <a:latin typeface="Consolas" pitchFamily="34" charset="0"/>
                <a:ea typeface="Consolas" pitchFamily="34" charset="-122"/>
                <a:cs typeface="Consolas" pitchFamily="34" charset="-120"/>
              </a:rPr>
              <a:t>prezime</a:t>
            </a:r>
            <a:r>
              <a:rPr lang="en-US" sz="1800" dirty="0">
                <a:solidFill>
                  <a:srgbClr val="7EC8E3"/>
                </a:solidFill>
                <a:latin typeface="Consolas" pitchFamily="34" charset="0"/>
                <a:ea typeface="Consolas" pitchFamily="34" charset="-122"/>
                <a:cs typeface="Consolas" pitchFamily="34" charset="-120"/>
              </a:rPr>
              <a:t> = 'Petrovic')</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Buffers: shared read=174</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Execution Time: 24187.011 </a:t>
            </a:r>
            <a:r>
              <a:rPr lang="en-US" sz="1800" dirty="0" err="1">
                <a:solidFill>
                  <a:srgbClr val="7EC8E3"/>
                </a:solidFill>
                <a:latin typeface="Consolas" pitchFamily="34" charset="0"/>
                <a:ea typeface="Consolas" pitchFamily="34" charset="-122"/>
                <a:cs typeface="Consolas" pitchFamily="34" charset="-120"/>
              </a:rPr>
              <a:t>ms</a:t>
            </a:r>
            <a:endParaRPr lang="en-US" sz="1800" dirty="0"/>
          </a:p>
          <a:p>
            <a:endParaRPr lang="sr-Latn-RS" dirty="0"/>
          </a:p>
        </p:txBody>
      </p:sp>
      <p:sp>
        <p:nvSpPr>
          <p:cNvPr id="7" name="Text 23">
            <a:extLst>
              <a:ext uri="{FF2B5EF4-FFF2-40B4-BE49-F238E27FC236}">
                <a16:creationId xmlns:a16="http://schemas.microsoft.com/office/drawing/2014/main" id="{D3B872F1-6354-9E9D-F309-C35EEE56DF8B}"/>
              </a:ext>
            </a:extLst>
          </p:cNvPr>
          <p:cNvSpPr/>
          <p:nvPr/>
        </p:nvSpPr>
        <p:spPr>
          <a:xfrm>
            <a:off x="13404850" y="6773468"/>
            <a:ext cx="5073650" cy="2472207"/>
          </a:xfrm>
          <a:prstGeom prst="rect">
            <a:avLst/>
          </a:prstGeom>
          <a:noFill/>
          <a:ln/>
        </p:spPr>
        <p:txBody>
          <a:bodyPr wrap="square" rtlCol="0" anchor="ctr"/>
          <a:lstStyle/>
          <a:p>
            <a:pPr marL="0" indent="0" algn="l">
              <a:buNone/>
            </a:pPr>
            <a:r>
              <a:rPr lang="en-US" sz="3200" dirty="0" err="1">
                <a:solidFill>
                  <a:schemeClr val="tx1">
                    <a:lumMod val="75000"/>
                    <a:lumOff val="25000"/>
                  </a:schemeClr>
                </a:solidFill>
                <a:latin typeface="Calibri" pitchFamily="34" charset="0"/>
                <a:ea typeface="Calibri" pitchFamily="34" charset="-122"/>
                <a:cs typeface="Calibri" pitchFamily="34" charset="-120"/>
              </a:rPr>
              <a:t>Napomena</a:t>
            </a:r>
            <a:r>
              <a:rPr lang="en-US" sz="3200" dirty="0">
                <a:solidFill>
                  <a:schemeClr val="tx1">
                    <a:lumMod val="75000"/>
                    <a:lumOff val="25000"/>
                  </a:schemeClr>
                </a:solidFill>
                <a:latin typeface="Calibri" pitchFamily="34" charset="0"/>
                <a:ea typeface="Calibri" pitchFamily="34" charset="-122"/>
                <a:cs typeface="Calibri" pitchFamily="34" charset="-120"/>
              </a:rPr>
              <a:t>: 2. </a:t>
            </a:r>
            <a:r>
              <a:rPr lang="en-US" sz="3200" dirty="0" err="1">
                <a:solidFill>
                  <a:schemeClr val="tx1">
                    <a:lumMod val="75000"/>
                    <a:lumOff val="25000"/>
                  </a:schemeClr>
                </a:solidFill>
                <a:latin typeface="Calibri" pitchFamily="34" charset="0"/>
                <a:ea typeface="Calibri" pitchFamily="34" charset="-122"/>
                <a:cs typeface="Calibri" pitchFamily="34" charset="-120"/>
              </a:rPr>
              <a:t>i</a:t>
            </a:r>
            <a:r>
              <a:rPr lang="en-US" sz="3200" dirty="0">
                <a:solidFill>
                  <a:schemeClr val="tx1">
                    <a:lumMod val="75000"/>
                    <a:lumOff val="25000"/>
                  </a:schemeClr>
                </a:solidFill>
                <a:latin typeface="Calibri" pitchFamily="34" charset="0"/>
                <a:ea typeface="Calibri" pitchFamily="34" charset="-122"/>
                <a:cs typeface="Calibri" pitchFamily="34" charset="-120"/>
              </a:rPr>
              <a:t> 3. </a:t>
            </a:r>
            <a:r>
              <a:rPr lang="en-US" sz="3200" dirty="0" err="1">
                <a:solidFill>
                  <a:schemeClr val="tx1">
                    <a:lumMod val="75000"/>
                    <a:lumOff val="25000"/>
                  </a:schemeClr>
                </a:solidFill>
                <a:latin typeface="Calibri" pitchFamily="34" charset="0"/>
                <a:ea typeface="Calibri" pitchFamily="34" charset="-122"/>
                <a:cs typeface="Calibri" pitchFamily="34" charset="-120"/>
              </a:rPr>
              <a:t>merenje</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su</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brža</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zbog</a:t>
            </a:r>
            <a:r>
              <a:rPr lang="en-US" sz="3200" dirty="0">
                <a:solidFill>
                  <a:schemeClr val="tx1">
                    <a:lumMod val="75000"/>
                    <a:lumOff val="25000"/>
                  </a:schemeClr>
                </a:solidFill>
                <a:latin typeface="Calibri" pitchFamily="34" charset="0"/>
                <a:ea typeface="Calibri" pitchFamily="34" charset="-122"/>
                <a:cs typeface="Calibri" pitchFamily="34" charset="-120"/>
              </a:rPr>
              <a:t> PostgreSQL shared buffer cache-a. Samo 1. </a:t>
            </a:r>
            <a:r>
              <a:rPr lang="en-US" sz="3200" dirty="0" err="1">
                <a:solidFill>
                  <a:schemeClr val="tx1">
                    <a:lumMod val="75000"/>
                    <a:lumOff val="25000"/>
                  </a:schemeClr>
                </a:solidFill>
                <a:latin typeface="Calibri" pitchFamily="34" charset="0"/>
                <a:ea typeface="Calibri" pitchFamily="34" charset="-122"/>
                <a:cs typeface="Calibri" pitchFamily="34" charset="-120"/>
              </a:rPr>
              <a:t>merenje</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reprezentuje</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produkcijske</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performanse</a:t>
            </a:r>
            <a:r>
              <a:rPr lang="en-US" sz="3200" dirty="0">
                <a:solidFill>
                  <a:schemeClr val="tx1">
                    <a:lumMod val="75000"/>
                    <a:lumOff val="25000"/>
                  </a:schemeClr>
                </a:solidFill>
                <a:latin typeface="Calibri" pitchFamily="34" charset="0"/>
                <a:ea typeface="Calibri" pitchFamily="34" charset="-122"/>
                <a:cs typeface="Calibri" pitchFamily="34" charset="-120"/>
              </a:rPr>
              <a:t>.</a:t>
            </a:r>
          </a:p>
        </p:txBody>
      </p:sp>
      <p:sp>
        <p:nvSpPr>
          <p:cNvPr id="5" name="Shape 5">
            <a:extLst>
              <a:ext uri="{FF2B5EF4-FFF2-40B4-BE49-F238E27FC236}">
                <a16:creationId xmlns:a16="http://schemas.microsoft.com/office/drawing/2014/main" id="{C402F305-4051-99C0-568F-C09A13EBCD4A}"/>
              </a:ext>
            </a:extLst>
          </p:cNvPr>
          <p:cNvSpPr/>
          <p:nvPr/>
        </p:nvSpPr>
        <p:spPr>
          <a:xfrm>
            <a:off x="1625600" y="2184637"/>
            <a:ext cx="16680699" cy="843180"/>
          </a:xfrm>
          <a:prstGeom prst="rect">
            <a:avLst/>
          </a:prstGeom>
          <a:solidFill>
            <a:srgbClr val="0F1923"/>
          </a:solidFill>
          <a:ln w="12700">
            <a:solidFill>
              <a:srgbClr val="304060"/>
            </a:solidFill>
            <a:prstDash val="solid"/>
          </a:ln>
        </p:spPr>
        <p:txBody>
          <a:bodyPr anchor="ctr"/>
          <a:lstStyle/>
          <a:p>
            <a:r>
              <a:rPr lang="en-US" sz="1800" dirty="0">
                <a:solidFill>
                  <a:srgbClr val="98E8A0"/>
                </a:solidFill>
                <a:latin typeface="Consolas" pitchFamily="34" charset="0"/>
                <a:ea typeface="Consolas" pitchFamily="34" charset="-122"/>
                <a:cs typeface="Consolas" pitchFamily="34" charset="-120"/>
              </a:rPr>
              <a:t>CREATE INDEX </a:t>
            </a:r>
            <a:r>
              <a:rPr lang="en-US" sz="1800" dirty="0" err="1">
                <a:solidFill>
                  <a:srgbClr val="98E8A0"/>
                </a:solidFill>
                <a:latin typeface="Consolas" pitchFamily="34" charset="0"/>
                <a:ea typeface="Consolas" pitchFamily="34" charset="-122"/>
                <a:cs typeface="Consolas" pitchFamily="34" charset="-120"/>
              </a:rPr>
              <a:t>idx_prezime</a:t>
            </a:r>
            <a:r>
              <a:rPr lang="en-US" sz="1800" dirty="0">
                <a:solidFill>
                  <a:srgbClr val="98E8A0"/>
                </a:solidFill>
                <a:latin typeface="Consolas" pitchFamily="34" charset="0"/>
                <a:ea typeface="Consolas" pitchFamily="34" charset="-122"/>
                <a:cs typeface="Consolas" pitchFamily="34" charset="-120"/>
              </a:rPr>
              <a:t> ON </a:t>
            </a:r>
            <a:r>
              <a:rPr lang="en-US" sz="1800" dirty="0" err="1">
                <a:solidFill>
                  <a:srgbClr val="98E8A0"/>
                </a:solidFill>
                <a:latin typeface="Consolas" pitchFamily="34" charset="0"/>
                <a:ea typeface="Consolas" pitchFamily="34" charset="-122"/>
                <a:cs typeface="Consolas" pitchFamily="34" charset="-120"/>
              </a:rPr>
              <a:t>korisnici</a:t>
            </a:r>
            <a:r>
              <a:rPr lang="en-US" sz="1800" dirty="0">
                <a:solidFill>
                  <a:srgbClr val="98E8A0"/>
                </a:solidFill>
                <a:latin typeface="Consolas" pitchFamily="34" charset="0"/>
                <a:ea typeface="Consolas" pitchFamily="34" charset="-122"/>
                <a:cs typeface="Consolas" pitchFamily="34" charset="-120"/>
              </a:rPr>
              <a:t>(</a:t>
            </a:r>
            <a:r>
              <a:rPr lang="en-US" sz="1800" dirty="0" err="1">
                <a:solidFill>
                  <a:srgbClr val="98E8A0"/>
                </a:solidFill>
                <a:latin typeface="Consolas" pitchFamily="34" charset="0"/>
                <a:ea typeface="Consolas" pitchFamily="34" charset="-122"/>
                <a:cs typeface="Consolas" pitchFamily="34" charset="-120"/>
              </a:rPr>
              <a:t>prezime</a:t>
            </a:r>
            <a:r>
              <a:rPr lang="en-US" sz="1800" dirty="0">
                <a:solidFill>
                  <a:srgbClr val="98E8A0"/>
                </a:solidFill>
                <a:latin typeface="Consolas" pitchFamily="34" charset="0"/>
                <a:ea typeface="Consolas" pitchFamily="34" charset="-122"/>
                <a:cs typeface="Consolas" pitchFamily="34" charset="-120"/>
              </a:rPr>
              <a:t>);</a:t>
            </a:r>
            <a:endParaRPr lang="en-US" sz="1800" dirty="0"/>
          </a:p>
        </p:txBody>
      </p:sp>
      <p:graphicFrame>
        <p:nvGraphicFramePr>
          <p:cNvPr id="8" name="Table 0">
            <a:extLst>
              <a:ext uri="{FF2B5EF4-FFF2-40B4-BE49-F238E27FC236}">
                <a16:creationId xmlns:a16="http://schemas.microsoft.com/office/drawing/2014/main" id="{86710E93-A401-1DC4-7AE8-D4819968F427}"/>
              </a:ext>
            </a:extLst>
          </p:cNvPr>
          <p:cNvGraphicFramePr>
            <a:graphicFrameLocks noGrp="1"/>
          </p:cNvGraphicFramePr>
          <p:nvPr>
            <p:extLst>
              <p:ext uri="{D42A27DB-BD31-4B8C-83A1-F6EECF244321}">
                <p14:modId xmlns:p14="http://schemas.microsoft.com/office/powerpoint/2010/main" val="1372533164"/>
              </p:ext>
            </p:extLst>
          </p:nvPr>
        </p:nvGraphicFramePr>
        <p:xfrm>
          <a:off x="1625600" y="6492875"/>
          <a:ext cx="11093450" cy="3033395"/>
        </p:xfrm>
        <a:graphic>
          <a:graphicData uri="http://schemas.openxmlformats.org/drawingml/2006/table">
            <a:tbl>
              <a:tblPr/>
              <a:tblGrid>
                <a:gridCol w="5942920">
                  <a:extLst>
                    <a:ext uri="{9D8B030D-6E8A-4147-A177-3AD203B41FA5}">
                      <a16:colId xmlns:a16="http://schemas.microsoft.com/office/drawing/2014/main" val="20000"/>
                    </a:ext>
                  </a:extLst>
                </a:gridCol>
                <a:gridCol w="5150530">
                  <a:extLst>
                    <a:ext uri="{9D8B030D-6E8A-4147-A177-3AD203B41FA5}">
                      <a16:colId xmlns:a16="http://schemas.microsoft.com/office/drawing/2014/main" val="20001"/>
                    </a:ext>
                  </a:extLst>
                </a:gridCol>
              </a:tblGrid>
              <a:tr h="606679">
                <a:tc>
                  <a:txBody>
                    <a:bodyPr/>
                    <a:lstStyle/>
                    <a:p>
                      <a:pPr marL="0" indent="0">
                        <a:buNone/>
                      </a:pPr>
                      <a:r>
                        <a:rPr lang="en-US" sz="2000" b="1" dirty="0">
                          <a:solidFill>
                            <a:srgbClr val="FFFFFF"/>
                          </a:solidFill>
                        </a:rPr>
                        <a:t>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C3E5A"/>
                    </a:solidFill>
                  </a:tcPr>
                </a:tc>
                <a:tc>
                  <a:txBody>
                    <a:bodyPr/>
                    <a:lstStyle/>
                    <a:p>
                      <a:pPr marL="0" indent="0">
                        <a:buNone/>
                      </a:pPr>
                      <a:r>
                        <a:rPr lang="en-US" sz="2000" b="1" dirty="0">
                          <a:solidFill>
                            <a:srgbClr val="FFFFFF"/>
                          </a:solidFill>
                        </a:rPr>
                        <a:t>Execution Time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C3E5A"/>
                    </a:solidFill>
                  </a:tcPr>
                </a:tc>
                <a:extLst>
                  <a:ext uri="{0D108BD9-81ED-4DB2-BD59-A6C34878D82A}">
                    <a16:rowId xmlns:a16="http://schemas.microsoft.com/office/drawing/2014/main" val="10000"/>
                  </a:ext>
                </a:extLst>
              </a:tr>
              <a:tr h="606679">
                <a:tc>
                  <a:txBody>
                    <a:bodyPr/>
                    <a:lstStyle/>
                    <a:p>
                      <a:pPr marL="0" indent="0">
                        <a:buNone/>
                      </a:pPr>
                      <a:r>
                        <a:rPr lang="en-US" sz="2000" dirty="0">
                          <a:solidFill>
                            <a:srgbClr val="B0C4DE"/>
                          </a:solidFill>
                        </a:rPr>
                        <a:t>1. 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en-US" sz="2000" dirty="0">
                          <a:solidFill>
                            <a:srgbClr val="F39C12"/>
                          </a:solidFill>
                        </a:rPr>
                        <a:t>24.187 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1"/>
                  </a:ext>
                </a:extLst>
              </a:tr>
              <a:tr h="606679">
                <a:tc>
                  <a:txBody>
                    <a:bodyPr/>
                    <a:lstStyle/>
                    <a:p>
                      <a:pPr marL="0" indent="0">
                        <a:buNone/>
                      </a:pPr>
                      <a:r>
                        <a:rPr lang="en-US" sz="2000" i="1" dirty="0">
                          <a:solidFill>
                            <a:srgbClr val="7F96B0"/>
                          </a:solidFill>
                        </a:rPr>
                        <a:t>2. merenje (keš)</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sr-Latn-RS" sz="2000" dirty="0">
                          <a:solidFill>
                            <a:srgbClr val="00C9A7"/>
                          </a:solidFill>
                        </a:rPr>
                        <a:t>.</a:t>
                      </a:r>
                      <a:r>
                        <a:rPr lang="en-US" sz="2000" dirty="0">
                          <a:solidFill>
                            <a:srgbClr val="00C9A7"/>
                          </a:solidFill>
                        </a:rPr>
                        <a:t>682 ms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2"/>
                  </a:ext>
                </a:extLst>
              </a:tr>
              <a:tr h="606679">
                <a:tc>
                  <a:txBody>
                    <a:bodyPr/>
                    <a:lstStyle/>
                    <a:p>
                      <a:pPr marL="0" indent="0">
                        <a:buNone/>
                      </a:pPr>
                      <a:r>
                        <a:rPr lang="en-US" sz="2000" i="1" dirty="0">
                          <a:solidFill>
                            <a:srgbClr val="7F96B0"/>
                          </a:solidFill>
                        </a:rPr>
                        <a:t>3. merenje (keš)</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sr-Latn-RS" sz="2000" dirty="0">
                          <a:solidFill>
                            <a:srgbClr val="00C9A7"/>
                          </a:solidFill>
                        </a:rPr>
                        <a:t>.</a:t>
                      </a:r>
                      <a:r>
                        <a:rPr lang="en-US" sz="2000" dirty="0">
                          <a:solidFill>
                            <a:srgbClr val="00C9A7"/>
                          </a:solidFill>
                        </a:rPr>
                        <a:t>707 ms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3"/>
                  </a:ext>
                </a:extLst>
              </a:tr>
              <a:tr h="606679">
                <a:tc>
                  <a:txBody>
                    <a:bodyPr/>
                    <a:lstStyle/>
                    <a:p>
                      <a:pPr marL="0" indent="0">
                        <a:buNone/>
                      </a:pPr>
                      <a:r>
                        <a:rPr lang="en-US" sz="2000" b="1" dirty="0">
                          <a:solidFill>
                            <a:srgbClr val="F39C12"/>
                          </a:solidFill>
                        </a:rPr>
                        <a:t>Reprezentativno</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1E2D42"/>
                    </a:solidFill>
                  </a:tcPr>
                </a:tc>
                <a:tc>
                  <a:txBody>
                    <a:bodyPr/>
                    <a:lstStyle/>
                    <a:p>
                      <a:pPr marL="0" indent="0">
                        <a:buNone/>
                      </a:pPr>
                      <a:r>
                        <a:rPr lang="en-US" sz="2000" b="1" dirty="0">
                          <a:solidFill>
                            <a:srgbClr val="F39C12"/>
                          </a:solidFill>
                        </a:rPr>
                        <a:t>~24.187 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1E2D4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97291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FED66-FB88-1BA3-F61B-D4154285612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A3ED994-67B9-91F3-D61E-D6BFCDF13AE2}"/>
              </a:ext>
            </a:extLst>
          </p:cNvPr>
          <p:cNvSpPr/>
          <p:nvPr/>
        </p:nvSpPr>
        <p:spPr>
          <a:xfrm>
            <a:off x="17622499" y="10927677"/>
            <a:ext cx="1570990" cy="0"/>
          </a:xfrm>
          <a:custGeom>
            <a:avLst/>
            <a:gdLst/>
            <a:ahLst/>
            <a:cxnLst/>
            <a:rect l="l" t="t" r="r" b="b"/>
            <a:pathLst>
              <a:path w="1570990">
                <a:moveTo>
                  <a:pt x="0" y="0"/>
                </a:moveTo>
                <a:lnTo>
                  <a:pt x="1570632" y="0"/>
                </a:lnTo>
              </a:path>
            </a:pathLst>
          </a:custGeom>
          <a:ln w="54972">
            <a:solidFill>
              <a:srgbClr val="004B80"/>
            </a:solidFill>
          </a:ln>
        </p:spPr>
        <p:txBody>
          <a:bodyPr wrap="square" lIns="0" tIns="0" rIns="0" bIns="0" rtlCol="0"/>
          <a:lstStyle/>
          <a:p>
            <a:endParaRPr/>
          </a:p>
        </p:txBody>
      </p:sp>
      <p:sp>
        <p:nvSpPr>
          <p:cNvPr id="4" name="object 4" descr="$PPTXTitle">
            <a:extLst>
              <a:ext uri="{FF2B5EF4-FFF2-40B4-BE49-F238E27FC236}">
                <a16:creationId xmlns:a16="http://schemas.microsoft.com/office/drawing/2014/main" id="{A9BCD4AC-2F60-2E9B-8644-CA493D371B48}"/>
              </a:ext>
            </a:extLst>
          </p:cNvPr>
          <p:cNvSpPr txBox="1">
            <a:spLocks noGrp="1"/>
          </p:cNvSpPr>
          <p:nvPr>
            <p:ph type="title"/>
          </p:nvPr>
        </p:nvSpPr>
        <p:spPr>
          <a:xfrm>
            <a:off x="935448" y="730078"/>
            <a:ext cx="16687051" cy="843180"/>
          </a:xfrm>
          <a:prstGeom prst="rect">
            <a:avLst/>
          </a:prstGeom>
        </p:spPr>
        <p:txBody>
          <a:bodyPr vert="horz" wrap="square" lIns="0" tIns="12065" rIns="0" bIns="0" rtlCol="0">
            <a:spAutoFit/>
          </a:bodyPr>
          <a:lstStyle/>
          <a:p>
            <a:pPr>
              <a:lnSpc>
                <a:spcPct val="100000"/>
              </a:lnSpc>
              <a:spcBef>
                <a:spcPts val="95"/>
              </a:spcBef>
            </a:pPr>
            <a:r>
              <a:rPr lang="it-IT" sz="5400" b="1" spc="-180" dirty="0">
                <a:solidFill>
                  <a:srgbClr val="034F82"/>
                </a:solidFill>
                <a:latin typeface="Cambria" panose="02040503050406030204" pitchFamily="18" charset="0"/>
                <a:ea typeface="Cambria" panose="02040503050406030204" pitchFamily="18" charset="0"/>
                <a:cs typeface="Times New Roman"/>
              </a:rPr>
              <a:t>Scenario 3 - Index-Only Scan (pokrivajući indeks)</a:t>
            </a:r>
            <a:endParaRPr sz="5400" b="1" dirty="0">
              <a:latin typeface="Cambria" panose="02040503050406030204" pitchFamily="18" charset="0"/>
              <a:ea typeface="Cambria" panose="02040503050406030204" pitchFamily="18" charset="0"/>
              <a:cs typeface="Times New Roman"/>
            </a:endParaRPr>
          </a:p>
        </p:txBody>
      </p:sp>
      <p:sp>
        <p:nvSpPr>
          <p:cNvPr id="2" name="Shape 5">
            <a:extLst>
              <a:ext uri="{FF2B5EF4-FFF2-40B4-BE49-F238E27FC236}">
                <a16:creationId xmlns:a16="http://schemas.microsoft.com/office/drawing/2014/main" id="{48A0E031-6F7E-AE9F-A73B-4360C6742F09}"/>
              </a:ext>
            </a:extLst>
          </p:cNvPr>
          <p:cNvSpPr/>
          <p:nvPr/>
        </p:nvSpPr>
        <p:spPr>
          <a:xfrm>
            <a:off x="1619249" y="3378535"/>
            <a:ext cx="16687050" cy="2473140"/>
          </a:xfrm>
          <a:prstGeom prst="rect">
            <a:avLst/>
          </a:prstGeom>
          <a:solidFill>
            <a:schemeClr val="tx2">
              <a:lumMod val="50000"/>
            </a:schemeClr>
          </a:solidFill>
          <a:ln w="12700">
            <a:solidFill>
              <a:srgbClr val="304060"/>
            </a:solidFill>
            <a:prstDash val="solid"/>
          </a:ln>
        </p:spPr>
        <p:txBody>
          <a:bodyPr/>
          <a:lstStyle/>
          <a:p>
            <a:pPr marL="0" indent="0">
              <a:buNone/>
            </a:pPr>
            <a:r>
              <a:rPr lang="en-US" sz="1800" dirty="0">
                <a:solidFill>
                  <a:srgbClr val="7EC8E3"/>
                </a:solidFill>
                <a:latin typeface="Consolas" pitchFamily="34" charset="0"/>
                <a:ea typeface="Consolas" pitchFamily="34" charset="-122"/>
                <a:cs typeface="Consolas" pitchFamily="34" charset="-120"/>
              </a:rPr>
              <a:t>Index Only Scan using </a:t>
            </a:r>
            <a:r>
              <a:rPr lang="en-US" sz="1800" dirty="0" err="1">
                <a:solidFill>
                  <a:srgbClr val="7EC8E3"/>
                </a:solidFill>
                <a:latin typeface="Consolas" pitchFamily="34" charset="0"/>
                <a:ea typeface="Consolas" pitchFamily="34" charset="-122"/>
                <a:cs typeface="Consolas" pitchFamily="34" charset="-120"/>
              </a:rPr>
              <a:t>idx_prezime_ime</a:t>
            </a:r>
            <a:r>
              <a:rPr lang="en-US" sz="1800" dirty="0">
                <a:solidFill>
                  <a:srgbClr val="7EC8E3"/>
                </a:solidFill>
                <a:latin typeface="Consolas" pitchFamily="34" charset="0"/>
                <a:ea typeface="Consolas" pitchFamily="34" charset="-122"/>
                <a:cs typeface="Consolas" pitchFamily="34" charset="-120"/>
              </a:rPr>
              <a:t> on </a:t>
            </a:r>
            <a:r>
              <a:rPr lang="en-US" sz="1800" dirty="0" err="1">
                <a:solidFill>
                  <a:srgbClr val="7EC8E3"/>
                </a:solidFill>
                <a:latin typeface="Consolas" pitchFamily="34" charset="0"/>
                <a:ea typeface="Consolas" pitchFamily="34" charset="-122"/>
                <a:cs typeface="Consolas" pitchFamily="34" charset="-120"/>
              </a:rPr>
              <a:t>korisnici</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(cost=0.43..4189.43  rows=199600  width=14)</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(actual time=0.140..36.875  rows=200178)</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Heap Fetches: 0</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Buffers: shared hit=70  read=174</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Execution Time: 47.377 </a:t>
            </a:r>
            <a:r>
              <a:rPr lang="en-US" sz="1800" dirty="0" err="1">
                <a:solidFill>
                  <a:srgbClr val="7EC8E3"/>
                </a:solidFill>
                <a:latin typeface="Consolas" pitchFamily="34" charset="0"/>
                <a:ea typeface="Consolas" pitchFamily="34" charset="-122"/>
                <a:cs typeface="Consolas" pitchFamily="34" charset="-120"/>
              </a:rPr>
              <a:t>ms</a:t>
            </a:r>
            <a:endParaRPr lang="en-US" sz="1800" dirty="0"/>
          </a:p>
          <a:p>
            <a:endParaRPr lang="sr-Latn-RS" dirty="0"/>
          </a:p>
        </p:txBody>
      </p:sp>
      <p:sp>
        <p:nvSpPr>
          <p:cNvPr id="7" name="Text 23">
            <a:extLst>
              <a:ext uri="{FF2B5EF4-FFF2-40B4-BE49-F238E27FC236}">
                <a16:creationId xmlns:a16="http://schemas.microsoft.com/office/drawing/2014/main" id="{C4C8775B-B966-C156-07EE-09B5CA8115D5}"/>
              </a:ext>
            </a:extLst>
          </p:cNvPr>
          <p:cNvSpPr/>
          <p:nvPr/>
        </p:nvSpPr>
        <p:spPr>
          <a:xfrm>
            <a:off x="13404850" y="6773468"/>
            <a:ext cx="5073650" cy="2472207"/>
          </a:xfrm>
          <a:prstGeom prst="rect">
            <a:avLst/>
          </a:prstGeom>
          <a:noFill/>
          <a:ln/>
        </p:spPr>
        <p:txBody>
          <a:bodyPr wrap="square" rtlCol="0" anchor="ctr"/>
          <a:lstStyle/>
          <a:p>
            <a:pPr marL="0" indent="0" algn="l">
              <a:buNone/>
            </a:pPr>
            <a:r>
              <a:rPr lang="en-US" sz="3200" dirty="0">
                <a:solidFill>
                  <a:schemeClr val="tx1">
                    <a:lumMod val="75000"/>
                    <a:lumOff val="25000"/>
                  </a:schemeClr>
                </a:solidFill>
                <a:latin typeface="Calibri" pitchFamily="34" charset="0"/>
                <a:ea typeface="Calibri" pitchFamily="34" charset="-122"/>
                <a:cs typeface="Calibri" pitchFamily="34" charset="-120"/>
              </a:rPr>
              <a:t>635 puta </a:t>
            </a:r>
            <a:r>
              <a:rPr lang="en-US" sz="3200" dirty="0" err="1">
                <a:solidFill>
                  <a:schemeClr val="tx1">
                    <a:lumMod val="75000"/>
                    <a:lumOff val="25000"/>
                  </a:schemeClr>
                </a:solidFill>
                <a:latin typeface="Calibri" pitchFamily="34" charset="0"/>
                <a:ea typeface="Calibri" pitchFamily="34" charset="-122"/>
                <a:cs typeface="Calibri" pitchFamily="34" charset="-120"/>
              </a:rPr>
              <a:t>br</a:t>
            </a:r>
            <a:r>
              <a:rPr lang="sr-Latn-RS" sz="3200" dirty="0">
                <a:solidFill>
                  <a:schemeClr val="tx1">
                    <a:lumMod val="75000"/>
                    <a:lumOff val="25000"/>
                  </a:schemeClr>
                </a:solidFill>
                <a:latin typeface="Calibri" pitchFamily="34" charset="0"/>
                <a:ea typeface="Calibri" pitchFamily="34" charset="-122"/>
                <a:cs typeface="Calibri" pitchFamily="34" charset="-120"/>
              </a:rPr>
              <a:t>že izvršavanje u poređenju sa sekvencijalnim rešenjem.</a:t>
            </a:r>
            <a:endParaRPr lang="en-US" sz="3200" dirty="0">
              <a:solidFill>
                <a:schemeClr val="tx1">
                  <a:lumMod val="75000"/>
                  <a:lumOff val="25000"/>
                </a:schemeClr>
              </a:solidFill>
              <a:latin typeface="Calibri" pitchFamily="34" charset="0"/>
              <a:ea typeface="Calibri" pitchFamily="34" charset="-122"/>
              <a:cs typeface="Calibri" pitchFamily="34" charset="-120"/>
            </a:endParaRPr>
          </a:p>
        </p:txBody>
      </p:sp>
      <p:sp>
        <p:nvSpPr>
          <p:cNvPr id="5" name="Shape 5">
            <a:extLst>
              <a:ext uri="{FF2B5EF4-FFF2-40B4-BE49-F238E27FC236}">
                <a16:creationId xmlns:a16="http://schemas.microsoft.com/office/drawing/2014/main" id="{A99BA7C0-FCFC-0381-387E-A1BE86694EC8}"/>
              </a:ext>
            </a:extLst>
          </p:cNvPr>
          <p:cNvSpPr/>
          <p:nvPr/>
        </p:nvSpPr>
        <p:spPr>
          <a:xfrm>
            <a:off x="1625600" y="2184637"/>
            <a:ext cx="16680699" cy="843180"/>
          </a:xfrm>
          <a:prstGeom prst="rect">
            <a:avLst/>
          </a:prstGeom>
          <a:solidFill>
            <a:srgbClr val="0F1923"/>
          </a:solidFill>
          <a:ln w="12700">
            <a:solidFill>
              <a:srgbClr val="304060"/>
            </a:solidFill>
            <a:prstDash val="solid"/>
          </a:ln>
        </p:spPr>
        <p:txBody>
          <a:bodyPr anchor="ctr"/>
          <a:lstStyle/>
          <a:p>
            <a:pPr marL="0" indent="0">
              <a:buNone/>
            </a:pPr>
            <a:r>
              <a:rPr lang="en-US" sz="1800" dirty="0">
                <a:solidFill>
                  <a:srgbClr val="98E8A0"/>
                </a:solidFill>
                <a:latin typeface="Consolas" pitchFamily="34" charset="0"/>
                <a:ea typeface="Consolas" pitchFamily="34" charset="-122"/>
                <a:cs typeface="Consolas" pitchFamily="34" charset="-120"/>
              </a:rPr>
              <a:t>CREATE INDEX </a:t>
            </a:r>
            <a:r>
              <a:rPr lang="en-US" sz="1800" dirty="0" err="1">
                <a:solidFill>
                  <a:srgbClr val="98E8A0"/>
                </a:solidFill>
                <a:latin typeface="Consolas" pitchFamily="34" charset="0"/>
                <a:ea typeface="Consolas" pitchFamily="34" charset="-122"/>
                <a:cs typeface="Consolas" pitchFamily="34" charset="-120"/>
              </a:rPr>
              <a:t>idx_prezime_ime</a:t>
            </a:r>
            <a:r>
              <a:rPr lang="en-US" sz="1800" dirty="0">
                <a:solidFill>
                  <a:srgbClr val="98E8A0"/>
                </a:solidFill>
                <a:latin typeface="Consolas" pitchFamily="34" charset="0"/>
                <a:ea typeface="Consolas" pitchFamily="34" charset="-122"/>
                <a:cs typeface="Consolas" pitchFamily="34" charset="-120"/>
              </a:rPr>
              <a:t> ON </a:t>
            </a:r>
            <a:r>
              <a:rPr lang="en-US" sz="1800" dirty="0" err="1">
                <a:solidFill>
                  <a:srgbClr val="98E8A0"/>
                </a:solidFill>
                <a:latin typeface="Consolas" pitchFamily="34" charset="0"/>
                <a:ea typeface="Consolas" pitchFamily="34" charset="-122"/>
                <a:cs typeface="Consolas" pitchFamily="34" charset="-120"/>
              </a:rPr>
              <a:t>korisnici</a:t>
            </a:r>
            <a:r>
              <a:rPr lang="en-US" sz="1800" dirty="0">
                <a:solidFill>
                  <a:srgbClr val="98E8A0"/>
                </a:solidFill>
                <a:latin typeface="Consolas" pitchFamily="34" charset="0"/>
                <a:ea typeface="Consolas" pitchFamily="34" charset="-122"/>
                <a:cs typeface="Consolas" pitchFamily="34" charset="-120"/>
              </a:rPr>
              <a:t>(</a:t>
            </a:r>
            <a:r>
              <a:rPr lang="en-US" sz="1800" dirty="0" err="1">
                <a:solidFill>
                  <a:srgbClr val="98E8A0"/>
                </a:solidFill>
                <a:latin typeface="Consolas" pitchFamily="34" charset="0"/>
                <a:ea typeface="Consolas" pitchFamily="34" charset="-122"/>
                <a:cs typeface="Consolas" pitchFamily="34" charset="-120"/>
              </a:rPr>
              <a:t>prezime</a:t>
            </a:r>
            <a:r>
              <a:rPr lang="en-US" sz="1800" dirty="0">
                <a:solidFill>
                  <a:srgbClr val="98E8A0"/>
                </a:solidFill>
                <a:latin typeface="Consolas" pitchFamily="34" charset="0"/>
                <a:ea typeface="Consolas" pitchFamily="34" charset="-122"/>
                <a:cs typeface="Consolas" pitchFamily="34" charset="-120"/>
              </a:rPr>
              <a:t>, </a:t>
            </a:r>
            <a:r>
              <a:rPr lang="en-US" sz="1800" dirty="0" err="1">
                <a:solidFill>
                  <a:srgbClr val="98E8A0"/>
                </a:solidFill>
                <a:latin typeface="Consolas" pitchFamily="34" charset="0"/>
                <a:ea typeface="Consolas" pitchFamily="34" charset="-122"/>
                <a:cs typeface="Consolas" pitchFamily="34" charset="-120"/>
              </a:rPr>
              <a:t>ime</a:t>
            </a:r>
            <a:r>
              <a:rPr lang="en-US" sz="1800" dirty="0">
                <a:solidFill>
                  <a:srgbClr val="98E8A0"/>
                </a:solidFill>
                <a:latin typeface="Consolas" pitchFamily="34" charset="0"/>
                <a:ea typeface="Consolas" pitchFamily="34" charset="-122"/>
                <a:cs typeface="Consolas" pitchFamily="34" charset="-120"/>
              </a:rPr>
              <a:t>);</a:t>
            </a:r>
            <a:endParaRPr lang="en-US" sz="1800" dirty="0"/>
          </a:p>
          <a:p>
            <a:pPr marL="0" indent="0">
              <a:buNone/>
            </a:pPr>
            <a:r>
              <a:rPr lang="en-US" sz="1800" dirty="0">
                <a:solidFill>
                  <a:srgbClr val="98E8A0"/>
                </a:solidFill>
                <a:latin typeface="Consolas" pitchFamily="34" charset="0"/>
                <a:ea typeface="Consolas" pitchFamily="34" charset="-122"/>
                <a:cs typeface="Consolas" pitchFamily="34" charset="-120"/>
              </a:rPr>
              <a:t>VACUUM </a:t>
            </a:r>
            <a:r>
              <a:rPr lang="en-US" sz="1800" dirty="0" err="1">
                <a:solidFill>
                  <a:srgbClr val="98E8A0"/>
                </a:solidFill>
                <a:latin typeface="Consolas" pitchFamily="34" charset="0"/>
                <a:ea typeface="Consolas" pitchFamily="34" charset="-122"/>
                <a:cs typeface="Consolas" pitchFamily="34" charset="-120"/>
              </a:rPr>
              <a:t>korisnici</a:t>
            </a:r>
            <a:r>
              <a:rPr lang="en-US" sz="1800" dirty="0">
                <a:solidFill>
                  <a:srgbClr val="98E8A0"/>
                </a:solidFill>
                <a:latin typeface="Consolas" pitchFamily="34" charset="0"/>
                <a:ea typeface="Consolas" pitchFamily="34" charset="-122"/>
                <a:cs typeface="Consolas" pitchFamily="34" charset="-120"/>
              </a:rPr>
              <a:t>;</a:t>
            </a:r>
            <a:endParaRPr lang="en-US" sz="1800" dirty="0"/>
          </a:p>
        </p:txBody>
      </p:sp>
      <p:graphicFrame>
        <p:nvGraphicFramePr>
          <p:cNvPr id="6" name="Table 0">
            <a:extLst>
              <a:ext uri="{FF2B5EF4-FFF2-40B4-BE49-F238E27FC236}">
                <a16:creationId xmlns:a16="http://schemas.microsoft.com/office/drawing/2014/main" id="{65AD4331-C3E7-FB22-6961-19D6DB924367}"/>
              </a:ext>
            </a:extLst>
          </p:cNvPr>
          <p:cNvGraphicFramePr>
            <a:graphicFrameLocks noGrp="1"/>
          </p:cNvGraphicFramePr>
          <p:nvPr>
            <p:extLst>
              <p:ext uri="{D42A27DB-BD31-4B8C-83A1-F6EECF244321}">
                <p14:modId xmlns:p14="http://schemas.microsoft.com/office/powerpoint/2010/main" val="1469843701"/>
              </p:ext>
            </p:extLst>
          </p:nvPr>
        </p:nvGraphicFramePr>
        <p:xfrm>
          <a:off x="1625600" y="6492876"/>
          <a:ext cx="10963402" cy="3200400"/>
        </p:xfrm>
        <a:graphic>
          <a:graphicData uri="http://schemas.openxmlformats.org/drawingml/2006/table">
            <a:tbl>
              <a:tblPr/>
              <a:tblGrid>
                <a:gridCol w="5873251">
                  <a:extLst>
                    <a:ext uri="{9D8B030D-6E8A-4147-A177-3AD203B41FA5}">
                      <a16:colId xmlns:a16="http://schemas.microsoft.com/office/drawing/2014/main" val="20000"/>
                    </a:ext>
                  </a:extLst>
                </a:gridCol>
                <a:gridCol w="5090151">
                  <a:extLst>
                    <a:ext uri="{9D8B030D-6E8A-4147-A177-3AD203B41FA5}">
                      <a16:colId xmlns:a16="http://schemas.microsoft.com/office/drawing/2014/main" val="20001"/>
                    </a:ext>
                  </a:extLst>
                </a:gridCol>
              </a:tblGrid>
              <a:tr h="640080">
                <a:tc>
                  <a:txBody>
                    <a:bodyPr/>
                    <a:lstStyle/>
                    <a:p>
                      <a:pPr marL="0" indent="0">
                        <a:buNone/>
                      </a:pPr>
                      <a:r>
                        <a:rPr lang="en-US" sz="2000" b="1" dirty="0">
                          <a:solidFill>
                            <a:srgbClr val="FFFFFF"/>
                          </a:solidFill>
                        </a:rPr>
                        <a:t>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C3E5A"/>
                    </a:solidFill>
                  </a:tcPr>
                </a:tc>
                <a:tc>
                  <a:txBody>
                    <a:bodyPr/>
                    <a:lstStyle/>
                    <a:p>
                      <a:pPr marL="0" indent="0">
                        <a:buNone/>
                      </a:pPr>
                      <a:r>
                        <a:rPr lang="en-US" sz="2000" b="1" dirty="0">
                          <a:solidFill>
                            <a:srgbClr val="FFFFFF"/>
                          </a:solidFill>
                        </a:rPr>
                        <a:t>Execution Time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C3E5A"/>
                    </a:solidFill>
                  </a:tcPr>
                </a:tc>
                <a:extLst>
                  <a:ext uri="{0D108BD9-81ED-4DB2-BD59-A6C34878D82A}">
                    <a16:rowId xmlns:a16="http://schemas.microsoft.com/office/drawing/2014/main" val="10000"/>
                  </a:ext>
                </a:extLst>
              </a:tr>
              <a:tr h="640080">
                <a:tc>
                  <a:txBody>
                    <a:bodyPr/>
                    <a:lstStyle/>
                    <a:p>
                      <a:pPr marL="0" indent="0">
                        <a:buNone/>
                      </a:pPr>
                      <a:r>
                        <a:rPr lang="en-US" sz="2000" dirty="0">
                          <a:solidFill>
                            <a:srgbClr val="B0C4DE"/>
                          </a:solidFill>
                        </a:rPr>
                        <a:t>1. 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en-US" sz="2000" dirty="0">
                          <a:solidFill>
                            <a:srgbClr val="00C9A7"/>
                          </a:solidFill>
                        </a:rPr>
                        <a:t>47.377 ms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1"/>
                  </a:ext>
                </a:extLst>
              </a:tr>
              <a:tr h="640080">
                <a:tc>
                  <a:txBody>
                    <a:bodyPr/>
                    <a:lstStyle/>
                    <a:p>
                      <a:pPr marL="0" indent="0">
                        <a:buNone/>
                      </a:pPr>
                      <a:r>
                        <a:rPr lang="en-US" sz="2000" dirty="0">
                          <a:solidFill>
                            <a:srgbClr val="B0C4DE"/>
                          </a:solidFill>
                        </a:rPr>
                        <a:t>2. 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en-US" sz="2000" dirty="0">
                          <a:solidFill>
                            <a:srgbClr val="00C9A7"/>
                          </a:solidFill>
                        </a:rPr>
                        <a:t>47.245 ms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2"/>
                  </a:ext>
                </a:extLst>
              </a:tr>
              <a:tr h="640080">
                <a:tc>
                  <a:txBody>
                    <a:bodyPr/>
                    <a:lstStyle/>
                    <a:p>
                      <a:pPr marL="0" indent="0">
                        <a:buNone/>
                      </a:pPr>
                      <a:r>
                        <a:rPr lang="en-US" sz="2000" dirty="0">
                          <a:solidFill>
                            <a:srgbClr val="B0C4DE"/>
                          </a:solidFill>
                        </a:rPr>
                        <a:t>3. 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en-US" sz="2000" dirty="0">
                          <a:solidFill>
                            <a:srgbClr val="00C9A7"/>
                          </a:solidFill>
                        </a:rPr>
                        <a:t>48.329 ms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3"/>
                  </a:ext>
                </a:extLst>
              </a:tr>
              <a:tr h="640080">
                <a:tc>
                  <a:txBody>
                    <a:bodyPr/>
                    <a:lstStyle/>
                    <a:p>
                      <a:pPr marL="0" indent="0">
                        <a:buNone/>
                      </a:pPr>
                      <a:r>
                        <a:rPr lang="en-US" sz="2000" b="1" dirty="0">
                          <a:solidFill>
                            <a:srgbClr val="00C9A7"/>
                          </a:solidFill>
                        </a:rPr>
                        <a:t>Prosek</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1E2D42"/>
                    </a:solidFill>
                  </a:tcPr>
                </a:tc>
                <a:tc>
                  <a:txBody>
                    <a:bodyPr/>
                    <a:lstStyle/>
                    <a:p>
                      <a:pPr marL="0" indent="0">
                        <a:buNone/>
                      </a:pPr>
                      <a:r>
                        <a:rPr lang="en-US" sz="2000" b="1" dirty="0">
                          <a:solidFill>
                            <a:srgbClr val="00C9A7"/>
                          </a:solidFill>
                        </a:rPr>
                        <a:t>~47.650 ms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1E2D4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63253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E830A-2253-64A8-A5F1-051664AF83A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89E6A2B-3839-4CBD-77CF-3E9027560066}"/>
              </a:ext>
            </a:extLst>
          </p:cNvPr>
          <p:cNvSpPr/>
          <p:nvPr/>
        </p:nvSpPr>
        <p:spPr>
          <a:xfrm>
            <a:off x="17622499" y="10927677"/>
            <a:ext cx="1570990" cy="0"/>
          </a:xfrm>
          <a:custGeom>
            <a:avLst/>
            <a:gdLst/>
            <a:ahLst/>
            <a:cxnLst/>
            <a:rect l="l" t="t" r="r" b="b"/>
            <a:pathLst>
              <a:path w="1570990">
                <a:moveTo>
                  <a:pt x="0" y="0"/>
                </a:moveTo>
                <a:lnTo>
                  <a:pt x="1570632" y="0"/>
                </a:lnTo>
              </a:path>
            </a:pathLst>
          </a:custGeom>
          <a:ln w="54972">
            <a:solidFill>
              <a:srgbClr val="004B80"/>
            </a:solidFill>
          </a:ln>
        </p:spPr>
        <p:txBody>
          <a:bodyPr wrap="square" lIns="0" tIns="0" rIns="0" bIns="0" rtlCol="0"/>
          <a:lstStyle/>
          <a:p>
            <a:endParaRPr/>
          </a:p>
        </p:txBody>
      </p:sp>
      <p:sp>
        <p:nvSpPr>
          <p:cNvPr id="4" name="object 4" descr="$PPTXTitle">
            <a:extLst>
              <a:ext uri="{FF2B5EF4-FFF2-40B4-BE49-F238E27FC236}">
                <a16:creationId xmlns:a16="http://schemas.microsoft.com/office/drawing/2014/main" id="{9166C989-1889-83C3-C66A-3925649B4EC1}"/>
              </a:ext>
            </a:extLst>
          </p:cNvPr>
          <p:cNvSpPr txBox="1">
            <a:spLocks noGrp="1"/>
          </p:cNvSpPr>
          <p:nvPr>
            <p:ph type="title"/>
          </p:nvPr>
        </p:nvSpPr>
        <p:spPr>
          <a:xfrm>
            <a:off x="935448" y="730078"/>
            <a:ext cx="17543052" cy="843180"/>
          </a:xfrm>
          <a:prstGeom prst="rect">
            <a:avLst/>
          </a:prstGeom>
        </p:spPr>
        <p:txBody>
          <a:bodyPr vert="horz" wrap="square" lIns="0" tIns="12065" rIns="0" bIns="0" rtlCol="0">
            <a:spAutoFit/>
          </a:bodyPr>
          <a:lstStyle/>
          <a:p>
            <a:pPr>
              <a:lnSpc>
                <a:spcPct val="100000"/>
              </a:lnSpc>
              <a:spcBef>
                <a:spcPts val="95"/>
              </a:spcBef>
            </a:pPr>
            <a:r>
              <a:rPr lang="it-IT" sz="5400" b="1" spc="-180" dirty="0">
                <a:solidFill>
                  <a:srgbClr val="034F82"/>
                </a:solidFill>
                <a:latin typeface="Cambria" panose="02040503050406030204" pitchFamily="18" charset="0"/>
                <a:ea typeface="Cambria" panose="02040503050406030204" pitchFamily="18" charset="0"/>
                <a:cs typeface="Times New Roman"/>
              </a:rPr>
              <a:t>Scenario 4 - Bitmap Index Scan sa ukrštanjem dva indeksa</a:t>
            </a:r>
            <a:endParaRPr sz="5400" b="1" dirty="0">
              <a:latin typeface="Cambria" panose="02040503050406030204" pitchFamily="18" charset="0"/>
              <a:ea typeface="Cambria" panose="02040503050406030204" pitchFamily="18" charset="0"/>
              <a:cs typeface="Times New Roman"/>
            </a:endParaRPr>
          </a:p>
        </p:txBody>
      </p:sp>
      <p:sp>
        <p:nvSpPr>
          <p:cNvPr id="2" name="Shape 5">
            <a:extLst>
              <a:ext uri="{FF2B5EF4-FFF2-40B4-BE49-F238E27FC236}">
                <a16:creationId xmlns:a16="http://schemas.microsoft.com/office/drawing/2014/main" id="{ADC48906-CF77-7D19-B5A5-0A49AAFA6C64}"/>
              </a:ext>
            </a:extLst>
          </p:cNvPr>
          <p:cNvSpPr/>
          <p:nvPr/>
        </p:nvSpPr>
        <p:spPr>
          <a:xfrm>
            <a:off x="1619249" y="3378535"/>
            <a:ext cx="16687050" cy="2657140"/>
          </a:xfrm>
          <a:prstGeom prst="rect">
            <a:avLst/>
          </a:prstGeom>
          <a:solidFill>
            <a:schemeClr val="tx2">
              <a:lumMod val="50000"/>
            </a:schemeClr>
          </a:solidFill>
          <a:ln w="12700">
            <a:solidFill>
              <a:srgbClr val="304060"/>
            </a:solidFill>
            <a:prstDash val="solid"/>
          </a:ln>
        </p:spPr>
        <p:txBody>
          <a:bodyPr/>
          <a:lstStyle/>
          <a:p>
            <a:pPr marL="0" indent="0">
              <a:buNone/>
            </a:pPr>
            <a:r>
              <a:rPr lang="en-US" sz="1800" dirty="0">
                <a:solidFill>
                  <a:srgbClr val="7EC8E3"/>
                </a:solidFill>
                <a:latin typeface="Consolas" pitchFamily="34" charset="0"/>
                <a:ea typeface="Consolas" pitchFamily="34" charset="-122"/>
                <a:cs typeface="Consolas" pitchFamily="34" charset="-120"/>
              </a:rPr>
              <a:t>Bitmap Heap Scan on </a:t>
            </a:r>
            <a:r>
              <a:rPr lang="en-US" sz="1800" dirty="0" err="1">
                <a:solidFill>
                  <a:srgbClr val="7EC8E3"/>
                </a:solidFill>
                <a:latin typeface="Consolas" pitchFamily="34" charset="0"/>
                <a:ea typeface="Consolas" pitchFamily="34" charset="-122"/>
                <a:cs typeface="Consolas" pitchFamily="34" charset="-120"/>
              </a:rPr>
              <a:t>korisnici</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Heap Blocks: exact=25210  lossy=79495</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Buffers: shared read=105157</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-&gt; </a:t>
            </a:r>
            <a:r>
              <a:rPr lang="en-US" sz="1800" dirty="0" err="1">
                <a:solidFill>
                  <a:srgbClr val="7EC8E3"/>
                </a:solidFill>
                <a:latin typeface="Consolas" pitchFamily="34" charset="0"/>
                <a:ea typeface="Consolas" pitchFamily="34" charset="-122"/>
                <a:cs typeface="Consolas" pitchFamily="34" charset="-120"/>
              </a:rPr>
              <a:t>BitmapAnd</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-&gt; Bitmap Index Scan on </a:t>
            </a:r>
            <a:r>
              <a:rPr lang="en-US" sz="1800" dirty="0" err="1">
                <a:solidFill>
                  <a:srgbClr val="7EC8E3"/>
                </a:solidFill>
                <a:latin typeface="Consolas" pitchFamily="34" charset="0"/>
                <a:ea typeface="Consolas" pitchFamily="34" charset="-122"/>
                <a:cs typeface="Consolas" pitchFamily="34" charset="-120"/>
              </a:rPr>
              <a:t>idx_grad</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Buffers: shared read=171</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-&gt; Bitmap Index Scan on </a:t>
            </a:r>
            <a:r>
              <a:rPr lang="en-US" sz="1800" dirty="0" err="1">
                <a:solidFill>
                  <a:srgbClr val="7EC8E3"/>
                </a:solidFill>
                <a:latin typeface="Consolas" pitchFamily="34" charset="0"/>
                <a:ea typeface="Consolas" pitchFamily="34" charset="-122"/>
                <a:cs typeface="Consolas" pitchFamily="34" charset="-120"/>
              </a:rPr>
              <a:t>idx_datum</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            Buffers: shared read=281</a:t>
            </a:r>
            <a:endParaRPr lang="en-US" sz="1800" dirty="0"/>
          </a:p>
          <a:p>
            <a:pPr marL="0" indent="0">
              <a:buNone/>
            </a:pPr>
            <a:r>
              <a:rPr lang="en-US" sz="1800" dirty="0">
                <a:solidFill>
                  <a:srgbClr val="7EC8E3"/>
                </a:solidFill>
                <a:latin typeface="Consolas" pitchFamily="34" charset="0"/>
                <a:ea typeface="Consolas" pitchFamily="34" charset="-122"/>
                <a:cs typeface="Consolas" pitchFamily="34" charset="-120"/>
              </a:rPr>
              <a:t>Execution Time: 20923.733 </a:t>
            </a:r>
            <a:r>
              <a:rPr lang="en-US" sz="1800" dirty="0" err="1">
                <a:solidFill>
                  <a:srgbClr val="7EC8E3"/>
                </a:solidFill>
                <a:latin typeface="Consolas" pitchFamily="34" charset="0"/>
                <a:ea typeface="Consolas" pitchFamily="34" charset="-122"/>
                <a:cs typeface="Consolas" pitchFamily="34" charset="-120"/>
              </a:rPr>
              <a:t>ms</a:t>
            </a:r>
            <a:endParaRPr lang="en-US" sz="1800" dirty="0"/>
          </a:p>
          <a:p>
            <a:endParaRPr lang="sr-Latn-RS" dirty="0"/>
          </a:p>
        </p:txBody>
      </p:sp>
      <p:sp>
        <p:nvSpPr>
          <p:cNvPr id="7" name="Text 23">
            <a:extLst>
              <a:ext uri="{FF2B5EF4-FFF2-40B4-BE49-F238E27FC236}">
                <a16:creationId xmlns:a16="http://schemas.microsoft.com/office/drawing/2014/main" id="{6688AD20-6FB9-C253-974D-59DFAE23F0B6}"/>
              </a:ext>
            </a:extLst>
          </p:cNvPr>
          <p:cNvSpPr/>
          <p:nvPr/>
        </p:nvSpPr>
        <p:spPr>
          <a:xfrm>
            <a:off x="13404850" y="6773468"/>
            <a:ext cx="5073650" cy="2472207"/>
          </a:xfrm>
          <a:prstGeom prst="rect">
            <a:avLst/>
          </a:prstGeom>
          <a:noFill/>
          <a:ln/>
        </p:spPr>
        <p:txBody>
          <a:bodyPr wrap="square" rtlCol="0" anchor="ctr"/>
          <a:lstStyle/>
          <a:p>
            <a:pPr marL="0" indent="0" algn="l">
              <a:buNone/>
            </a:pPr>
            <a:r>
              <a:rPr lang="en-US" sz="3200" dirty="0" err="1">
                <a:solidFill>
                  <a:schemeClr val="tx1">
                    <a:lumMod val="75000"/>
                    <a:lumOff val="25000"/>
                  </a:schemeClr>
                </a:solidFill>
                <a:latin typeface="Calibri" pitchFamily="34" charset="0"/>
                <a:ea typeface="Calibri" pitchFamily="34" charset="-122"/>
                <a:cs typeface="Calibri" pitchFamily="34" charset="-120"/>
              </a:rPr>
              <a:t>Napomena</a:t>
            </a:r>
            <a:r>
              <a:rPr lang="en-US" sz="3200" dirty="0">
                <a:solidFill>
                  <a:schemeClr val="tx1">
                    <a:lumMod val="75000"/>
                    <a:lumOff val="25000"/>
                  </a:schemeClr>
                </a:solidFill>
                <a:latin typeface="Calibri" pitchFamily="34" charset="0"/>
                <a:ea typeface="Calibri" pitchFamily="34" charset="-122"/>
                <a:cs typeface="Calibri" pitchFamily="34" charset="-120"/>
              </a:rPr>
              <a:t>: 2. </a:t>
            </a:r>
            <a:r>
              <a:rPr lang="en-US" sz="3200" dirty="0" err="1">
                <a:solidFill>
                  <a:schemeClr val="tx1">
                    <a:lumMod val="75000"/>
                    <a:lumOff val="25000"/>
                  </a:schemeClr>
                </a:solidFill>
                <a:latin typeface="Calibri" pitchFamily="34" charset="0"/>
                <a:ea typeface="Calibri" pitchFamily="34" charset="-122"/>
                <a:cs typeface="Calibri" pitchFamily="34" charset="-120"/>
              </a:rPr>
              <a:t>i</a:t>
            </a:r>
            <a:r>
              <a:rPr lang="en-US" sz="3200" dirty="0">
                <a:solidFill>
                  <a:schemeClr val="tx1">
                    <a:lumMod val="75000"/>
                    <a:lumOff val="25000"/>
                  </a:schemeClr>
                </a:solidFill>
                <a:latin typeface="Calibri" pitchFamily="34" charset="0"/>
                <a:ea typeface="Calibri" pitchFamily="34" charset="-122"/>
                <a:cs typeface="Calibri" pitchFamily="34" charset="-120"/>
              </a:rPr>
              <a:t> 3. </a:t>
            </a:r>
            <a:r>
              <a:rPr lang="en-US" sz="3200" dirty="0" err="1">
                <a:solidFill>
                  <a:schemeClr val="tx1">
                    <a:lumMod val="75000"/>
                    <a:lumOff val="25000"/>
                  </a:schemeClr>
                </a:solidFill>
                <a:latin typeface="Calibri" pitchFamily="34" charset="0"/>
                <a:ea typeface="Calibri" pitchFamily="34" charset="-122"/>
                <a:cs typeface="Calibri" pitchFamily="34" charset="-120"/>
              </a:rPr>
              <a:t>merenje</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brža</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zbog</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keša</a:t>
            </a:r>
            <a:r>
              <a:rPr lang="en-US" sz="3200" dirty="0">
                <a:solidFill>
                  <a:schemeClr val="tx1">
                    <a:lumMod val="75000"/>
                    <a:lumOff val="25000"/>
                  </a:schemeClr>
                </a:solidFill>
                <a:latin typeface="Calibri" pitchFamily="34" charset="0"/>
                <a:ea typeface="Calibri" pitchFamily="34" charset="-122"/>
                <a:cs typeface="Calibri" pitchFamily="34" charset="-120"/>
              </a:rPr>
              <a:t>. 1. </a:t>
            </a:r>
            <a:r>
              <a:rPr lang="en-US" sz="3200" dirty="0" err="1">
                <a:solidFill>
                  <a:schemeClr val="tx1">
                    <a:lumMod val="75000"/>
                    <a:lumOff val="25000"/>
                  </a:schemeClr>
                </a:solidFill>
                <a:latin typeface="Calibri" pitchFamily="34" charset="0"/>
                <a:ea typeface="Calibri" pitchFamily="34" charset="-122"/>
                <a:cs typeface="Calibri" pitchFamily="34" charset="-120"/>
              </a:rPr>
              <a:t>merenje</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daje</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reprezentativnu</a:t>
            </a:r>
            <a:r>
              <a:rPr lang="en-US" sz="3200" dirty="0">
                <a:solidFill>
                  <a:schemeClr val="tx1">
                    <a:lumMod val="75000"/>
                    <a:lumOff val="25000"/>
                  </a:schemeClr>
                </a:solidFill>
                <a:latin typeface="Calibri" pitchFamily="34" charset="0"/>
                <a:ea typeface="Calibri" pitchFamily="34" charset="-122"/>
                <a:cs typeface="Calibri" pitchFamily="34" charset="-120"/>
              </a:rPr>
              <a:t> </a:t>
            </a:r>
            <a:r>
              <a:rPr lang="en-US" sz="3200" dirty="0" err="1">
                <a:solidFill>
                  <a:schemeClr val="tx1">
                    <a:lumMod val="75000"/>
                    <a:lumOff val="25000"/>
                  </a:schemeClr>
                </a:solidFill>
                <a:latin typeface="Calibri" pitchFamily="34" charset="0"/>
                <a:ea typeface="Calibri" pitchFamily="34" charset="-122"/>
                <a:cs typeface="Calibri" pitchFamily="34" charset="-120"/>
              </a:rPr>
              <a:t>sliku</a:t>
            </a:r>
            <a:r>
              <a:rPr lang="en-US" sz="3200" dirty="0">
                <a:solidFill>
                  <a:schemeClr val="tx1">
                    <a:lumMod val="75000"/>
                    <a:lumOff val="25000"/>
                  </a:schemeClr>
                </a:solidFill>
                <a:latin typeface="Calibri" pitchFamily="34" charset="0"/>
                <a:ea typeface="Calibri" pitchFamily="34" charset="-122"/>
                <a:cs typeface="Calibri" pitchFamily="34" charset="-120"/>
              </a:rPr>
              <a:t>.</a:t>
            </a:r>
          </a:p>
        </p:txBody>
      </p:sp>
      <p:sp>
        <p:nvSpPr>
          <p:cNvPr id="5" name="Shape 5">
            <a:extLst>
              <a:ext uri="{FF2B5EF4-FFF2-40B4-BE49-F238E27FC236}">
                <a16:creationId xmlns:a16="http://schemas.microsoft.com/office/drawing/2014/main" id="{ED34AF54-E0B8-6CF3-40B8-B2AB1988B6A1}"/>
              </a:ext>
            </a:extLst>
          </p:cNvPr>
          <p:cNvSpPr/>
          <p:nvPr/>
        </p:nvSpPr>
        <p:spPr>
          <a:xfrm>
            <a:off x="1625600" y="2184637"/>
            <a:ext cx="16680699" cy="843180"/>
          </a:xfrm>
          <a:prstGeom prst="rect">
            <a:avLst/>
          </a:prstGeom>
          <a:solidFill>
            <a:srgbClr val="0F1923"/>
          </a:solidFill>
          <a:ln w="12700">
            <a:solidFill>
              <a:srgbClr val="304060"/>
            </a:solidFill>
            <a:prstDash val="solid"/>
          </a:ln>
        </p:spPr>
        <p:txBody>
          <a:bodyPr anchor="ctr"/>
          <a:lstStyle/>
          <a:p>
            <a:pPr marL="0" indent="0">
              <a:buNone/>
            </a:pPr>
            <a:r>
              <a:rPr lang="en-US" sz="1800" dirty="0">
                <a:solidFill>
                  <a:srgbClr val="98E8A0"/>
                </a:solidFill>
                <a:latin typeface="Consolas" pitchFamily="34" charset="0"/>
                <a:ea typeface="Consolas" pitchFamily="34" charset="-122"/>
                <a:cs typeface="Consolas" pitchFamily="34" charset="-120"/>
              </a:rPr>
              <a:t>CREATE INDEX </a:t>
            </a:r>
            <a:r>
              <a:rPr lang="en-US" sz="1800" dirty="0" err="1">
                <a:solidFill>
                  <a:srgbClr val="98E8A0"/>
                </a:solidFill>
                <a:latin typeface="Consolas" pitchFamily="34" charset="0"/>
                <a:ea typeface="Consolas" pitchFamily="34" charset="-122"/>
                <a:cs typeface="Consolas" pitchFamily="34" charset="-120"/>
              </a:rPr>
              <a:t>idx_grad</a:t>
            </a:r>
            <a:r>
              <a:rPr lang="en-US" sz="1800" dirty="0">
                <a:solidFill>
                  <a:srgbClr val="98E8A0"/>
                </a:solidFill>
                <a:latin typeface="Consolas" pitchFamily="34" charset="0"/>
                <a:ea typeface="Consolas" pitchFamily="34" charset="-122"/>
                <a:cs typeface="Consolas" pitchFamily="34" charset="-120"/>
              </a:rPr>
              <a:t> ON </a:t>
            </a:r>
            <a:r>
              <a:rPr lang="en-US" sz="1800" dirty="0" err="1">
                <a:solidFill>
                  <a:srgbClr val="98E8A0"/>
                </a:solidFill>
                <a:latin typeface="Consolas" pitchFamily="34" charset="0"/>
                <a:ea typeface="Consolas" pitchFamily="34" charset="-122"/>
                <a:cs typeface="Consolas" pitchFamily="34" charset="-120"/>
              </a:rPr>
              <a:t>korisnici</a:t>
            </a:r>
            <a:r>
              <a:rPr lang="en-US" sz="1800" dirty="0">
                <a:solidFill>
                  <a:srgbClr val="98E8A0"/>
                </a:solidFill>
                <a:latin typeface="Consolas" pitchFamily="34" charset="0"/>
                <a:ea typeface="Consolas" pitchFamily="34" charset="-122"/>
                <a:cs typeface="Consolas" pitchFamily="34" charset="-120"/>
              </a:rPr>
              <a:t>(grad);</a:t>
            </a:r>
            <a:endParaRPr lang="en-US" sz="1800" dirty="0"/>
          </a:p>
          <a:p>
            <a:pPr marL="0" indent="0">
              <a:buNone/>
            </a:pPr>
            <a:r>
              <a:rPr lang="en-US" sz="1800" dirty="0">
                <a:solidFill>
                  <a:srgbClr val="98E8A0"/>
                </a:solidFill>
                <a:latin typeface="Consolas" pitchFamily="34" charset="0"/>
                <a:ea typeface="Consolas" pitchFamily="34" charset="-122"/>
                <a:cs typeface="Consolas" pitchFamily="34" charset="-120"/>
              </a:rPr>
              <a:t>CREATE INDEX </a:t>
            </a:r>
            <a:r>
              <a:rPr lang="en-US" sz="1800" dirty="0" err="1">
                <a:solidFill>
                  <a:srgbClr val="98E8A0"/>
                </a:solidFill>
                <a:latin typeface="Consolas" pitchFamily="34" charset="0"/>
                <a:ea typeface="Consolas" pitchFamily="34" charset="-122"/>
                <a:cs typeface="Consolas" pitchFamily="34" charset="-120"/>
              </a:rPr>
              <a:t>idx_datum</a:t>
            </a:r>
            <a:r>
              <a:rPr lang="en-US" sz="1800" dirty="0">
                <a:solidFill>
                  <a:srgbClr val="98E8A0"/>
                </a:solidFill>
                <a:latin typeface="Consolas" pitchFamily="34" charset="0"/>
                <a:ea typeface="Consolas" pitchFamily="34" charset="-122"/>
                <a:cs typeface="Consolas" pitchFamily="34" charset="-120"/>
              </a:rPr>
              <a:t> ON </a:t>
            </a:r>
            <a:r>
              <a:rPr lang="en-US" sz="1800" dirty="0" err="1">
                <a:solidFill>
                  <a:srgbClr val="98E8A0"/>
                </a:solidFill>
                <a:latin typeface="Consolas" pitchFamily="34" charset="0"/>
                <a:ea typeface="Consolas" pitchFamily="34" charset="-122"/>
                <a:cs typeface="Consolas" pitchFamily="34" charset="-120"/>
              </a:rPr>
              <a:t>korisnici</a:t>
            </a:r>
            <a:r>
              <a:rPr lang="en-US" sz="1800" dirty="0">
                <a:solidFill>
                  <a:srgbClr val="98E8A0"/>
                </a:solidFill>
                <a:latin typeface="Consolas" pitchFamily="34" charset="0"/>
                <a:ea typeface="Consolas" pitchFamily="34" charset="-122"/>
                <a:cs typeface="Consolas" pitchFamily="34" charset="-120"/>
              </a:rPr>
              <a:t>(</a:t>
            </a:r>
            <a:r>
              <a:rPr lang="en-US" sz="1800" dirty="0" err="1">
                <a:solidFill>
                  <a:srgbClr val="98E8A0"/>
                </a:solidFill>
                <a:latin typeface="Consolas" pitchFamily="34" charset="0"/>
                <a:ea typeface="Consolas" pitchFamily="34" charset="-122"/>
                <a:cs typeface="Consolas" pitchFamily="34" charset="-120"/>
              </a:rPr>
              <a:t>datum_rodjenja</a:t>
            </a:r>
            <a:r>
              <a:rPr lang="en-US" sz="1800" dirty="0">
                <a:solidFill>
                  <a:srgbClr val="98E8A0"/>
                </a:solidFill>
                <a:latin typeface="Consolas" pitchFamily="34" charset="0"/>
                <a:ea typeface="Consolas" pitchFamily="34" charset="-122"/>
                <a:cs typeface="Consolas" pitchFamily="34" charset="-120"/>
              </a:rPr>
              <a:t>);</a:t>
            </a:r>
            <a:endParaRPr lang="en-US" sz="1800" dirty="0"/>
          </a:p>
        </p:txBody>
      </p:sp>
      <p:graphicFrame>
        <p:nvGraphicFramePr>
          <p:cNvPr id="8" name="Table 0">
            <a:extLst>
              <a:ext uri="{FF2B5EF4-FFF2-40B4-BE49-F238E27FC236}">
                <a16:creationId xmlns:a16="http://schemas.microsoft.com/office/drawing/2014/main" id="{8A26F4E5-F87A-6177-124E-676501F9ACDA}"/>
              </a:ext>
            </a:extLst>
          </p:cNvPr>
          <p:cNvGraphicFramePr>
            <a:graphicFrameLocks noGrp="1"/>
          </p:cNvGraphicFramePr>
          <p:nvPr>
            <p:extLst>
              <p:ext uri="{D42A27DB-BD31-4B8C-83A1-F6EECF244321}">
                <p14:modId xmlns:p14="http://schemas.microsoft.com/office/powerpoint/2010/main" val="2252835795"/>
              </p:ext>
            </p:extLst>
          </p:nvPr>
        </p:nvGraphicFramePr>
        <p:xfrm>
          <a:off x="1619249" y="6773468"/>
          <a:ext cx="11099801" cy="3097580"/>
        </p:xfrm>
        <a:graphic>
          <a:graphicData uri="http://schemas.openxmlformats.org/drawingml/2006/table">
            <a:tbl>
              <a:tblPr/>
              <a:tblGrid>
                <a:gridCol w="5946322">
                  <a:extLst>
                    <a:ext uri="{9D8B030D-6E8A-4147-A177-3AD203B41FA5}">
                      <a16:colId xmlns:a16="http://schemas.microsoft.com/office/drawing/2014/main" val="20000"/>
                    </a:ext>
                  </a:extLst>
                </a:gridCol>
                <a:gridCol w="5153479">
                  <a:extLst>
                    <a:ext uri="{9D8B030D-6E8A-4147-A177-3AD203B41FA5}">
                      <a16:colId xmlns:a16="http://schemas.microsoft.com/office/drawing/2014/main" val="20001"/>
                    </a:ext>
                  </a:extLst>
                </a:gridCol>
              </a:tblGrid>
              <a:tr h="619516">
                <a:tc>
                  <a:txBody>
                    <a:bodyPr/>
                    <a:lstStyle/>
                    <a:p>
                      <a:pPr marL="0" indent="0">
                        <a:buNone/>
                      </a:pPr>
                      <a:r>
                        <a:rPr lang="en-US" sz="2000" b="1" dirty="0">
                          <a:solidFill>
                            <a:srgbClr val="FFFFFF"/>
                          </a:solidFill>
                        </a:rPr>
                        <a:t>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C3E5A"/>
                    </a:solidFill>
                  </a:tcPr>
                </a:tc>
                <a:tc>
                  <a:txBody>
                    <a:bodyPr/>
                    <a:lstStyle/>
                    <a:p>
                      <a:pPr marL="0" indent="0">
                        <a:buNone/>
                      </a:pPr>
                      <a:r>
                        <a:rPr lang="en-US" sz="2000" b="1" dirty="0">
                          <a:solidFill>
                            <a:srgbClr val="FFFFFF"/>
                          </a:solidFill>
                        </a:rPr>
                        <a:t>Execution Time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C3E5A"/>
                    </a:solidFill>
                  </a:tcPr>
                </a:tc>
                <a:extLst>
                  <a:ext uri="{0D108BD9-81ED-4DB2-BD59-A6C34878D82A}">
                    <a16:rowId xmlns:a16="http://schemas.microsoft.com/office/drawing/2014/main" val="10000"/>
                  </a:ext>
                </a:extLst>
              </a:tr>
              <a:tr h="619516">
                <a:tc>
                  <a:txBody>
                    <a:bodyPr/>
                    <a:lstStyle/>
                    <a:p>
                      <a:pPr marL="0" indent="0">
                        <a:buNone/>
                      </a:pPr>
                      <a:r>
                        <a:rPr lang="en-US" sz="2000" dirty="0">
                          <a:solidFill>
                            <a:srgbClr val="B0C4DE"/>
                          </a:solidFill>
                        </a:rPr>
                        <a:t>1. merenje</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en-US" sz="2000" dirty="0">
                          <a:solidFill>
                            <a:srgbClr val="9B59B6"/>
                          </a:solidFill>
                        </a:rPr>
                        <a:t>20.923 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1"/>
                  </a:ext>
                </a:extLst>
              </a:tr>
              <a:tr h="619516">
                <a:tc>
                  <a:txBody>
                    <a:bodyPr/>
                    <a:lstStyle/>
                    <a:p>
                      <a:pPr marL="0" indent="0">
                        <a:buNone/>
                      </a:pPr>
                      <a:r>
                        <a:rPr lang="en-US" sz="2000" i="1" dirty="0">
                          <a:solidFill>
                            <a:srgbClr val="7F96B0"/>
                          </a:solidFill>
                        </a:rPr>
                        <a:t>2. merenje (keš)</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sr-Latn-RS" sz="2000" dirty="0">
                          <a:solidFill>
                            <a:srgbClr val="00C9A7"/>
                          </a:solidFill>
                        </a:rPr>
                        <a:t>.</a:t>
                      </a:r>
                      <a:r>
                        <a:rPr lang="en-US" sz="2000" dirty="0">
                          <a:solidFill>
                            <a:srgbClr val="00C9A7"/>
                          </a:solidFill>
                        </a:rPr>
                        <a:t>727 ms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2"/>
                  </a:ext>
                </a:extLst>
              </a:tr>
              <a:tr h="619516">
                <a:tc>
                  <a:txBody>
                    <a:bodyPr/>
                    <a:lstStyle/>
                    <a:p>
                      <a:pPr marL="0" indent="0">
                        <a:buNone/>
                      </a:pPr>
                      <a:r>
                        <a:rPr lang="en-US" sz="2000" i="1" dirty="0">
                          <a:solidFill>
                            <a:srgbClr val="7F96B0"/>
                          </a:solidFill>
                        </a:rPr>
                        <a:t>3. merenje (keš)</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tc>
                  <a:txBody>
                    <a:bodyPr/>
                    <a:lstStyle/>
                    <a:p>
                      <a:pPr marL="0" indent="0">
                        <a:buNone/>
                      </a:pPr>
                      <a:r>
                        <a:rPr lang="sr-Latn-RS" sz="2000" dirty="0">
                          <a:solidFill>
                            <a:srgbClr val="00C9A7"/>
                          </a:solidFill>
                        </a:rPr>
                        <a:t>.</a:t>
                      </a:r>
                      <a:r>
                        <a:rPr lang="en-US" sz="2000" dirty="0">
                          <a:solidFill>
                            <a:srgbClr val="00C9A7"/>
                          </a:solidFill>
                        </a:rPr>
                        <a:t>662 ms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243044"/>
                    </a:solidFill>
                  </a:tcPr>
                </a:tc>
                <a:extLst>
                  <a:ext uri="{0D108BD9-81ED-4DB2-BD59-A6C34878D82A}">
                    <a16:rowId xmlns:a16="http://schemas.microsoft.com/office/drawing/2014/main" val="10003"/>
                  </a:ext>
                </a:extLst>
              </a:tr>
              <a:tr h="619516">
                <a:tc>
                  <a:txBody>
                    <a:bodyPr/>
                    <a:lstStyle/>
                    <a:p>
                      <a:pPr marL="0" indent="0">
                        <a:buNone/>
                      </a:pPr>
                      <a:r>
                        <a:rPr lang="en-US" sz="2000" b="1" dirty="0">
                          <a:solidFill>
                            <a:srgbClr val="9B59B6"/>
                          </a:solidFill>
                        </a:rPr>
                        <a:t>Reprezentativno</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1E2D42"/>
                    </a:solidFill>
                  </a:tcPr>
                </a:tc>
                <a:tc>
                  <a:txBody>
                    <a:bodyPr/>
                    <a:lstStyle/>
                    <a:p>
                      <a:pPr marL="0" indent="0">
                        <a:buNone/>
                      </a:pPr>
                      <a:r>
                        <a:rPr lang="en-US" sz="2000" b="1" dirty="0">
                          <a:solidFill>
                            <a:srgbClr val="9B59B6"/>
                          </a:solidFill>
                        </a:rPr>
                        <a:t>~20.923 s</a:t>
                      </a:r>
                      <a:endParaRPr lang="en-US" sz="2000" dirty="0"/>
                    </a:p>
                  </a:txBody>
                  <a:tcPr>
                    <a:lnL w="6350" cap="flat" cmpd="sng" algn="ctr">
                      <a:solidFill>
                        <a:srgbClr val="304060"/>
                      </a:solidFill>
                      <a:prstDash val="solid"/>
                      <a:round/>
                      <a:headEnd type="none" w="med" len="med"/>
                      <a:tailEnd type="none" w="med" len="med"/>
                    </a:lnL>
                    <a:lnR w="6350" cap="flat" cmpd="sng" algn="ctr">
                      <a:solidFill>
                        <a:srgbClr val="304060"/>
                      </a:solidFill>
                      <a:prstDash val="solid"/>
                      <a:round/>
                      <a:headEnd type="none" w="med" len="med"/>
                      <a:tailEnd type="none" w="med" len="med"/>
                    </a:lnR>
                    <a:lnT w="6350" cap="flat" cmpd="sng" algn="ctr">
                      <a:solidFill>
                        <a:srgbClr val="304060"/>
                      </a:solidFill>
                      <a:prstDash val="solid"/>
                      <a:round/>
                      <a:headEnd type="none" w="med" len="med"/>
                      <a:tailEnd type="none" w="med" len="med"/>
                    </a:lnT>
                    <a:lnB w="6350" cap="flat" cmpd="sng" algn="ctr">
                      <a:solidFill>
                        <a:srgbClr val="304060"/>
                      </a:solidFill>
                      <a:prstDash val="solid"/>
                      <a:round/>
                      <a:headEnd type="none" w="med" len="med"/>
                      <a:tailEnd type="none" w="med" len="med"/>
                    </a:lnB>
                    <a:solidFill>
                      <a:srgbClr val="1E2D4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79687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descr="$PPTXTitle"/>
          <p:cNvSpPr txBox="1">
            <a:spLocks noGrp="1"/>
          </p:cNvSpPr>
          <p:nvPr>
            <p:ph type="title"/>
          </p:nvPr>
        </p:nvSpPr>
        <p:spPr>
          <a:xfrm>
            <a:off x="905876" y="803374"/>
            <a:ext cx="11889374" cy="983603"/>
          </a:xfrm>
          <a:prstGeom prst="rect">
            <a:avLst/>
          </a:prstGeom>
        </p:spPr>
        <p:txBody>
          <a:bodyPr vert="horz" wrap="square" lIns="0" tIns="13970" rIns="0" bIns="0" rtlCol="0">
            <a:spAutoFit/>
          </a:bodyPr>
          <a:lstStyle/>
          <a:p>
            <a:pPr marL="12700">
              <a:lnSpc>
                <a:spcPct val="100000"/>
              </a:lnSpc>
              <a:spcBef>
                <a:spcPts val="110"/>
              </a:spcBef>
            </a:pPr>
            <a:r>
              <a:rPr b="1" spc="-70" dirty="0" err="1">
                <a:solidFill>
                  <a:srgbClr val="034F85"/>
                </a:solidFill>
              </a:rPr>
              <a:t>Pored</a:t>
            </a:r>
            <a:r>
              <a:rPr lang="en-US" b="1" spc="-70" dirty="0" err="1">
                <a:solidFill>
                  <a:srgbClr val="034F85"/>
                </a:solidFill>
              </a:rPr>
              <a:t>j</a:t>
            </a:r>
            <a:r>
              <a:rPr b="1" spc="-70" dirty="0" err="1">
                <a:solidFill>
                  <a:srgbClr val="034F85"/>
                </a:solidFill>
              </a:rPr>
              <a:t>enje</a:t>
            </a:r>
            <a:r>
              <a:rPr b="1" spc="-135" dirty="0">
                <a:solidFill>
                  <a:srgbClr val="034F85"/>
                </a:solidFill>
              </a:rPr>
              <a:t> </a:t>
            </a:r>
            <a:r>
              <a:rPr b="1" dirty="0">
                <a:solidFill>
                  <a:srgbClr val="005095"/>
                </a:solidFill>
              </a:rPr>
              <a:t>vremena</a:t>
            </a:r>
            <a:r>
              <a:rPr b="1" spc="-275" dirty="0">
                <a:solidFill>
                  <a:srgbClr val="005095"/>
                </a:solidFill>
              </a:rPr>
              <a:t> </a:t>
            </a:r>
            <a:r>
              <a:rPr b="1" spc="-10" dirty="0">
                <a:solidFill>
                  <a:srgbClr val="00509A"/>
                </a:solidFill>
              </a:rPr>
              <a:t>izvršavanja</a:t>
            </a:r>
          </a:p>
        </p:txBody>
      </p:sp>
      <p:graphicFrame>
        <p:nvGraphicFramePr>
          <p:cNvPr id="17" name="Chart 16">
            <a:extLst>
              <a:ext uri="{FF2B5EF4-FFF2-40B4-BE49-F238E27FC236}">
                <a16:creationId xmlns:a16="http://schemas.microsoft.com/office/drawing/2014/main" id="{284B75C6-6103-0CCA-BE3A-987E289D54B2}"/>
              </a:ext>
            </a:extLst>
          </p:cNvPr>
          <p:cNvGraphicFramePr/>
          <p:nvPr>
            <p:extLst>
              <p:ext uri="{D42A27DB-BD31-4B8C-83A1-F6EECF244321}">
                <p14:modId xmlns:p14="http://schemas.microsoft.com/office/powerpoint/2010/main" val="1230801522"/>
              </p:ext>
            </p:extLst>
          </p:nvPr>
        </p:nvGraphicFramePr>
        <p:xfrm>
          <a:off x="1136650" y="2522684"/>
          <a:ext cx="10396587" cy="7703991"/>
        </p:xfrm>
        <a:graphic>
          <a:graphicData uri="http://schemas.openxmlformats.org/drawingml/2006/chart">
            <c:chart xmlns:c="http://schemas.openxmlformats.org/drawingml/2006/chart" xmlns:r="http://schemas.openxmlformats.org/officeDocument/2006/relationships" r:id="rId2"/>
          </a:graphicData>
        </a:graphic>
      </p:graphicFrame>
      <p:sp>
        <p:nvSpPr>
          <p:cNvPr id="18" name="Text 23">
            <a:extLst>
              <a:ext uri="{FF2B5EF4-FFF2-40B4-BE49-F238E27FC236}">
                <a16:creationId xmlns:a16="http://schemas.microsoft.com/office/drawing/2014/main" id="{425D653C-4955-7C0A-348E-C73D45905F0C}"/>
              </a:ext>
            </a:extLst>
          </p:cNvPr>
          <p:cNvSpPr/>
          <p:nvPr/>
        </p:nvSpPr>
        <p:spPr>
          <a:xfrm>
            <a:off x="1136650" y="10522314"/>
            <a:ext cx="15697200" cy="43624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dirty="0">
                <a:solidFill>
                  <a:schemeClr val="tx1">
                    <a:lumMod val="75000"/>
                    <a:lumOff val="25000"/>
                  </a:schemeClr>
                </a:solidFill>
                <a:latin typeface="Calibri" pitchFamily="34" charset="0"/>
                <a:ea typeface="Calibri" pitchFamily="34" charset="-122"/>
                <a:cs typeface="Calibri" pitchFamily="34" charset="-120"/>
              </a:rPr>
              <a:t>* S2: SET enable_seqscan = OFF korišćen samo za izolaciju; CBO spontano bira Bitmap Index Scan.</a:t>
            </a:r>
            <a:endParaRPr lang="en-US" sz="2000" dirty="0">
              <a:solidFill>
                <a:schemeClr val="tx1">
                  <a:lumMod val="75000"/>
                  <a:lumOff val="25000"/>
                </a:schemeClr>
              </a:solidFill>
            </a:endParaRPr>
          </a:p>
        </p:txBody>
      </p:sp>
      <p:sp>
        <p:nvSpPr>
          <p:cNvPr id="20" name="Text 23">
            <a:extLst>
              <a:ext uri="{FF2B5EF4-FFF2-40B4-BE49-F238E27FC236}">
                <a16:creationId xmlns:a16="http://schemas.microsoft.com/office/drawing/2014/main" id="{114644F4-ADAD-7C69-E922-ECD4A6E33CBC}"/>
              </a:ext>
            </a:extLst>
          </p:cNvPr>
          <p:cNvSpPr/>
          <p:nvPr/>
        </p:nvSpPr>
        <p:spPr>
          <a:xfrm>
            <a:off x="12109450" y="2832332"/>
            <a:ext cx="6096000" cy="2209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dirty="0" err="1">
                <a:solidFill>
                  <a:schemeClr val="tx1">
                    <a:lumMod val="75000"/>
                    <a:lumOff val="25000"/>
                  </a:schemeClr>
                </a:solidFill>
                <a:latin typeface="Calibri" pitchFamily="34" charset="0"/>
                <a:ea typeface="Calibri" pitchFamily="34" charset="-122"/>
                <a:cs typeface="Calibri" pitchFamily="34" charset="-120"/>
              </a:rPr>
              <a:t>Ubr</a:t>
            </a:r>
            <a:r>
              <a:rPr lang="sr-Latn-RS" sz="2800" dirty="0">
                <a:solidFill>
                  <a:schemeClr val="tx1">
                    <a:lumMod val="75000"/>
                    <a:lumOff val="25000"/>
                  </a:schemeClr>
                </a:solidFill>
                <a:latin typeface="Calibri" pitchFamily="34" charset="0"/>
                <a:ea typeface="Calibri" pitchFamily="34" charset="-122"/>
                <a:cs typeface="Calibri" pitchFamily="34" charset="-120"/>
              </a:rPr>
              <a:t>zanje S3 u odnosu na S1 je 635 puta. </a:t>
            </a:r>
            <a:r>
              <a:rPr lang="en-US" sz="2800" dirty="0">
                <a:solidFill>
                  <a:schemeClr val="tx1">
                    <a:lumMod val="75000"/>
                    <a:lumOff val="25000"/>
                  </a:schemeClr>
                </a:solidFill>
                <a:latin typeface="Calibri" pitchFamily="34" charset="0"/>
                <a:ea typeface="Calibri" pitchFamily="34" charset="-122"/>
                <a:cs typeface="Calibri" pitchFamily="34" charset="-120"/>
              </a:rPr>
              <a:t>Isti </a:t>
            </a:r>
            <a:r>
              <a:rPr lang="en-US" sz="2800" dirty="0" err="1">
                <a:solidFill>
                  <a:schemeClr val="tx1">
                    <a:lumMod val="75000"/>
                    <a:lumOff val="25000"/>
                  </a:schemeClr>
                </a:solidFill>
                <a:latin typeface="Calibri" pitchFamily="34" charset="0"/>
                <a:ea typeface="Calibri" pitchFamily="34" charset="-122"/>
                <a:cs typeface="Calibri" pitchFamily="34" charset="-120"/>
              </a:rPr>
              <a:t>upit</a:t>
            </a:r>
            <a:r>
              <a:rPr lang="en-US" sz="2800" dirty="0">
                <a:solidFill>
                  <a:schemeClr val="tx1">
                    <a:lumMod val="75000"/>
                    <a:lumOff val="25000"/>
                  </a:schemeClr>
                </a:solidFill>
                <a:latin typeface="Calibri" pitchFamily="34" charset="0"/>
                <a:ea typeface="Calibri" pitchFamily="34" charset="-122"/>
                <a:cs typeface="Calibri" pitchFamily="34" charset="-120"/>
              </a:rPr>
              <a:t>, </a:t>
            </a:r>
            <a:r>
              <a:rPr lang="en-US" sz="2800" dirty="0" err="1">
                <a:solidFill>
                  <a:schemeClr val="tx1">
                    <a:lumMod val="75000"/>
                    <a:lumOff val="25000"/>
                  </a:schemeClr>
                </a:solidFill>
                <a:latin typeface="Calibri" pitchFamily="34" charset="0"/>
                <a:ea typeface="Calibri" pitchFamily="34" charset="-122"/>
                <a:cs typeface="Calibri" pitchFamily="34" charset="-120"/>
              </a:rPr>
              <a:t>isti</a:t>
            </a:r>
            <a:r>
              <a:rPr lang="en-US" sz="2800" dirty="0">
                <a:solidFill>
                  <a:schemeClr val="tx1">
                    <a:lumMod val="75000"/>
                    <a:lumOff val="25000"/>
                  </a:schemeClr>
                </a:solidFill>
                <a:latin typeface="Calibri" pitchFamily="34" charset="0"/>
                <a:ea typeface="Calibri" pitchFamily="34" charset="-122"/>
                <a:cs typeface="Calibri" pitchFamily="34" charset="-120"/>
              </a:rPr>
              <a:t> </a:t>
            </a:r>
            <a:r>
              <a:rPr lang="en-US" sz="2800" dirty="0" err="1">
                <a:solidFill>
                  <a:schemeClr val="tx1">
                    <a:lumMod val="75000"/>
                    <a:lumOff val="25000"/>
                  </a:schemeClr>
                </a:solidFill>
                <a:latin typeface="Calibri" pitchFamily="34" charset="0"/>
                <a:ea typeface="Calibri" pitchFamily="34" charset="-122"/>
                <a:cs typeface="Calibri" pitchFamily="34" charset="-120"/>
              </a:rPr>
              <a:t>podaci</a:t>
            </a:r>
            <a:r>
              <a:rPr lang="en-US" sz="2800" dirty="0">
                <a:solidFill>
                  <a:schemeClr val="tx1">
                    <a:lumMod val="75000"/>
                    <a:lumOff val="25000"/>
                  </a:schemeClr>
                </a:solidFill>
                <a:latin typeface="Calibri" pitchFamily="34" charset="0"/>
                <a:ea typeface="Calibri" pitchFamily="34" charset="-122"/>
                <a:cs typeface="Calibri" pitchFamily="34" charset="-120"/>
              </a:rPr>
              <a:t>. Sequential Scan </a:t>
            </a:r>
            <a:r>
              <a:rPr lang="en-US" sz="2800" dirty="0" err="1">
                <a:solidFill>
                  <a:schemeClr val="tx1">
                    <a:lumMod val="75000"/>
                    <a:lumOff val="25000"/>
                  </a:schemeClr>
                </a:solidFill>
                <a:latin typeface="Calibri" pitchFamily="34" charset="0"/>
                <a:ea typeface="Calibri" pitchFamily="34" charset="-122"/>
                <a:cs typeface="Calibri" pitchFamily="34" charset="-120"/>
              </a:rPr>
              <a:t>čita</a:t>
            </a:r>
            <a:r>
              <a:rPr lang="en-US" sz="2800" dirty="0">
                <a:solidFill>
                  <a:schemeClr val="tx1">
                    <a:lumMod val="75000"/>
                    <a:lumOff val="25000"/>
                  </a:schemeClr>
                </a:solidFill>
                <a:latin typeface="Calibri" pitchFamily="34" charset="0"/>
                <a:ea typeface="Calibri" pitchFamily="34" charset="-122"/>
                <a:cs typeface="Calibri" pitchFamily="34" charset="-120"/>
              </a:rPr>
              <a:t> 228.247 </a:t>
            </a:r>
            <a:r>
              <a:rPr lang="en-US" sz="2800" dirty="0" err="1">
                <a:solidFill>
                  <a:schemeClr val="tx1">
                    <a:lumMod val="75000"/>
                    <a:lumOff val="25000"/>
                  </a:schemeClr>
                </a:solidFill>
                <a:latin typeface="Calibri" pitchFamily="34" charset="0"/>
                <a:ea typeface="Calibri" pitchFamily="34" charset="-122"/>
                <a:cs typeface="Calibri" pitchFamily="34" charset="-120"/>
              </a:rPr>
              <a:t>stranica</a:t>
            </a:r>
            <a:r>
              <a:rPr lang="en-US" sz="2800" dirty="0">
                <a:solidFill>
                  <a:schemeClr val="tx1">
                    <a:lumMod val="75000"/>
                    <a:lumOff val="25000"/>
                  </a:schemeClr>
                </a:solidFill>
                <a:latin typeface="Calibri" pitchFamily="34" charset="0"/>
                <a:ea typeface="Calibri" pitchFamily="34" charset="-122"/>
                <a:cs typeface="Calibri" pitchFamily="34" charset="-120"/>
              </a:rPr>
              <a:t>; Index-Only Scan </a:t>
            </a:r>
            <a:r>
              <a:rPr lang="en-US" sz="2800" dirty="0" err="1">
                <a:solidFill>
                  <a:schemeClr val="tx1">
                    <a:lumMod val="75000"/>
                    <a:lumOff val="25000"/>
                  </a:schemeClr>
                </a:solidFill>
                <a:latin typeface="Calibri" pitchFamily="34" charset="0"/>
                <a:ea typeface="Calibri" pitchFamily="34" charset="-122"/>
                <a:cs typeface="Calibri" pitchFamily="34" charset="-120"/>
              </a:rPr>
              <a:t>svega</a:t>
            </a:r>
            <a:r>
              <a:rPr lang="en-US" sz="2800" dirty="0">
                <a:solidFill>
                  <a:schemeClr val="tx1">
                    <a:lumMod val="75000"/>
                    <a:lumOff val="25000"/>
                  </a:schemeClr>
                </a:solidFill>
                <a:latin typeface="Calibri" pitchFamily="34" charset="0"/>
                <a:ea typeface="Calibri" pitchFamily="34" charset="-122"/>
                <a:cs typeface="Calibri" pitchFamily="34" charset="-120"/>
              </a:rPr>
              <a:t> 174. Heap Fetches: 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9348549" y="3521075"/>
            <a:ext cx="1407001" cy="1394916"/>
          </a:xfrm>
          <a:prstGeom prst="rect">
            <a:avLst/>
          </a:prstGeom>
        </p:spPr>
      </p:pic>
      <p:sp>
        <p:nvSpPr>
          <p:cNvPr id="5" name="object 5" descr="$PPTXTitle"/>
          <p:cNvSpPr txBox="1">
            <a:spLocks noGrp="1"/>
          </p:cNvSpPr>
          <p:nvPr>
            <p:ph type="title"/>
          </p:nvPr>
        </p:nvSpPr>
        <p:spPr>
          <a:prstGeom prst="rect">
            <a:avLst/>
          </a:prstGeom>
        </p:spPr>
        <p:txBody>
          <a:bodyPr vert="horz" wrap="square" lIns="0" tIns="98313" rIns="0" bIns="0" rtlCol="0">
            <a:spAutoFit/>
          </a:bodyPr>
          <a:lstStyle/>
          <a:p>
            <a:pPr>
              <a:lnSpc>
                <a:spcPct val="100000"/>
              </a:lnSpc>
              <a:spcBef>
                <a:spcPts val="130"/>
              </a:spcBef>
            </a:pPr>
            <a:r>
              <a:rPr sz="6150" b="1" spc="75" dirty="0" err="1">
                <a:solidFill>
                  <a:srgbClr val="0A4D77"/>
                </a:solidFill>
              </a:rPr>
              <a:t>Zaključak</a:t>
            </a:r>
            <a:endParaRPr sz="6150" b="1" dirty="0"/>
          </a:p>
        </p:txBody>
      </p:sp>
      <p:sp>
        <p:nvSpPr>
          <p:cNvPr id="6" name="object 6"/>
          <p:cNvSpPr txBox="1"/>
          <p:nvPr/>
        </p:nvSpPr>
        <p:spPr>
          <a:xfrm>
            <a:off x="1670050" y="5197475"/>
            <a:ext cx="16840200" cy="3118803"/>
          </a:xfrm>
          <a:prstGeom prst="rect">
            <a:avLst/>
          </a:prstGeom>
        </p:spPr>
        <p:txBody>
          <a:bodyPr vert="horz" wrap="square" lIns="0" tIns="15875" rIns="0" bIns="0" rtlCol="0">
            <a:spAutoFit/>
          </a:bodyPr>
          <a:lstStyle/>
          <a:p>
            <a:pPr marR="22860" algn="ctr">
              <a:lnSpc>
                <a:spcPts val="3045"/>
              </a:lnSpc>
              <a:spcBef>
                <a:spcPts val="125"/>
              </a:spcBef>
            </a:pPr>
            <a:r>
              <a:rPr sz="3200" spc="70" dirty="0" err="1">
                <a:solidFill>
                  <a:srgbClr val="0A508C"/>
                </a:solidFill>
                <a:latin typeface="Cambria"/>
                <a:cs typeface="Cambria"/>
              </a:rPr>
              <a:t>Značaj</a:t>
            </a:r>
            <a:r>
              <a:rPr sz="3200" spc="-114" dirty="0">
                <a:solidFill>
                  <a:srgbClr val="0A508C"/>
                </a:solidFill>
                <a:latin typeface="Cambria"/>
                <a:cs typeface="Cambria"/>
              </a:rPr>
              <a:t> </a:t>
            </a:r>
            <a:r>
              <a:rPr sz="3200" spc="-10" dirty="0" err="1">
                <a:solidFill>
                  <a:srgbClr val="035D93"/>
                </a:solidFill>
                <a:latin typeface="Cambria"/>
                <a:cs typeface="Cambria"/>
              </a:rPr>
              <a:t>održavanja</a:t>
            </a:r>
            <a:endParaRPr lang="en-US" sz="3200" spc="-10" dirty="0">
              <a:solidFill>
                <a:srgbClr val="035D93"/>
              </a:solidFill>
              <a:latin typeface="Cambria"/>
              <a:cs typeface="Cambria"/>
            </a:endParaRPr>
          </a:p>
          <a:p>
            <a:pPr marR="22860" algn="ctr">
              <a:lnSpc>
                <a:spcPts val="3045"/>
              </a:lnSpc>
              <a:spcBef>
                <a:spcPts val="125"/>
              </a:spcBef>
            </a:pPr>
            <a:endParaRPr sz="3200" dirty="0">
              <a:latin typeface="Cambria"/>
              <a:cs typeface="Cambria"/>
            </a:endParaRPr>
          </a:p>
          <a:p>
            <a:pPr marR="1905" algn="ctr">
              <a:lnSpc>
                <a:spcPts val="3045"/>
              </a:lnSpc>
            </a:pPr>
            <a:r>
              <a:rPr lang="sr-Latn-RS" sz="3200" dirty="0">
                <a:solidFill>
                  <a:srgbClr val="333333"/>
                </a:solidFill>
                <a:latin typeface="Calibri"/>
                <a:cs typeface="Calibri"/>
              </a:rPr>
              <a:t>Ključna p</a:t>
            </a:r>
            <a:r>
              <a:rPr lang="en-US" sz="3200" dirty="0" err="1">
                <a:solidFill>
                  <a:srgbClr val="333333"/>
                </a:solidFill>
                <a:latin typeface="Calibri"/>
                <a:cs typeface="Calibri"/>
              </a:rPr>
              <a:t>oruka</a:t>
            </a:r>
            <a:r>
              <a:rPr lang="sr-Latn-RS" sz="3200" dirty="0">
                <a:solidFill>
                  <a:srgbClr val="333333"/>
                </a:solidFill>
                <a:latin typeface="Calibri"/>
                <a:cs typeface="Calibri"/>
              </a:rPr>
              <a:t> je da efikasnost indeksa nije samo pitanje njihovog postojanja, već kombinacije više faktora: dizajna indeksa (koje kolone pokriva), ažurnosti Visibility Map (VACUUM), tačnosti statistika (ANALYZE), selektivnosti upita i konfiguracije memorijskih parametara</a:t>
            </a:r>
            <a:r>
              <a:rPr lang="en-US" sz="3200" dirty="0">
                <a:solidFill>
                  <a:srgbClr val="333333"/>
                </a:solidFill>
                <a:latin typeface="Calibri"/>
                <a:cs typeface="Calibri"/>
              </a:rPr>
              <a:t>.</a:t>
            </a:r>
          </a:p>
          <a:p>
            <a:pPr marR="1905" algn="ctr">
              <a:lnSpc>
                <a:spcPts val="3045"/>
              </a:lnSpc>
            </a:pPr>
            <a:endParaRPr lang="en-US" sz="3200" dirty="0">
              <a:solidFill>
                <a:srgbClr val="333333"/>
              </a:solidFill>
              <a:latin typeface="Calibri"/>
              <a:cs typeface="Calibri"/>
            </a:endParaRPr>
          </a:p>
          <a:p>
            <a:pPr marR="1905" algn="ctr">
              <a:lnSpc>
                <a:spcPts val="3045"/>
              </a:lnSpc>
            </a:pPr>
            <a:r>
              <a:rPr lang="sr-Latn-RS" sz="3200" dirty="0">
                <a:solidFill>
                  <a:schemeClr val="tx1">
                    <a:lumMod val="75000"/>
                    <a:lumOff val="25000"/>
                  </a:schemeClr>
                </a:solidFill>
                <a:latin typeface="Calibri"/>
                <a:cs typeface="Calibri"/>
              </a:rPr>
              <a:t>Razumevanje ovih međuzavisnosti omogućava inženjeru baze podataka da projektuje sistem koji koristi puni potencijal PostgreSQL optimizatora.</a:t>
            </a:r>
            <a:endParaRPr sz="3200" dirty="0">
              <a:solidFill>
                <a:schemeClr val="tx1">
                  <a:lumMod val="75000"/>
                  <a:lumOff val="25000"/>
                </a:schemeClr>
              </a:solidFill>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7622499" y="10927677"/>
            <a:ext cx="1570990" cy="0"/>
          </a:xfrm>
          <a:custGeom>
            <a:avLst/>
            <a:gdLst/>
            <a:ahLst/>
            <a:cxnLst/>
            <a:rect l="l" t="t" r="r" b="b"/>
            <a:pathLst>
              <a:path w="1570990">
                <a:moveTo>
                  <a:pt x="0" y="0"/>
                </a:moveTo>
                <a:lnTo>
                  <a:pt x="1570632" y="0"/>
                </a:lnTo>
              </a:path>
            </a:pathLst>
          </a:custGeom>
          <a:ln w="54972">
            <a:solidFill>
              <a:srgbClr val="004B80"/>
            </a:solidFill>
          </a:ln>
        </p:spPr>
        <p:txBody>
          <a:bodyPr wrap="square" lIns="0" tIns="0" rIns="0" bIns="0" rtlCol="0"/>
          <a:lstStyle/>
          <a:p>
            <a:endParaRPr/>
          </a:p>
        </p:txBody>
      </p:sp>
      <p:sp>
        <p:nvSpPr>
          <p:cNvPr id="4" name="object 4" descr="$PPTXTitle"/>
          <p:cNvSpPr txBox="1">
            <a:spLocks noGrp="1"/>
          </p:cNvSpPr>
          <p:nvPr>
            <p:ph type="title"/>
          </p:nvPr>
        </p:nvSpPr>
        <p:spPr>
          <a:xfrm>
            <a:off x="6132227" y="3978275"/>
            <a:ext cx="7839644" cy="1478610"/>
          </a:xfrm>
          <a:prstGeom prst="rect">
            <a:avLst/>
          </a:prstGeom>
        </p:spPr>
        <p:txBody>
          <a:bodyPr vert="horz" wrap="square" lIns="0" tIns="16510" rIns="0" bIns="0" rtlCol="0">
            <a:spAutoFit/>
          </a:bodyPr>
          <a:lstStyle/>
          <a:p>
            <a:pPr marL="12700">
              <a:lnSpc>
                <a:spcPct val="100000"/>
              </a:lnSpc>
              <a:spcBef>
                <a:spcPts val="130"/>
              </a:spcBef>
            </a:pPr>
            <a:r>
              <a:rPr lang="sr-Latn-RS" sz="9500" b="1" spc="-30" dirty="0">
                <a:solidFill>
                  <a:srgbClr val="00508E"/>
                </a:solidFill>
                <a:latin typeface="+mj-lt"/>
                <a:cs typeface="Times New Roman"/>
              </a:rPr>
              <a:t>Hvala na pažnji</a:t>
            </a:r>
          </a:p>
        </p:txBody>
      </p:sp>
      <p:sp>
        <p:nvSpPr>
          <p:cNvPr id="6" name="object 6"/>
          <p:cNvSpPr txBox="1"/>
          <p:nvPr/>
        </p:nvSpPr>
        <p:spPr>
          <a:xfrm>
            <a:off x="7469424" y="9312275"/>
            <a:ext cx="5165250" cy="523157"/>
          </a:xfrm>
          <a:prstGeom prst="rect">
            <a:avLst/>
          </a:prstGeom>
        </p:spPr>
        <p:txBody>
          <a:bodyPr vert="horz" wrap="square" lIns="0" tIns="12065" rIns="0" bIns="0" rtlCol="0">
            <a:spAutoFit/>
          </a:bodyPr>
          <a:lstStyle/>
          <a:p>
            <a:pPr marL="193040" marR="83820" indent="-110489">
              <a:lnSpc>
                <a:spcPct val="109100"/>
              </a:lnSpc>
              <a:spcBef>
                <a:spcPts val="95"/>
              </a:spcBef>
            </a:pPr>
            <a:r>
              <a:rPr sz="3200" dirty="0">
                <a:solidFill>
                  <a:srgbClr val="2A2A2A"/>
                </a:solidFill>
                <a:latin typeface="Calibri"/>
                <a:cs typeface="Calibri"/>
              </a:rPr>
              <a:t>Nemanja</a:t>
            </a:r>
            <a:r>
              <a:rPr sz="3200" spc="-65" dirty="0">
                <a:solidFill>
                  <a:srgbClr val="2A2A2A"/>
                </a:solidFill>
                <a:latin typeface="Calibri"/>
                <a:cs typeface="Calibri"/>
              </a:rPr>
              <a:t> </a:t>
            </a:r>
            <a:r>
              <a:rPr sz="3200" dirty="0" err="1">
                <a:solidFill>
                  <a:srgbClr val="313131"/>
                </a:solidFill>
                <a:latin typeface="Calibri"/>
                <a:cs typeface="Calibri"/>
              </a:rPr>
              <a:t>Stojadinović</a:t>
            </a:r>
            <a:r>
              <a:rPr sz="3200" dirty="0">
                <a:solidFill>
                  <a:srgbClr val="313131"/>
                </a:solidFill>
                <a:latin typeface="Calibri"/>
                <a:cs typeface="Calibri"/>
              </a:rPr>
              <a:t>,</a:t>
            </a:r>
            <a:r>
              <a:rPr lang="en-US" sz="3200" spc="-100" dirty="0">
                <a:solidFill>
                  <a:srgbClr val="313131"/>
                </a:solidFill>
                <a:latin typeface="Calibri"/>
                <a:cs typeface="Calibri"/>
              </a:rPr>
              <a:t> </a:t>
            </a:r>
            <a:r>
              <a:rPr sz="3200" spc="35" dirty="0">
                <a:solidFill>
                  <a:srgbClr val="232323"/>
                </a:solidFill>
                <a:latin typeface="Calibri"/>
                <a:cs typeface="Calibri"/>
              </a:rPr>
              <a:t>2094</a:t>
            </a:r>
            <a:r>
              <a:rPr sz="3200" spc="-10" dirty="0">
                <a:solidFill>
                  <a:srgbClr val="5E5E5E"/>
                </a:solidFill>
                <a:latin typeface="Calibri"/>
                <a:cs typeface="Calibri"/>
              </a:rPr>
              <a:t>.</a:t>
            </a:r>
            <a:endParaRPr sz="32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223</TotalTime>
  <Words>1706</Words>
  <Application>Microsoft Office PowerPoint</Application>
  <PresentationFormat>Custom</PresentationFormat>
  <Paragraphs>178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Consolas</vt:lpstr>
      <vt:lpstr>Times New Roman</vt:lpstr>
      <vt:lpstr>Office Theme</vt:lpstr>
      <vt:lpstr>Index-Only i Bitmap Index Scan u PostgreSQL</vt:lpstr>
      <vt:lpstr>Uvod</vt:lpstr>
      <vt:lpstr>Arhitektura stranica na disku</vt:lpstr>
      <vt:lpstr>B-Tree struktura indeksa</vt:lpstr>
      <vt:lpstr>Index-Only Scan i pokrivanje</vt:lpstr>
      <vt:lpstr>Visibility Map i MVCC</vt:lpstr>
      <vt:lpstr>Bitmap Index Scan mehanizam</vt:lpstr>
      <vt:lpstr>Cost-Based Optimizer (CBO)</vt:lpstr>
      <vt:lpstr>Priprema okruženja</vt:lpstr>
      <vt:lpstr>Scenario 1 - Sequential Scan (bez indeksa)</vt:lpstr>
      <vt:lpstr>Scenario 2 - Index Scan (obični indeks na prezime)</vt:lpstr>
      <vt:lpstr>Scenario 3 - Index-Only Scan (pokrivajući indeks)</vt:lpstr>
      <vt:lpstr>Scenario 4 - Bitmap Index Scan sa ukrštanjem dva indeksa</vt:lpstr>
      <vt:lpstr>Poredjenje vremena izvršavanja</vt:lpstr>
      <vt:lpstr>Zaključak</vt:lpstr>
      <vt:lpstr>Hvala na pažnji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cp:lastModifiedBy>Nemanja Stojadinovic</cp:lastModifiedBy>
  <cp:revision>14</cp:revision>
  <dcterms:created xsi:type="dcterms:W3CDTF">2026-05-05T14:25:13Z</dcterms:created>
  <dcterms:modified xsi:type="dcterms:W3CDTF">2026-05-18T22:19:20Z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2026-05-05T00:00:00Z</vt:filetime>
  </property>
  <property fmtid="{D5CDD505-2E9C-101B-9397-08002B2CF9AE}" pid="4" name="LastSaved">
    <vt:filetime>2026-05-05T00:00:00Z</vt:filetime>
  </property>
</Properties>
</file>