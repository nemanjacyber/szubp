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6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31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Predstaviti temu: praćenje stanja baza podataka u realnom vremenu. Rad ima teorijski deo i praktičnu demonstraciju na PostgreSQL 18. Trajanje: ~10 minuta.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Uvod: baze su srce sistema. Kada se uspore ili padnu, trpi ceo biznis. Cilj: povezati teoriju sa praksom kroz reproducibilan primer na PostgreSQL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Ključna razlika: monitoring gleda poznate probleme; observability omogućava istraživanje nepoznatih. U distribuiranim sistemima ne možeš unapred predvideti svaki scenario otkaza.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 izvora podataka. Zajedno daju potpunu sliku: metrike = šta, logovi + tragovi = zašto.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Četiri razloga zašto monitoring nije luksuz nego nužnost. Ključni prelaz: sa reaktivnog na proaktivan pristup.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Univerzalni set kategorija metrika. Dele se na nivo OS/servera i nivo DBMS-a. Cache hit ratio i locks su posebno indikativni za probleme.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ima bogat ugrađen set alata koji pokriva sva tri stuba. pg_stat_statements = najskuplji upiti; EXPLAIN ANALYZE = dijagnoza jednog upita.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Objasniti tok: baza → exporter (prevodi statistiku u metrike) → Prometheus (skladišti) → Grafana (prikazuje). Prednost: modularnost, svaki deo zamenjiv.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Postavka eksperimenta: realno velika tabela (5M redova), jedan jednostavan upit. Merimo pre i posle indeksa. Sve u Docker kontejnerima — reproducibilno.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Ovo je centralni rezultat. Isti upit, isti podaci — samo dodat indeks. Rezultat: ~276x brže i ~1113x manje I/O. Optimizator sam bira bolji plan kada postoji indeks.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 monitoringa spor upit bi ostao neprimećen do gomilanja žalbi ili zasićenja servera. Grafana omogućava vizuelni uvid u opterećenje tokom vremena, bez ručnih SQL upita.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Rezime tri poruke: proaktivan pristup, PostgreSQL je dobro opremljen, i empirijski dokaz (276x). Otvoriti za pitanja.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17391-1F7F-3A72-B03C-0D2E2CE4F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18750-AEC0-9D2A-6EDD-798770FF9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17505-70C8-852C-EE1E-DC7AD182F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Rezime tri poruke: proaktivan pristup, PostgreSQL je dobro opremljen, i empirijski dokaz (276x). Otvoriti za pitanja.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DDAE7-BD70-72D1-D5E0-ECA0444E4C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3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i observability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52581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Nemanja Stojadinović, 2094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pattFill prst="pct60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Savremeni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sistemi zavise od baza pod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velikim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opterećenjem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Otkaz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ili degradacija performansi imaju direktne poslovne posledice.</a:t>
            </a:r>
            <a:endParaRPr lang="en-US" sz="16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Sposobnost da se u realnom vremenu prati stanje sistema i reaguje pre eskalacije problema jednako je važna kao i samo projektovanje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baze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 dirty="0">
              <a:latin typeface="Calibri" pitchFamily="34" charset="0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Ova oblast se </a:t>
            </a:r>
            <a:r>
              <a:rPr lang="en-US" sz="1600" dirty="0" err="1"/>
              <a:t>naziva</a:t>
            </a:r>
            <a:r>
              <a:rPr lang="en-US" sz="1600" dirty="0"/>
              <a:t> monitoring </a:t>
            </a:r>
            <a:r>
              <a:rPr lang="en-US" sz="1600" dirty="0" err="1"/>
              <a:t>i</a:t>
            </a:r>
            <a:r>
              <a:rPr lang="en-US" sz="1600" dirty="0"/>
              <a:t> observability </a:t>
            </a:r>
            <a:r>
              <a:rPr lang="en-US" sz="1600" dirty="0" err="1"/>
              <a:t>sistema</a:t>
            </a:r>
            <a:r>
              <a:rPr lang="en-US" sz="1600" dirty="0"/>
              <a:t> </a:t>
            </a:r>
            <a:r>
              <a:rPr lang="en-US" sz="1600" dirty="0" err="1"/>
              <a:t>baza</a:t>
            </a:r>
            <a:r>
              <a:rPr lang="en-US" sz="1600" dirty="0"/>
              <a:t> </a:t>
            </a:r>
            <a:r>
              <a:rPr lang="en-US" sz="1600" dirty="0" err="1"/>
              <a:t>podataka</a:t>
            </a:r>
            <a:r>
              <a:rPr lang="en-US" sz="16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vs. observability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246888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Prikupljanje unapred definisanog skupa metrika o poznatim, očekivanim otkazima. Administrator zna šta može poći naopako i postavlja alarme za te situacije.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Odgovara na pitanje: „Da li sistem radi?“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794760" cy="246888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Šira sposobnost da se na osnovu spoljašnjih izlaza (metrike, logovi, tragovi) postavi bilo koje pitanje o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unutrašnjem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stanju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i za nepredviđene situacije.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Odgovara na pitanje: „Zašto sistem ne radi?“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je podskup šireg observability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pristupa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Razlika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je posebno bitna u distribuiranim sistemima, gde broj mogućih otkaza raste eksponencijalno.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 stuba observability-ja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0" y="1280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Numeričke, vremenski agregirane vrednosti (upiti/s, prosečno trajanje, cache hit ratio). Pogodne za trendove, dashboard-e i alarme.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Logovi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2331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Zapisi o pojedinačnim događajima (spor upit, neuspešna konekcija, greška). Daju detaljan kontekst konkretnog incidenta.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Tragovi (traces)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3383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 bazama najbliže odgovaraju planovima izvršavanja upita — pokazuju gde tačno u obradi zahteva nastaje kašnjenje.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Metrike ukazuju da postoji problem; logovi i tragovi objašnjavaju zašto je do njega došlo.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Značaj monitoringa baza podataka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32588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35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Performanse i optimizacija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Identifikacija najsporijih i najskupljih upita; merenje efekta izmena (indeksi, konfiguracija) pre i posle intervencije.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32588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35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Dostupnost i rano otkrivanje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Praćenje konekcija, čekanja na brave i zauzeća diska omogućava intervenciju pre potpunog prekida rada.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931920" cy="132588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Planiranje kapaciteta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Analiza trendova rasta (broj upita, veličina baze) kao osnova za vertikalno ili horizontalno skaliranje.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2880360"/>
            <a:ext cx="3931920" cy="132588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Bezbednost i revizija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38328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Logovi pristupa otkrivaju neuobičajene obrasce, neuspele autentifikacije i deo su audit sistema.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Ključne metrike u monitoringu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Bez obzira na konkretan DBMS, prati se sličan skup kategorija — na nivou servera i na nivou samog DBMS-a: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Iskorišćenost resursa  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CPU, memorija, disk I/O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23591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Konekcije  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aktivne i idle konekcije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6112" y="3072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Latencija i propusnost  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vreme upita, transakcije/s (TPS)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96112" y="37856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ratio  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% čitanja iz keša vs. sa diska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19472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Zaključavanja (locks)  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sesije koje čekaju na bravu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19472" y="23591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Kašnjenje replikacije  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razlika primarni ↔ replika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19472" y="3072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Stopa grešaka  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neuspele transakcije, deadlock-ovi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Mehanizmi monitoringa u PostgreSQL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kumulativnih statistika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Ugrađeni podsistem; od verzije 15 statistika se drži u deljenoj memoriji umesto na disku (manje I/O, brže ažuriranje).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1214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Sistemski pogledi (pg_stat_*)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pg_stat_activity, pg_stat_statements, pg_stat_user_tables/indexes, pg_stat_database, pg_locks — očitavanje stanja SQL upitima.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9626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/ EXPLAIN ANALYZE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Prikaz plana izvršavanja i poređenje procenjenih sa stvarno izmerenim vrednostima — ključni dijagnostički alat po upitu.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8039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Logovanje i ekstenzije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15137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log_min_duration_statement, log_lock_waits; ekstenzije pg_stat_statements i auto_explain za automatsko beleženje sporih upita.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Arhitektura observability rešenja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Najrasprostranjeniji open-source stack — tok podataka od baze do administratora: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1234440"/>
          </a:xfrm>
          <a:prstGeom prst="rect">
            <a:avLst/>
          </a:prstGeom>
          <a:solidFill>
            <a:srgbClr val="2B3A55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statistika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59152" y="192024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33472" y="1920240"/>
            <a:ext cx="1828800" cy="123444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postgres_exporter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24912" y="25786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čita pg_stat_* → /metrics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3984" y="192024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18304" y="1920240"/>
            <a:ext cx="1828800" cy="123444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9744" y="25786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pull model, time-series baza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28816" y="192024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03136" y="1920240"/>
            <a:ext cx="1828800" cy="123444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94576" y="25786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 vizualizacija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je slabo spregnuta (loosely coupled) — svaka komponenta se može zameniti alternativom bez izmene ostatka sistema.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Testiranje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Okruženje</a:t>
            </a:r>
            <a:endParaRPr lang="en-US" sz="1500" dirty="0"/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Četiri kontejnerizovane komponente orkestrisane pomoću Docker Compose: PostgreSQL 18, postgres_exporter, Prometheus i Grafana.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500" dirty="0"/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Tabela narudzbine sa 5.000.000 redova (generate_series). Upit filtrira po koloni kupac_id koja u početku nije indeksirana.</a:t>
            </a:r>
            <a:endParaRPr lang="en-US" sz="1500" dirty="0"/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Efekat dodavanja indeksa meri se i upoređuje kroz EXPLAIN ANALYZE, uz paralelno praćenje kroz pg_stat_statements, Prometheus i Grafana.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 — efekat dodavanja indeksa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468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Pokazatelj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indeksa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Posle indeksa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Poboljšanje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 pristupa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Seq Scan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Bitmap Index + Heap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1563,9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5,67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~276× brže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Pročitani blokovi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~1113× manje I/O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Vraćeni redovi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isti rezultat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Uvođenjem odgovarajućeg indeksa broj fizički pročitanih blokova drastično opada — vreme izvršavanja pada za više od dva reda veličine.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i Grafana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pg_stat_statements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Identifikuje najskuplje upite bez znanja o kodu aplikacije. Ograničenje: agregira po normalizovanom obliku, pa spajanje sporog i brzog poziva sakriva promenu plana.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4048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706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Target postgres_exporter u stanju UP — potvrđen ceo lanac prikupljanja metrika iz baze u time-series bazu.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48386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84962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 realnom vremenu prikazuje verziju (PG 18.4.0), CPU/memoriju, sesije, transakcije i brave — vidljiv skok resursa tokom masovnog uvoza podataka.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EE985F-9DFF-AE34-3206-997E4928D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558"/>
            <a:ext cx="9144000" cy="457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79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7F2944-71A7-DE73-8DC0-B0EAC4DC8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96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C7858C-1A8E-A618-4BD7-127180373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6574"/>
            <a:ext cx="4672853" cy="34469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42078E-2AB4-C36F-DD16-9A8D1A9E3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53" y="1696573"/>
            <a:ext cx="4471146" cy="344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60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3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 observability omogućavaju prelazak sa reaktivnog na proaktivan pristup upravljanju bazama.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ima bogat i zreo skup ugrađenih mehanizama koji pokrivaju sva tri stuba observability-ja.</a:t>
            </a:r>
            <a:endParaRPr lang="en-US" sz="1600" dirty="0"/>
          </a:p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Praktični deo pokazao je dijagnozu sporog upita (EXPLAIN ANALYZE), ~276× poboljšanje nakon indeksa i kontinuirano vizuelno praćenje kroz Prometheus i Grafanu.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5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4DAC6-6C99-3582-1D35-E793D6E55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14FCE1-1B89-A744-137D-EEC0CA8546D5}"/>
              </a:ext>
            </a:extLst>
          </p:cNvPr>
          <p:cNvSpPr/>
          <p:nvPr/>
        </p:nvSpPr>
        <p:spPr>
          <a:xfrm>
            <a:off x="700592" y="3242085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</a:t>
            </a:r>
            <a:r>
              <a:rPr lang="en-US" sz="6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</a:t>
            </a: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</a:t>
            </a:r>
            <a:r>
              <a:rPr lang="sr-Latn-R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žnji</a:t>
            </a:r>
            <a:endParaRPr lang="en-US" sz="6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5240BA-CA85-A794-C145-61D637702CA0}"/>
              </a:ext>
            </a:extLst>
          </p:cNvPr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2823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1255</Words>
  <Application>Microsoft Office PowerPoint</Application>
  <PresentationFormat>On-screen Show (16:9)</PresentationFormat>
  <Paragraphs>143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i observability PostgreSQL</dc:title>
  <dc:subject>PptxGenJS Presentation</dc:subject>
  <dc:creator>Nemanja Stojadinović</dc:creator>
  <cp:lastModifiedBy>Nemanja Stojadinovic</cp:lastModifiedBy>
  <cp:revision>3</cp:revision>
  <dcterms:created xsi:type="dcterms:W3CDTF">2026-07-05T20:02:29Z</dcterms:created>
  <dcterms:modified xsi:type="dcterms:W3CDTF">2026-07-05T20:25:43Z</dcterms:modified>
</cp:coreProperties>
</file>